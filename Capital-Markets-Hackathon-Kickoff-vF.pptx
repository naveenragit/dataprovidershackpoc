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3" r:id="rId4"/>
    <p:sldId id="276" r:id="rId5"/>
    <p:sldId id="260" r:id="rId6"/>
    <p:sldId id="262" r:id="rId7"/>
    <p:sldId id="263" r:id="rId8"/>
    <p:sldId id="278" r:id="rId9"/>
    <p:sldId id="279" r:id="rId10"/>
    <p:sldId id="280" r:id="rId11"/>
    <p:sldId id="281" r:id="rId12"/>
    <p:sldId id="287" r:id="rId13"/>
    <p:sldId id="285" r:id="rId14"/>
    <p:sldId id="283" r:id="rId15"/>
    <p:sldId id="284" r:id="rId16"/>
    <p:sldId id="288" r:id="rId17"/>
    <p:sldId id="289" r:id="rId18"/>
    <p:sldId id="272" r:id="rId19"/>
    <p:sldId id="28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BE9A34-C1B3-58F2-8B84-1C025E7DFA03}" name="Tanya Kaul" initials="TK" userId="S::tanyakaul@microsoft.com::27a73712-0267-445d-9e6a-ec1e5e8adf12" providerId="AD"/>
  <p188:author id="{87AEE088-4C47-6642-19A0-BEAAC74FCD86}" name="Kayal Palani" initials="KP" userId="S::kayalpalani@microsoft.com::7a3fdb4b-77c0-40e4-8756-37dfed16d5a3" providerId="AD"/>
  <p188:author id="{742A39AF-8057-D1BA-3C99-1C3B636F938D}" name="Gabe Rossi" initials="" userId="S::gabrieler@microsoft.com::d06f6e9a-30c9-4d48-92cc-a1f25a4ec3c1" providerId="AD"/>
  <p188:author id="{95FF3CFC-837A-B38C-F4FB-53B0EBE93FA8}" name="Mona Chitalia" initials="MC" userId="S::mochital@microsoft.com::0a001b54-3fb6-4431-acc5-17e44fac5c1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61B3B"/>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D1B00-3B27-CB0C-AEA5-7D81AAD77A73}" v="63" dt="2026-06-25T13:43:08.110"/>
    <p1510:client id="{326AFAF1-6FF5-61ED-1145-FEA6FC18C4AD}" v="20" dt="2026-06-25T13:33:12.363"/>
    <p1510:client id="{4228ED76-89C7-8A9E-FA10-49EE25953CCC}" v="7" dt="2026-06-25T17:53:44.386"/>
    <p1510:client id="{74E3E596-3665-48DD-B708-F1E5F5E4C8DE}" v="886" dt="2026-06-25T14:45:58.844"/>
    <p1510:client id="{A9D957FD-C1D2-4753-A84E-742F613CC832}" v="2162" dt="2026-06-25T14:10:45.336"/>
    <p1510:client id="{C911E7DC-6064-430A-A2D7-6A51E37FD315}" v="27" dt="2026-06-25T17:26:53.0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63" autoAdjust="0"/>
    <p:restoredTop sz="71272" autoAdjust="0"/>
  </p:normalViewPr>
  <p:slideViewPr>
    <p:cSldViewPr snapToGrid="0">
      <p:cViewPr>
        <p:scale>
          <a:sx n="76" d="100"/>
          <a:sy n="76" d="100"/>
        </p:scale>
        <p:origin x="1524" y="224"/>
      </p:cViewPr>
      <p:guideLst/>
    </p:cSldViewPr>
  </p:slid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eet Dedhia" userId="S::ankeetdedhia@microsoft.com::41994fe2-67b0-416b-81b3-ed2dfd7dbdd2" providerId="AD" clId="Web-{326AFAF1-6FF5-61ED-1145-FEA6FC18C4AD}"/>
    <pc:docChg chg="modSld">
      <pc:chgData name="Ankeet Dedhia" userId="S::ankeetdedhia@microsoft.com::41994fe2-67b0-416b-81b3-ed2dfd7dbdd2" providerId="AD" clId="Web-{326AFAF1-6FF5-61ED-1145-FEA6FC18C4AD}" dt="2026-06-25T13:33:10.285" v="12" actId="20577"/>
      <pc:docMkLst>
        <pc:docMk/>
      </pc:docMkLst>
      <pc:sldChg chg="modSp">
        <pc:chgData name="Ankeet Dedhia" userId="S::ankeetdedhia@microsoft.com::41994fe2-67b0-416b-81b3-ed2dfd7dbdd2" providerId="AD" clId="Web-{326AFAF1-6FF5-61ED-1145-FEA6FC18C4AD}" dt="2026-06-25T12:11:23.620" v="0" actId="20577"/>
        <pc:sldMkLst>
          <pc:docMk/>
          <pc:sldMk cId="1855084431" sldId="281"/>
        </pc:sldMkLst>
        <pc:spChg chg="mod">
          <ac:chgData name="Ankeet Dedhia" userId="S::ankeetdedhia@microsoft.com::41994fe2-67b0-416b-81b3-ed2dfd7dbdd2" providerId="AD" clId="Web-{326AFAF1-6FF5-61ED-1145-FEA6FC18C4AD}" dt="2026-06-25T12:11:23.620" v="0" actId="20577"/>
          <ac:spMkLst>
            <pc:docMk/>
            <pc:sldMk cId="1855084431" sldId="281"/>
            <ac:spMk id="60" creationId="{466BEDCB-B170-FBBB-1DC4-DFBBD1AB5512}"/>
          </ac:spMkLst>
        </pc:spChg>
      </pc:sldChg>
      <pc:sldChg chg="modSp">
        <pc:chgData name="Ankeet Dedhia" userId="S::ankeetdedhia@microsoft.com::41994fe2-67b0-416b-81b3-ed2dfd7dbdd2" providerId="AD" clId="Web-{326AFAF1-6FF5-61ED-1145-FEA6FC18C4AD}" dt="2026-06-25T13:33:10.285" v="12" actId="20577"/>
        <pc:sldMkLst>
          <pc:docMk/>
          <pc:sldMk cId="1797108641" sldId="287"/>
        </pc:sldMkLst>
        <pc:spChg chg="mod">
          <ac:chgData name="Ankeet Dedhia" userId="S::ankeetdedhia@microsoft.com::41994fe2-67b0-416b-81b3-ed2dfd7dbdd2" providerId="AD" clId="Web-{326AFAF1-6FF5-61ED-1145-FEA6FC18C4AD}" dt="2026-06-25T12:11:28.199" v="1" actId="20577"/>
          <ac:spMkLst>
            <pc:docMk/>
            <pc:sldMk cId="1797108641" sldId="287"/>
            <ac:spMk id="60" creationId="{D23FCE22-7790-1E5B-0ECD-41123EA766F8}"/>
          </ac:spMkLst>
        </pc:spChg>
        <pc:spChg chg="mod">
          <ac:chgData name="Ankeet Dedhia" userId="S::ankeetdedhia@microsoft.com::41994fe2-67b0-416b-81b3-ed2dfd7dbdd2" providerId="AD" clId="Web-{326AFAF1-6FF5-61ED-1145-FEA6FC18C4AD}" dt="2026-06-25T13:33:10.285" v="12" actId="20577"/>
          <ac:spMkLst>
            <pc:docMk/>
            <pc:sldMk cId="1797108641" sldId="287"/>
            <ac:spMk id="62" creationId="{64756047-CD34-2E41-7830-8AED2BBBB43A}"/>
          </ac:spMkLst>
        </pc:spChg>
        <pc:spChg chg="mod">
          <ac:chgData name="Ankeet Dedhia" userId="S::ankeetdedhia@microsoft.com::41994fe2-67b0-416b-81b3-ed2dfd7dbdd2" providerId="AD" clId="Web-{326AFAF1-6FF5-61ED-1145-FEA6FC18C4AD}" dt="2026-06-25T13:33:00.707" v="10" actId="20577"/>
          <ac:spMkLst>
            <pc:docMk/>
            <pc:sldMk cId="1797108641" sldId="287"/>
            <ac:spMk id="63" creationId="{9DEB135A-732F-2C64-06D4-53991F58DFB3}"/>
          </ac:spMkLst>
        </pc:spChg>
      </pc:sldChg>
    </pc:docChg>
  </pc:docChgLst>
  <pc:docChgLst>
    <pc:chgData name="Kayal Palani" userId="7a3fdb4b-77c0-40e4-8756-37dfed16d5a3" providerId="ADAL" clId="{78592D7F-B46F-42DA-BA4D-C374DE24CB95}"/>
    <pc:docChg chg="undo custSel modSld sldOrd">
      <pc:chgData name="Kayal Palani" userId="7a3fdb4b-77c0-40e4-8756-37dfed16d5a3" providerId="ADAL" clId="{78592D7F-B46F-42DA-BA4D-C374DE24CB95}" dt="2026-06-25T06:24:18.004" v="68" actId="20577"/>
      <pc:docMkLst>
        <pc:docMk/>
      </pc:docMkLst>
      <pc:sldChg chg="addSp modSp mod ord">
        <pc:chgData name="Kayal Palani" userId="7a3fdb4b-77c0-40e4-8756-37dfed16d5a3" providerId="ADAL" clId="{78592D7F-B46F-42DA-BA4D-C374DE24CB95}" dt="2026-06-25T06:24:18.004" v="68" actId="20577"/>
        <pc:sldMkLst>
          <pc:docMk/>
          <pc:sldMk cId="787037975" sldId="282"/>
        </pc:sldMkLst>
        <pc:spChg chg="mod">
          <ac:chgData name="Kayal Palani" userId="7a3fdb4b-77c0-40e4-8756-37dfed16d5a3" providerId="ADAL" clId="{78592D7F-B46F-42DA-BA4D-C374DE24CB95}" dt="2026-06-25T05:20:07.605" v="17" actId="26606"/>
          <ac:spMkLst>
            <pc:docMk/>
            <pc:sldMk cId="787037975" sldId="282"/>
            <ac:spMk id="6" creationId="{00000000-0000-0000-0000-000000000000}"/>
          </ac:spMkLst>
        </pc:spChg>
        <pc:spChg chg="mod">
          <ac:chgData name="Kayal Palani" userId="7a3fdb4b-77c0-40e4-8756-37dfed16d5a3" providerId="ADAL" clId="{78592D7F-B46F-42DA-BA4D-C374DE24CB95}" dt="2026-06-25T06:24:18.004" v="68" actId="20577"/>
          <ac:spMkLst>
            <pc:docMk/>
            <pc:sldMk cId="787037975" sldId="282"/>
            <ac:spMk id="18" creationId="{00000000-0000-0000-0000-000000000000}"/>
          </ac:spMkLst>
        </pc:spChg>
        <pc:spChg chg="add">
          <ac:chgData name="Kayal Palani" userId="7a3fdb4b-77c0-40e4-8756-37dfed16d5a3" providerId="ADAL" clId="{78592D7F-B46F-42DA-BA4D-C374DE24CB95}" dt="2026-06-25T05:40:09.647" v="19" actId="26606"/>
          <ac:spMkLst>
            <pc:docMk/>
            <pc:sldMk cId="787037975" sldId="282"/>
            <ac:spMk id="30" creationId="{00000000-0000-0000-0000-000000000000}"/>
          </ac:spMkLst>
        </pc:spChg>
        <pc:spChg chg="mod">
          <ac:chgData name="Kayal Palani" userId="7a3fdb4b-77c0-40e4-8756-37dfed16d5a3" providerId="ADAL" clId="{78592D7F-B46F-42DA-BA4D-C374DE24CB95}" dt="2026-06-25T06:21:07.834" v="25" actId="20577"/>
          <ac:spMkLst>
            <pc:docMk/>
            <pc:sldMk cId="787037975" sldId="282"/>
            <ac:spMk id="34" creationId="{00000000-0000-0000-0000-000000000000}"/>
          </ac:spMkLst>
        </pc:spChg>
        <pc:grpChg chg="add mod">
          <ac:chgData name="Kayal Palani" userId="7a3fdb4b-77c0-40e4-8756-37dfed16d5a3" providerId="ADAL" clId="{78592D7F-B46F-42DA-BA4D-C374DE24CB95}" dt="2026-06-25T05:49:33.536" v="20" actId="26606"/>
          <ac:grpSpMkLst>
            <pc:docMk/>
            <pc:sldMk cId="787037975" sldId="282"/>
            <ac:grpSpMk id="4" creationId="{8EE446C6-20AB-1D8E-6B8F-50859F6C4151}"/>
          </ac:grpSpMkLst>
        </pc:grpChg>
        <pc:grpChg chg="add mod">
          <ac:chgData name="Kayal Palani" userId="7a3fdb4b-77c0-40e4-8756-37dfed16d5a3" providerId="ADAL" clId="{78592D7F-B46F-42DA-BA4D-C374DE24CB95}" dt="2026-06-25T05:49:33.536" v="20" actId="26606"/>
          <ac:grpSpMkLst>
            <pc:docMk/>
            <pc:sldMk cId="787037975" sldId="282"/>
            <ac:grpSpMk id="16" creationId="{A5151C8C-5B37-BC8C-D349-1C1F8AAE6F99}"/>
          </ac:grpSpMkLst>
        </pc:grpChg>
        <pc:grpChg chg="add">
          <ac:chgData name="Kayal Palani" userId="7a3fdb4b-77c0-40e4-8756-37dfed16d5a3" providerId="ADAL" clId="{78592D7F-B46F-42DA-BA4D-C374DE24CB95}" dt="2026-06-25T05:55:06.821" v="21" actId="26606"/>
          <ac:grpSpMkLst>
            <pc:docMk/>
            <pc:sldMk cId="787037975" sldId="282"/>
            <ac:grpSpMk id="31" creationId="{00000000-0000-0000-0000-000000000000}"/>
          </ac:grpSpMkLst>
        </pc:grpChg>
      </pc:sldChg>
      <pc:sldChg chg="addSp modSp mod ord">
        <pc:chgData name="Kayal Palani" userId="7a3fdb4b-77c0-40e4-8756-37dfed16d5a3" providerId="ADAL" clId="{78592D7F-B46F-42DA-BA4D-C374DE24CB95}" dt="2026-06-25T05:49:33.536" v="20" actId="26606"/>
        <pc:sldMkLst>
          <pc:docMk/>
          <pc:sldMk cId="4175748573" sldId="285"/>
        </pc:sldMkLst>
        <pc:spChg chg="mod">
          <ac:chgData name="Kayal Palani" userId="7a3fdb4b-77c0-40e4-8756-37dfed16d5a3" providerId="ADAL" clId="{78592D7F-B46F-42DA-BA4D-C374DE24CB95}" dt="2026-06-25T05:20:07.605" v="17" actId="26606"/>
          <ac:spMkLst>
            <pc:docMk/>
            <pc:sldMk cId="4175748573" sldId="285"/>
            <ac:spMk id="6" creationId="{8E7579FD-EC3C-1953-45E2-2B380C42B5F8}"/>
          </ac:spMkLst>
        </pc:spChg>
        <pc:spChg chg="mod">
          <ac:chgData name="Kayal Palani" userId="7a3fdb4b-77c0-40e4-8756-37dfed16d5a3" providerId="ADAL" clId="{78592D7F-B46F-42DA-BA4D-C374DE24CB95}" dt="2026-06-25T05:24:49.782" v="18" actId="26606"/>
          <ac:spMkLst>
            <pc:docMk/>
            <pc:sldMk cId="4175748573" sldId="285"/>
            <ac:spMk id="23" creationId="{D309AE01-EF92-8255-4F73-42956C862B44}"/>
          </ac:spMkLst>
        </pc:spChg>
        <pc:spChg chg="add">
          <ac:chgData name="Kayal Palani" userId="7a3fdb4b-77c0-40e4-8756-37dfed16d5a3" providerId="ADAL" clId="{78592D7F-B46F-42DA-BA4D-C374DE24CB95}" dt="2026-06-25T05:40:09.647" v="19" actId="26606"/>
          <ac:spMkLst>
            <pc:docMk/>
            <pc:sldMk cId="4175748573" sldId="285"/>
            <ac:spMk id="30" creationId="{00000000-0000-0000-0000-000000000000}"/>
          </ac:spMkLst>
        </pc:spChg>
        <pc:grpChg chg="add mod">
          <ac:chgData name="Kayal Palani" userId="7a3fdb4b-77c0-40e4-8756-37dfed16d5a3" providerId="ADAL" clId="{78592D7F-B46F-42DA-BA4D-C374DE24CB95}" dt="2026-06-25T05:20:07.605" v="17" actId="26606"/>
          <ac:grpSpMkLst>
            <pc:docMk/>
            <pc:sldMk cId="4175748573" sldId="285"/>
            <ac:grpSpMk id="4" creationId="{0D46580E-A1FC-07BF-783D-248393935B40}"/>
          </ac:grpSpMkLst>
        </pc:grpChg>
        <pc:grpChg chg="add mod">
          <ac:chgData name="Kayal Palani" userId="7a3fdb4b-77c0-40e4-8756-37dfed16d5a3" providerId="ADAL" clId="{78592D7F-B46F-42DA-BA4D-C374DE24CB95}" dt="2026-06-25T05:49:33.536" v="20" actId="26606"/>
          <ac:grpSpMkLst>
            <pc:docMk/>
            <pc:sldMk cId="4175748573" sldId="285"/>
            <ac:grpSpMk id="16" creationId="{749FAF9A-77E2-D248-5301-CD2909032C10}"/>
          </ac:grpSpMkLst>
        </pc:grpChg>
      </pc:sldChg>
    </pc:docChg>
  </pc:docChgLst>
  <pc:docChgLst>
    <pc:chgData name="Gabe Rossi" userId="S::gabrieler@microsoft.com::d06f6e9a-30c9-4d48-92cc-a1f25a4ec3c1" providerId="AD" clId="Web-{5CB30098-AC03-588E-E7DA-233B04A2E8E1}"/>
    <pc:docChg chg="modSld">
      <pc:chgData name="Gabe Rossi" userId="S::gabrieler@microsoft.com::d06f6e9a-30c9-4d48-92cc-a1f25a4ec3c1" providerId="AD" clId="Web-{5CB30098-AC03-588E-E7DA-233B04A2E8E1}" dt="2026-06-22T19:10:11.461" v="0" actId="20577"/>
      <pc:docMkLst>
        <pc:docMk/>
      </pc:docMkLst>
      <pc:sldChg chg="modSp">
        <pc:chgData name="Gabe Rossi" userId="S::gabrieler@microsoft.com::d06f6e9a-30c9-4d48-92cc-a1f25a4ec3c1" providerId="AD" clId="Web-{5CB30098-AC03-588E-E7DA-233B04A2E8E1}" dt="2026-06-22T19:10:11.461" v="0" actId="20577"/>
        <pc:sldMkLst>
          <pc:docMk/>
          <pc:sldMk cId="0" sldId="262"/>
        </pc:sldMkLst>
        <pc:spChg chg="mod">
          <ac:chgData name="Gabe Rossi" userId="S::gabrieler@microsoft.com::d06f6e9a-30c9-4d48-92cc-a1f25a4ec3c1" providerId="AD" clId="Web-{5CB30098-AC03-588E-E7DA-233B04A2E8E1}" dt="2026-06-22T19:10:11.461" v="0" actId="20577"/>
          <ac:spMkLst>
            <pc:docMk/>
            <pc:sldMk cId="0" sldId="262"/>
            <ac:spMk id="19" creationId="{00000000-0000-0000-0000-000000000000}"/>
          </ac:spMkLst>
        </pc:spChg>
      </pc:sldChg>
    </pc:docChg>
  </pc:docChgLst>
  <pc:docChgLst>
    <pc:chgData name="Gabe Rossi" userId="S::gabrieler@microsoft.com::d06f6e9a-30c9-4d48-92cc-a1f25a4ec3c1" providerId="AD" clId="Web-{1BBD1B00-3B27-CB0C-AEA5-7D81AAD77A73}"/>
    <pc:docChg chg="addSld delSld modSld">
      <pc:chgData name="Gabe Rossi" userId="S::gabrieler@microsoft.com::d06f6e9a-30c9-4d48-92cc-a1f25a4ec3c1" providerId="AD" clId="Web-{1BBD1B00-3B27-CB0C-AEA5-7D81AAD77A73}" dt="2026-06-25T13:43:08.110" v="58" actId="20577"/>
      <pc:docMkLst>
        <pc:docMk/>
      </pc:docMkLst>
      <pc:sldChg chg="modSp">
        <pc:chgData name="Gabe Rossi" userId="S::gabrieler@microsoft.com::d06f6e9a-30c9-4d48-92cc-a1f25a4ec3c1" providerId="AD" clId="Web-{1BBD1B00-3B27-CB0C-AEA5-7D81AAD77A73}" dt="2026-06-25T13:42:28.921" v="27" actId="20577"/>
        <pc:sldMkLst>
          <pc:docMk/>
          <pc:sldMk cId="0" sldId="272"/>
        </pc:sldMkLst>
        <pc:spChg chg="mod">
          <ac:chgData name="Gabe Rossi" userId="S::gabrieler@microsoft.com::d06f6e9a-30c9-4d48-92cc-a1f25a4ec3c1" providerId="AD" clId="Web-{1BBD1B00-3B27-CB0C-AEA5-7D81AAD77A73}" dt="2026-06-25T13:42:28.921" v="27" actId="20577"/>
          <ac:spMkLst>
            <pc:docMk/>
            <pc:sldMk cId="0" sldId="272"/>
            <ac:spMk id="23" creationId="{00000000-0000-0000-0000-000000000000}"/>
          </ac:spMkLst>
        </pc:spChg>
      </pc:sldChg>
      <pc:sldChg chg="del">
        <pc:chgData name="Gabe Rossi" userId="S::gabrieler@microsoft.com::d06f6e9a-30c9-4d48-92cc-a1f25a4ec3c1" providerId="AD" clId="Web-{1BBD1B00-3B27-CB0C-AEA5-7D81AAD77A73}" dt="2026-06-25T13:26:13.069" v="0"/>
        <pc:sldMkLst>
          <pc:docMk/>
          <pc:sldMk cId="0" sldId="277"/>
        </pc:sldMkLst>
      </pc:sldChg>
      <pc:sldChg chg="modSp">
        <pc:chgData name="Gabe Rossi" userId="S::gabrieler@microsoft.com::d06f6e9a-30c9-4d48-92cc-a1f25a4ec3c1" providerId="AD" clId="Web-{1BBD1B00-3B27-CB0C-AEA5-7D81AAD77A73}" dt="2026-06-25T13:40:25.135" v="12" actId="20577"/>
        <pc:sldMkLst>
          <pc:docMk/>
          <pc:sldMk cId="155424170" sldId="279"/>
        </pc:sldMkLst>
        <pc:spChg chg="mod">
          <ac:chgData name="Gabe Rossi" userId="S::gabrieler@microsoft.com::d06f6e9a-30c9-4d48-92cc-a1f25a4ec3c1" providerId="AD" clId="Web-{1BBD1B00-3B27-CB0C-AEA5-7D81AAD77A73}" dt="2026-06-25T13:40:25.135" v="12" actId="20577"/>
          <ac:spMkLst>
            <pc:docMk/>
            <pc:sldMk cId="155424170" sldId="279"/>
            <ac:spMk id="14" creationId="{00000000-0000-0000-0000-000000000000}"/>
          </ac:spMkLst>
        </pc:spChg>
      </pc:sldChg>
      <pc:sldChg chg="del">
        <pc:chgData name="Gabe Rossi" userId="S::gabrieler@microsoft.com::d06f6e9a-30c9-4d48-92cc-a1f25a4ec3c1" providerId="AD" clId="Web-{1BBD1B00-3B27-CB0C-AEA5-7D81AAD77A73}" dt="2026-06-25T13:29:29.826" v="1"/>
        <pc:sldMkLst>
          <pc:docMk/>
          <pc:sldMk cId="787037975" sldId="282"/>
        </pc:sldMkLst>
      </pc:sldChg>
      <pc:sldChg chg="modSp">
        <pc:chgData name="Gabe Rossi" userId="S::gabrieler@microsoft.com::d06f6e9a-30c9-4d48-92cc-a1f25a4ec3c1" providerId="AD" clId="Web-{1BBD1B00-3B27-CB0C-AEA5-7D81AAD77A73}" dt="2026-06-25T13:43:08.110" v="58" actId="20577"/>
        <pc:sldMkLst>
          <pc:docMk/>
          <pc:sldMk cId="787037990" sldId="286"/>
        </pc:sldMkLst>
        <pc:spChg chg="mod">
          <ac:chgData name="Gabe Rossi" userId="S::gabrieler@microsoft.com::d06f6e9a-30c9-4d48-92cc-a1f25a4ec3c1" providerId="AD" clId="Web-{1BBD1B00-3B27-CB0C-AEA5-7D81AAD77A73}" dt="2026-06-25T13:43:00.704" v="46" actId="20577"/>
          <ac:spMkLst>
            <pc:docMk/>
            <pc:sldMk cId="787037990" sldId="286"/>
            <ac:spMk id="52" creationId="{00000000-0000-0000-0000-000000000000}"/>
          </ac:spMkLst>
        </pc:spChg>
        <pc:spChg chg="mod">
          <ac:chgData name="Gabe Rossi" userId="S::gabrieler@microsoft.com::d06f6e9a-30c9-4d48-92cc-a1f25a4ec3c1" providerId="AD" clId="Web-{1BBD1B00-3B27-CB0C-AEA5-7D81AAD77A73}" dt="2026-06-25T13:43:08.110" v="58" actId="20577"/>
          <ac:spMkLst>
            <pc:docMk/>
            <pc:sldMk cId="787037990" sldId="286"/>
            <ac:spMk id="53" creationId="{00000000-0000-0000-0000-000000000000}"/>
          </ac:spMkLst>
        </pc:spChg>
      </pc:sldChg>
      <pc:sldChg chg="addSp modSp new">
        <pc:chgData name="Gabe Rossi" userId="S::gabrieler@microsoft.com::d06f6e9a-30c9-4d48-92cc-a1f25a4ec3c1" providerId="AD" clId="Web-{1BBD1B00-3B27-CB0C-AEA5-7D81AAD77A73}" dt="2026-06-25T13:36:34.078" v="11" actId="14100"/>
        <pc:sldMkLst>
          <pc:docMk/>
          <pc:sldMk cId="680826574" sldId="288"/>
        </pc:sldMkLst>
        <pc:spChg chg="add mod">
          <ac:chgData name="Gabe Rossi" userId="S::gabrieler@microsoft.com::d06f6e9a-30c9-4d48-92cc-a1f25a4ec3c1" providerId="AD" clId="Web-{1BBD1B00-3B27-CB0C-AEA5-7D81AAD77A73}" dt="2026-06-25T13:36:08.515" v="6" actId="1076"/>
          <ac:spMkLst>
            <pc:docMk/>
            <pc:sldMk cId="680826574" sldId="288"/>
            <ac:spMk id="4" creationId="{9D8E69B4-C51D-130F-D07D-039B634F2A5D}"/>
          </ac:spMkLst>
        </pc:spChg>
        <pc:spChg chg="add mod">
          <ac:chgData name="Gabe Rossi" userId="S::gabrieler@microsoft.com::d06f6e9a-30c9-4d48-92cc-a1f25a4ec3c1" providerId="AD" clId="Web-{1BBD1B00-3B27-CB0C-AEA5-7D81AAD77A73}" dt="2026-06-25T13:36:34.078" v="11" actId="14100"/>
          <ac:spMkLst>
            <pc:docMk/>
            <pc:sldMk cId="680826574" sldId="288"/>
            <ac:spMk id="6" creationId="{042F0DCE-7C28-1A3C-A1B1-AC03B97759BF}"/>
          </ac:spMkLst>
        </pc:spChg>
        <pc:picChg chg="add mod">
          <ac:chgData name="Gabe Rossi" userId="S::gabrieler@microsoft.com::d06f6e9a-30c9-4d48-92cc-a1f25a4ec3c1" providerId="AD" clId="Web-{1BBD1B00-3B27-CB0C-AEA5-7D81AAD77A73}" dt="2026-06-25T13:29:58.593" v="3"/>
          <ac:picMkLst>
            <pc:docMk/>
            <pc:sldMk cId="680826574" sldId="288"/>
            <ac:picMk id="2" creationId="{F303C77F-BAE3-21DE-0053-C8D875BC4208}"/>
          </ac:picMkLst>
        </pc:picChg>
      </pc:sldChg>
    </pc:docChg>
  </pc:docChgLst>
  <pc:docChgLst>
    <pc:chgData name="Ankeet Dedhia" userId="S::ankeetdedhia@microsoft.com::41994fe2-67b0-416b-81b3-ed2dfd7dbdd2" providerId="AD" clId="Web-{9A408E27-6FED-C234-AC79-16AD803E258E}"/>
    <pc:docChg chg="addSld delSld modSld">
      <pc:chgData name="Ankeet Dedhia" userId="S::ankeetdedhia@microsoft.com::41994fe2-67b0-416b-81b3-ed2dfd7dbdd2" providerId="AD" clId="Web-{9A408E27-6FED-C234-AC79-16AD803E258E}" dt="2026-06-24T22:59:17.490" v="68"/>
      <pc:docMkLst>
        <pc:docMk/>
      </pc:docMkLst>
      <pc:sldChg chg="addSp delSp modSp">
        <pc:chgData name="Ankeet Dedhia" userId="S::ankeetdedhia@microsoft.com::41994fe2-67b0-416b-81b3-ed2dfd7dbdd2" providerId="AD" clId="Web-{9A408E27-6FED-C234-AC79-16AD803E258E}" dt="2026-06-24T22:32:39.490" v="67" actId="1076"/>
        <pc:sldMkLst>
          <pc:docMk/>
          <pc:sldMk cId="1855084431" sldId="281"/>
        </pc:sldMkLst>
        <pc:spChg chg="mod">
          <ac:chgData name="Ankeet Dedhia" userId="S::ankeetdedhia@microsoft.com::41994fe2-67b0-416b-81b3-ed2dfd7dbdd2" providerId="AD" clId="Web-{9A408E27-6FED-C234-AC79-16AD803E258E}" dt="2026-06-24T22:30:45.160" v="38" actId="20577"/>
          <ac:spMkLst>
            <pc:docMk/>
            <pc:sldMk cId="1855084431" sldId="281"/>
            <ac:spMk id="3" creationId="{00000000-0000-0000-0000-000000000000}"/>
          </ac:spMkLst>
        </pc:spChg>
        <pc:spChg chg="add">
          <ac:chgData name="Ankeet Dedhia" userId="S::ankeetdedhia@microsoft.com::41994fe2-67b0-416b-81b3-ed2dfd7dbdd2" providerId="AD" clId="Web-{9A408E27-6FED-C234-AC79-16AD803E258E}" dt="2026-06-24T22:31:19.567" v="63"/>
          <ac:spMkLst>
            <pc:docMk/>
            <pc:sldMk cId="1855084431" sldId="281"/>
            <ac:spMk id="25" creationId="{07E79304-73BD-F8CC-F156-360C4BDF88A0}"/>
          </ac:spMkLst>
        </pc:spChg>
      </pc:sldChg>
    </pc:docChg>
  </pc:docChgLst>
  <pc:docChgLst>
    <pc:chgData name="Gabe Rossi" userId="S::gabrieler@microsoft.com::d06f6e9a-30c9-4d48-92cc-a1f25a4ec3c1" providerId="AD" clId="Web-{4228ED76-89C7-8A9E-FA10-49EE25953CCC}"/>
    <pc:docChg chg="addSld delSld modSld">
      <pc:chgData name="Gabe Rossi" userId="S::gabrieler@microsoft.com::d06f6e9a-30c9-4d48-92cc-a1f25a4ec3c1" providerId="AD" clId="Web-{4228ED76-89C7-8A9E-FA10-49EE25953CCC}" dt="2026-06-25T17:53:44.386" v="6"/>
      <pc:docMkLst>
        <pc:docMk/>
      </pc:docMkLst>
      <pc:sldChg chg="addSp delSp modSp del">
        <pc:chgData name="Gabe Rossi" userId="S::gabrieler@microsoft.com::d06f6e9a-30c9-4d48-92cc-a1f25a4ec3c1" providerId="AD" clId="Web-{4228ED76-89C7-8A9E-FA10-49EE25953CCC}" dt="2026-06-25T17:53:44.386" v="6"/>
        <pc:sldMkLst>
          <pc:docMk/>
          <pc:sldMk cId="2259082359" sldId="275"/>
        </pc:sldMkLst>
        <pc:spChg chg="add del mod">
          <ac:chgData name="Gabe Rossi" userId="S::gabrieler@microsoft.com::d06f6e9a-30c9-4d48-92cc-a1f25a4ec3c1" providerId="AD" clId="Web-{4228ED76-89C7-8A9E-FA10-49EE25953CCC}" dt="2026-06-25T17:53:31.588" v="4"/>
          <ac:spMkLst>
            <pc:docMk/>
            <pc:sldMk cId="2259082359" sldId="275"/>
            <ac:spMk id="25" creationId="{49882867-A15A-4AE8-BE3F-6CECB5824869}"/>
          </ac:spMkLst>
        </pc:spChg>
      </pc:sldChg>
      <pc:sldChg chg="modSp">
        <pc:chgData name="Gabe Rossi" userId="S::gabrieler@microsoft.com::d06f6e9a-30c9-4d48-92cc-a1f25a4ec3c1" providerId="AD" clId="Web-{4228ED76-89C7-8A9E-FA10-49EE25953CCC}" dt="2026-06-25T17:53:18.338" v="0" actId="20577"/>
        <pc:sldMkLst>
          <pc:docMk/>
          <pc:sldMk cId="606990558" sldId="276"/>
        </pc:sldMkLst>
        <pc:spChg chg="mod">
          <ac:chgData name="Gabe Rossi" userId="S::gabrieler@microsoft.com::d06f6e9a-30c9-4d48-92cc-a1f25a4ec3c1" providerId="AD" clId="Web-{4228ED76-89C7-8A9E-FA10-49EE25953CCC}" dt="2026-06-25T17:53:18.338" v="0" actId="20577"/>
          <ac:spMkLst>
            <pc:docMk/>
            <pc:sldMk cId="606990558" sldId="276"/>
            <ac:spMk id="13" creationId="{F0244008-5939-D734-71F3-9A1A1F60D83D}"/>
          </ac:spMkLst>
        </pc:spChg>
      </pc:sldChg>
      <pc:sldChg chg="add replId">
        <pc:chgData name="Gabe Rossi" userId="S::gabrieler@microsoft.com::d06f6e9a-30c9-4d48-92cc-a1f25a4ec3c1" providerId="AD" clId="Web-{4228ED76-89C7-8A9E-FA10-49EE25953CCC}" dt="2026-06-25T17:53:42.761" v="5"/>
        <pc:sldMkLst>
          <pc:docMk/>
          <pc:sldMk cId="1483487020" sldId="289"/>
        </pc:sldMkLst>
      </pc:sldChg>
    </pc:docChg>
  </pc:docChgLst>
  <pc:docChgLst>
    <pc:chgData name="Jonson Tsai" userId="d1bb3ff6-bb6f-45f5-a1bb-9b315a4517c4" providerId="ADAL" clId="{AD62BCDE-8342-4AB9-B7F8-65676523CACD}"/>
    <pc:docChg chg="undo custSel addSld modSld">
      <pc:chgData name="Jonson Tsai" userId="d1bb3ff6-bb6f-45f5-a1bb-9b315a4517c4" providerId="ADAL" clId="{AD62BCDE-8342-4AB9-B7F8-65676523CACD}" dt="2026-06-24T22:10:24.571" v="58" actId="5793"/>
      <pc:docMkLst>
        <pc:docMk/>
      </pc:docMkLst>
      <pc:sldChg chg="modSp add mod">
        <pc:chgData name="Jonson Tsai" userId="d1bb3ff6-bb6f-45f5-a1bb-9b315a4517c4" providerId="ADAL" clId="{AD62BCDE-8342-4AB9-B7F8-65676523CACD}" dt="2026-06-24T22:10:24.571" v="58" actId="5793"/>
        <pc:sldMkLst>
          <pc:docMk/>
          <pc:sldMk cId="4175748573" sldId="285"/>
        </pc:sldMkLst>
        <pc:spChg chg="mod">
          <ac:chgData name="Jonson Tsai" userId="d1bb3ff6-bb6f-45f5-a1bb-9b315a4517c4" providerId="ADAL" clId="{AD62BCDE-8342-4AB9-B7F8-65676523CACD}" dt="2026-06-24T22:09:41.920" v="38" actId="20577"/>
          <ac:spMkLst>
            <pc:docMk/>
            <pc:sldMk cId="4175748573" sldId="285"/>
            <ac:spMk id="6" creationId="{8E7579FD-EC3C-1953-45E2-2B380C42B5F8}"/>
          </ac:spMkLst>
        </pc:spChg>
        <pc:spChg chg="mod">
          <ac:chgData name="Jonson Tsai" userId="d1bb3ff6-bb6f-45f5-a1bb-9b315a4517c4" providerId="ADAL" clId="{AD62BCDE-8342-4AB9-B7F8-65676523CACD}" dt="2026-06-24T22:10:24.571" v="58" actId="5793"/>
          <ac:spMkLst>
            <pc:docMk/>
            <pc:sldMk cId="4175748573" sldId="285"/>
            <ac:spMk id="14" creationId="{2AE463C3-06B1-0AE1-DA41-0DDBBABE28EB}"/>
          </ac:spMkLst>
        </pc:spChg>
        <pc:spChg chg="mod">
          <ac:chgData name="Jonson Tsai" userId="d1bb3ff6-bb6f-45f5-a1bb-9b315a4517c4" providerId="ADAL" clId="{AD62BCDE-8342-4AB9-B7F8-65676523CACD}" dt="2026-06-24T22:09:50.237" v="39"/>
          <ac:spMkLst>
            <pc:docMk/>
            <pc:sldMk cId="4175748573" sldId="285"/>
            <ac:spMk id="21" creationId="{D340FCE3-2BE6-3134-2634-23181702AF6E}"/>
          </ac:spMkLst>
        </pc:spChg>
      </pc:sldChg>
      <pc:sldChg chg="add setBg">
        <pc:chgData name="Jonson Tsai" userId="d1bb3ff6-bb6f-45f5-a1bb-9b315a4517c4" providerId="ADAL" clId="{AD62BCDE-8342-4AB9-B7F8-65676523CACD}" dt="2026-06-24T22:08:50.146" v="1"/>
        <pc:sldMkLst>
          <pc:docMk/>
          <pc:sldMk cId="787037990" sldId="286"/>
        </pc:sldMkLst>
      </pc:sldChg>
    </pc:docChg>
  </pc:docChgLst>
  <pc:docChgLst>
    <pc:chgData name="Gabe Rossi" userId="S::gabrieler@microsoft.com::d06f6e9a-30c9-4d48-92cc-a1f25a4ec3c1" providerId="AD" clId="Web-{11B68FCC-640E-9D9A-39B7-69E09DCB2D43}"/>
    <pc:docChg chg="addSld delSld modSld">
      <pc:chgData name="Gabe Rossi" userId="S::gabrieler@microsoft.com::d06f6e9a-30c9-4d48-92cc-a1f25a4ec3c1" providerId="AD" clId="Web-{11B68FCC-640E-9D9A-39B7-69E09DCB2D43}" dt="2026-06-24T18:50:15.696" v="212" actId="20577"/>
      <pc:docMkLst>
        <pc:docMk/>
      </pc:docMkLst>
      <pc:sldChg chg="modSp">
        <pc:chgData name="Gabe Rossi" userId="S::gabrieler@microsoft.com::d06f6e9a-30c9-4d48-92cc-a1f25a4ec3c1" providerId="AD" clId="Web-{11B68FCC-640E-9D9A-39B7-69E09DCB2D43}" dt="2026-06-24T16:43:56.398" v="116" actId="20577"/>
        <pc:sldMkLst>
          <pc:docMk/>
          <pc:sldMk cId="0" sldId="272"/>
        </pc:sldMkLst>
        <pc:spChg chg="mod">
          <ac:chgData name="Gabe Rossi" userId="S::gabrieler@microsoft.com::d06f6e9a-30c9-4d48-92cc-a1f25a4ec3c1" providerId="AD" clId="Web-{11B68FCC-640E-9D9A-39B7-69E09DCB2D43}" dt="2026-06-24T16:24:04.972" v="36" actId="1076"/>
          <ac:spMkLst>
            <pc:docMk/>
            <pc:sldMk cId="0" sldId="272"/>
            <ac:spMk id="6" creationId="{00000000-0000-0000-0000-000000000000}"/>
          </ac:spMkLst>
        </pc:spChg>
        <pc:spChg chg="mod">
          <ac:chgData name="Gabe Rossi" userId="S::gabrieler@microsoft.com::d06f6e9a-30c9-4d48-92cc-a1f25a4ec3c1" providerId="AD" clId="Web-{11B68FCC-640E-9D9A-39B7-69E09DCB2D43}" dt="2026-06-24T16:24:05.003" v="37" actId="1076"/>
          <ac:spMkLst>
            <pc:docMk/>
            <pc:sldMk cId="0" sldId="272"/>
            <ac:spMk id="7" creationId="{00000000-0000-0000-0000-000000000000}"/>
          </ac:spMkLst>
        </pc:spChg>
        <pc:spChg chg="mod">
          <ac:chgData name="Gabe Rossi" userId="S::gabrieler@microsoft.com::d06f6e9a-30c9-4d48-92cc-a1f25a4ec3c1" providerId="AD" clId="Web-{11B68FCC-640E-9D9A-39B7-69E09DCB2D43}" dt="2026-06-24T16:24:05.019" v="38" actId="1076"/>
          <ac:spMkLst>
            <pc:docMk/>
            <pc:sldMk cId="0" sldId="272"/>
            <ac:spMk id="8" creationId="{00000000-0000-0000-0000-000000000000}"/>
          </ac:spMkLst>
        </pc:spChg>
        <pc:spChg chg="mod">
          <ac:chgData name="Gabe Rossi" userId="S::gabrieler@microsoft.com::d06f6e9a-30c9-4d48-92cc-a1f25a4ec3c1" providerId="AD" clId="Web-{11B68FCC-640E-9D9A-39B7-69E09DCB2D43}" dt="2026-06-24T16:24:05.035" v="39" actId="1076"/>
          <ac:spMkLst>
            <pc:docMk/>
            <pc:sldMk cId="0" sldId="272"/>
            <ac:spMk id="9" creationId="{00000000-0000-0000-0000-000000000000}"/>
          </ac:spMkLst>
        </pc:spChg>
        <pc:spChg chg="mod">
          <ac:chgData name="Gabe Rossi" userId="S::gabrieler@microsoft.com::d06f6e9a-30c9-4d48-92cc-a1f25a4ec3c1" providerId="AD" clId="Web-{11B68FCC-640E-9D9A-39B7-69E09DCB2D43}" dt="2026-06-24T16:24:05.066" v="40" actId="1076"/>
          <ac:spMkLst>
            <pc:docMk/>
            <pc:sldMk cId="0" sldId="272"/>
            <ac:spMk id="10" creationId="{00000000-0000-0000-0000-000000000000}"/>
          </ac:spMkLst>
        </pc:spChg>
        <pc:spChg chg="mod">
          <ac:chgData name="Gabe Rossi" userId="S::gabrieler@microsoft.com::d06f6e9a-30c9-4d48-92cc-a1f25a4ec3c1" providerId="AD" clId="Web-{11B68FCC-640E-9D9A-39B7-69E09DCB2D43}" dt="2026-06-24T16:24:05.081" v="41" actId="1076"/>
          <ac:spMkLst>
            <pc:docMk/>
            <pc:sldMk cId="0" sldId="272"/>
            <ac:spMk id="11" creationId="{00000000-0000-0000-0000-000000000000}"/>
          </ac:spMkLst>
        </pc:spChg>
        <pc:spChg chg="mod">
          <ac:chgData name="Gabe Rossi" userId="S::gabrieler@microsoft.com::d06f6e9a-30c9-4d48-92cc-a1f25a4ec3c1" providerId="AD" clId="Web-{11B68FCC-640E-9D9A-39B7-69E09DCB2D43}" dt="2026-06-24T16:24:05.097" v="42" actId="1076"/>
          <ac:spMkLst>
            <pc:docMk/>
            <pc:sldMk cId="0" sldId="272"/>
            <ac:spMk id="12" creationId="{00000000-0000-0000-0000-000000000000}"/>
          </ac:spMkLst>
        </pc:spChg>
        <pc:spChg chg="mod">
          <ac:chgData name="Gabe Rossi" userId="S::gabrieler@microsoft.com::d06f6e9a-30c9-4d48-92cc-a1f25a4ec3c1" providerId="AD" clId="Web-{11B68FCC-640E-9D9A-39B7-69E09DCB2D43}" dt="2026-06-24T16:24:05.128" v="43" actId="1076"/>
          <ac:spMkLst>
            <pc:docMk/>
            <pc:sldMk cId="0" sldId="272"/>
            <ac:spMk id="13" creationId="{00000000-0000-0000-0000-000000000000}"/>
          </ac:spMkLst>
        </pc:spChg>
        <pc:spChg chg="mod">
          <ac:chgData name="Gabe Rossi" userId="S::gabrieler@microsoft.com::d06f6e9a-30c9-4d48-92cc-a1f25a4ec3c1" providerId="AD" clId="Web-{11B68FCC-640E-9D9A-39B7-69E09DCB2D43}" dt="2026-06-24T16:24:05.144" v="44" actId="1076"/>
          <ac:spMkLst>
            <pc:docMk/>
            <pc:sldMk cId="0" sldId="272"/>
            <ac:spMk id="14" creationId="{00000000-0000-0000-0000-000000000000}"/>
          </ac:spMkLst>
        </pc:spChg>
        <pc:spChg chg="mod">
          <ac:chgData name="Gabe Rossi" userId="S::gabrieler@microsoft.com::d06f6e9a-30c9-4d48-92cc-a1f25a4ec3c1" providerId="AD" clId="Web-{11B68FCC-640E-9D9A-39B7-69E09DCB2D43}" dt="2026-06-24T16:24:05.160" v="45" actId="1076"/>
          <ac:spMkLst>
            <pc:docMk/>
            <pc:sldMk cId="0" sldId="272"/>
            <ac:spMk id="15" creationId="{00000000-0000-0000-0000-000000000000}"/>
          </ac:spMkLst>
        </pc:spChg>
        <pc:spChg chg="mod">
          <ac:chgData name="Gabe Rossi" userId="S::gabrieler@microsoft.com::d06f6e9a-30c9-4d48-92cc-a1f25a4ec3c1" providerId="AD" clId="Web-{11B68FCC-640E-9D9A-39B7-69E09DCB2D43}" dt="2026-06-24T16:24:05.175" v="46" actId="1076"/>
          <ac:spMkLst>
            <pc:docMk/>
            <pc:sldMk cId="0" sldId="272"/>
            <ac:spMk id="16" creationId="{00000000-0000-0000-0000-000000000000}"/>
          </ac:spMkLst>
        </pc:spChg>
        <pc:spChg chg="mod">
          <ac:chgData name="Gabe Rossi" userId="S::gabrieler@microsoft.com::d06f6e9a-30c9-4d48-92cc-a1f25a4ec3c1" providerId="AD" clId="Web-{11B68FCC-640E-9D9A-39B7-69E09DCB2D43}" dt="2026-06-24T16:24:05.206" v="47" actId="1076"/>
          <ac:spMkLst>
            <pc:docMk/>
            <pc:sldMk cId="0" sldId="272"/>
            <ac:spMk id="17" creationId="{00000000-0000-0000-0000-000000000000}"/>
          </ac:spMkLst>
        </pc:spChg>
        <pc:spChg chg="mod">
          <ac:chgData name="Gabe Rossi" userId="S::gabrieler@microsoft.com::d06f6e9a-30c9-4d48-92cc-a1f25a4ec3c1" providerId="AD" clId="Web-{11B68FCC-640E-9D9A-39B7-69E09DCB2D43}" dt="2026-06-24T16:24:05.222" v="48" actId="1076"/>
          <ac:spMkLst>
            <pc:docMk/>
            <pc:sldMk cId="0" sldId="272"/>
            <ac:spMk id="18" creationId="{00000000-0000-0000-0000-000000000000}"/>
          </ac:spMkLst>
        </pc:spChg>
        <pc:spChg chg="mod">
          <ac:chgData name="Gabe Rossi" userId="S::gabrieler@microsoft.com::d06f6e9a-30c9-4d48-92cc-a1f25a4ec3c1" providerId="AD" clId="Web-{11B68FCC-640E-9D9A-39B7-69E09DCB2D43}" dt="2026-06-24T16:24:05.238" v="49" actId="1076"/>
          <ac:spMkLst>
            <pc:docMk/>
            <pc:sldMk cId="0" sldId="272"/>
            <ac:spMk id="19" creationId="{00000000-0000-0000-0000-000000000000}"/>
          </ac:spMkLst>
        </pc:spChg>
        <pc:spChg chg="mod">
          <ac:chgData name="Gabe Rossi" userId="S::gabrieler@microsoft.com::d06f6e9a-30c9-4d48-92cc-a1f25a4ec3c1" providerId="AD" clId="Web-{11B68FCC-640E-9D9A-39B7-69E09DCB2D43}" dt="2026-06-24T16:24:05.253" v="50" actId="1076"/>
          <ac:spMkLst>
            <pc:docMk/>
            <pc:sldMk cId="0" sldId="272"/>
            <ac:spMk id="20" creationId="{00000000-0000-0000-0000-000000000000}"/>
          </ac:spMkLst>
        </pc:spChg>
        <pc:spChg chg="mod">
          <ac:chgData name="Gabe Rossi" userId="S::gabrieler@microsoft.com::d06f6e9a-30c9-4d48-92cc-a1f25a4ec3c1" providerId="AD" clId="Web-{11B68FCC-640E-9D9A-39B7-69E09DCB2D43}" dt="2026-06-24T16:24:05.285" v="51" actId="1076"/>
          <ac:spMkLst>
            <pc:docMk/>
            <pc:sldMk cId="0" sldId="272"/>
            <ac:spMk id="21" creationId="{00000000-0000-0000-0000-000000000000}"/>
          </ac:spMkLst>
        </pc:spChg>
        <pc:spChg chg="mod">
          <ac:chgData name="Gabe Rossi" userId="S::gabrieler@microsoft.com::d06f6e9a-30c9-4d48-92cc-a1f25a4ec3c1" providerId="AD" clId="Web-{11B68FCC-640E-9D9A-39B7-69E09DCB2D43}" dt="2026-06-24T16:24:05.300" v="52" actId="1076"/>
          <ac:spMkLst>
            <pc:docMk/>
            <pc:sldMk cId="0" sldId="272"/>
            <ac:spMk id="22" creationId="{00000000-0000-0000-0000-000000000000}"/>
          </ac:spMkLst>
        </pc:spChg>
        <pc:spChg chg="mod">
          <ac:chgData name="Gabe Rossi" userId="S::gabrieler@microsoft.com::d06f6e9a-30c9-4d48-92cc-a1f25a4ec3c1" providerId="AD" clId="Web-{11B68FCC-640E-9D9A-39B7-69E09DCB2D43}" dt="2026-06-24T16:43:56.398" v="116" actId="20577"/>
          <ac:spMkLst>
            <pc:docMk/>
            <pc:sldMk cId="0" sldId="272"/>
            <ac:spMk id="23" creationId="{00000000-0000-0000-0000-000000000000}"/>
          </ac:spMkLst>
        </pc:spChg>
      </pc:sldChg>
      <pc:sldChg chg="modSp add">
        <pc:chgData name="Gabe Rossi" userId="S::gabrieler@microsoft.com::d06f6e9a-30c9-4d48-92cc-a1f25a4ec3c1" providerId="AD" clId="Web-{11B68FCC-640E-9D9A-39B7-69E09DCB2D43}" dt="2026-06-24T18:50:15.696" v="212" actId="20577"/>
        <pc:sldMkLst>
          <pc:docMk/>
          <pc:sldMk cId="1062119174" sldId="278"/>
        </pc:sldMkLst>
        <pc:spChg chg="mod">
          <ac:chgData name="Gabe Rossi" userId="S::gabrieler@microsoft.com::d06f6e9a-30c9-4d48-92cc-a1f25a4ec3c1" providerId="AD" clId="Web-{11B68FCC-640E-9D9A-39B7-69E09DCB2D43}" dt="2026-06-24T18:50:15.696" v="212" actId="20577"/>
          <ac:spMkLst>
            <pc:docMk/>
            <pc:sldMk cId="1062119174" sldId="278"/>
            <ac:spMk id="8" creationId="{00000000-0000-0000-0000-000000000000}"/>
          </ac:spMkLst>
        </pc:spChg>
      </pc:sldChg>
      <pc:sldChg chg="add">
        <pc:chgData name="Gabe Rossi" userId="S::gabrieler@microsoft.com::d06f6e9a-30c9-4d48-92cc-a1f25a4ec3c1" providerId="AD" clId="Web-{11B68FCC-640E-9D9A-39B7-69E09DCB2D43}" dt="2026-06-24T18:39:40.184" v="119"/>
        <pc:sldMkLst>
          <pc:docMk/>
          <pc:sldMk cId="155424170" sldId="279"/>
        </pc:sldMkLst>
      </pc:sldChg>
      <pc:sldChg chg="add">
        <pc:chgData name="Gabe Rossi" userId="S::gabrieler@microsoft.com::d06f6e9a-30c9-4d48-92cc-a1f25a4ec3c1" providerId="AD" clId="Web-{11B68FCC-640E-9D9A-39B7-69E09DCB2D43}" dt="2026-06-24T18:39:40.387" v="120"/>
        <pc:sldMkLst>
          <pc:docMk/>
          <pc:sldMk cId="1618721135" sldId="280"/>
        </pc:sldMkLst>
      </pc:sldChg>
      <pc:sldChg chg="add">
        <pc:chgData name="Gabe Rossi" userId="S::gabrieler@microsoft.com::d06f6e9a-30c9-4d48-92cc-a1f25a4ec3c1" providerId="AD" clId="Web-{11B68FCC-640E-9D9A-39B7-69E09DCB2D43}" dt="2026-06-24T18:39:40.528" v="121"/>
        <pc:sldMkLst>
          <pc:docMk/>
          <pc:sldMk cId="1855084431" sldId="281"/>
        </pc:sldMkLst>
      </pc:sldChg>
      <pc:sldChg chg="add">
        <pc:chgData name="Gabe Rossi" userId="S::gabrieler@microsoft.com::d06f6e9a-30c9-4d48-92cc-a1f25a4ec3c1" providerId="AD" clId="Web-{11B68FCC-640E-9D9A-39B7-69E09DCB2D43}" dt="2026-06-24T18:39:40.809" v="123"/>
        <pc:sldMkLst>
          <pc:docMk/>
          <pc:sldMk cId="4000474265" sldId="283"/>
        </pc:sldMkLst>
      </pc:sldChg>
      <pc:sldChg chg="add">
        <pc:chgData name="Gabe Rossi" userId="S::gabrieler@microsoft.com::d06f6e9a-30c9-4d48-92cc-a1f25a4ec3c1" providerId="AD" clId="Web-{11B68FCC-640E-9D9A-39B7-69E09DCB2D43}" dt="2026-06-24T18:39:40.966" v="124"/>
        <pc:sldMkLst>
          <pc:docMk/>
          <pc:sldMk cId="1323885290" sldId="284"/>
        </pc:sldMkLst>
      </pc:sldChg>
    </pc:docChg>
  </pc:docChgLst>
  <pc:docChgLst>
    <pc:chgData name="Gabe Rossi" userId="S::gabrieler@microsoft.com::d06f6e9a-30c9-4d48-92cc-a1f25a4ec3c1" providerId="AD" clId="Web-{24D4F77E-FCFE-0433-91E0-8721717EEA8B}"/>
    <pc:docChg chg="modSld">
      <pc:chgData name="Gabe Rossi" userId="S::gabrieler@microsoft.com::d06f6e9a-30c9-4d48-92cc-a1f25a4ec3c1" providerId="AD" clId="Web-{24D4F77E-FCFE-0433-91E0-8721717EEA8B}" dt="2026-06-24T19:30:02.148" v="0"/>
      <pc:docMkLst>
        <pc:docMk/>
      </pc:docMkLst>
    </pc:docChg>
  </pc:docChgLst>
  <pc:docChgLst>
    <pc:chgData name="Mona Chitalia" userId="0a001b54-3fb6-4431-acc5-17e44fac5c1b" providerId="ADAL" clId="{5DE98919-7985-46BC-810B-60B0A651BEBE}"/>
    <pc:docChg chg="undo custSel modSld">
      <pc:chgData name="Mona Chitalia" userId="0a001b54-3fb6-4431-acc5-17e44fac5c1b" providerId="ADAL" clId="{5DE98919-7985-46BC-810B-60B0A651BEBE}" dt="2026-06-25T14:10:45.336" v="2158" actId="20577"/>
      <pc:docMkLst>
        <pc:docMk/>
      </pc:docMkLst>
      <pc:sldChg chg="modSp mod">
        <pc:chgData name="Mona Chitalia" userId="0a001b54-3fb6-4431-acc5-17e44fac5c1b" providerId="ADAL" clId="{5DE98919-7985-46BC-810B-60B0A651BEBE}" dt="2026-06-25T14:08:42.104" v="2092" actId="20577"/>
        <pc:sldMkLst>
          <pc:docMk/>
          <pc:sldMk cId="606990558" sldId="276"/>
        </pc:sldMkLst>
        <pc:spChg chg="mod">
          <ac:chgData name="Mona Chitalia" userId="0a001b54-3fb6-4431-acc5-17e44fac5c1b" providerId="ADAL" clId="{5DE98919-7985-46BC-810B-60B0A651BEBE}" dt="2026-06-25T14:08:42.104" v="2092" actId="20577"/>
          <ac:spMkLst>
            <pc:docMk/>
            <pc:sldMk cId="606990558" sldId="276"/>
            <ac:spMk id="13" creationId="{F0244008-5939-D734-71F3-9A1A1F60D83D}"/>
          </ac:spMkLst>
        </pc:spChg>
      </pc:sldChg>
      <pc:sldChg chg="addSp delSp modSp mod modNotesTx">
        <pc:chgData name="Mona Chitalia" userId="0a001b54-3fb6-4431-acc5-17e44fac5c1b" providerId="ADAL" clId="{5DE98919-7985-46BC-810B-60B0A651BEBE}" dt="2026-06-25T14:10:45.336" v="2158" actId="20577"/>
        <pc:sldMkLst>
          <pc:docMk/>
          <pc:sldMk cId="155424170" sldId="279"/>
        </pc:sldMkLst>
        <pc:spChg chg="mod">
          <ac:chgData name="Mona Chitalia" userId="0a001b54-3fb6-4431-acc5-17e44fac5c1b" providerId="ADAL" clId="{5DE98919-7985-46BC-810B-60B0A651BEBE}" dt="2026-06-24T20:19:09.866" v="787" actId="1076"/>
          <ac:spMkLst>
            <pc:docMk/>
            <pc:sldMk cId="155424170" sldId="279"/>
            <ac:spMk id="12" creationId="{00000000-0000-0000-0000-000000000000}"/>
          </ac:spMkLst>
        </pc:spChg>
        <pc:spChg chg="mod">
          <ac:chgData name="Mona Chitalia" userId="0a001b54-3fb6-4431-acc5-17e44fac5c1b" providerId="ADAL" clId="{5DE98919-7985-46BC-810B-60B0A651BEBE}" dt="2026-06-24T20:19:12.682" v="788" actId="1076"/>
          <ac:spMkLst>
            <pc:docMk/>
            <pc:sldMk cId="155424170" sldId="279"/>
            <ac:spMk id="13" creationId="{00000000-0000-0000-0000-000000000000}"/>
          </ac:spMkLst>
        </pc:spChg>
        <pc:spChg chg="mod">
          <ac:chgData name="Mona Chitalia" userId="0a001b54-3fb6-4431-acc5-17e44fac5c1b" providerId="ADAL" clId="{5DE98919-7985-46BC-810B-60B0A651BEBE}" dt="2026-06-25T14:10:45.336" v="2158" actId="20577"/>
          <ac:spMkLst>
            <pc:docMk/>
            <pc:sldMk cId="155424170" sldId="279"/>
            <ac:spMk id="14" creationId="{00000000-0000-0000-0000-000000000000}"/>
          </ac:spMkLst>
        </pc:spChg>
        <pc:spChg chg="mod">
          <ac:chgData name="Mona Chitalia" userId="0a001b54-3fb6-4431-acc5-17e44fac5c1b" providerId="ADAL" clId="{5DE98919-7985-46BC-810B-60B0A651BEBE}" dt="2026-06-25T13:14:29.679" v="1713" actId="20577"/>
          <ac:spMkLst>
            <pc:docMk/>
            <pc:sldMk cId="155424170" sldId="279"/>
            <ac:spMk id="21" creationId="{00000000-0000-0000-0000-000000000000}"/>
          </ac:spMkLst>
        </pc:spChg>
        <pc:spChg chg="add mod">
          <ac:chgData name="Mona Chitalia" userId="0a001b54-3fb6-4431-acc5-17e44fac5c1b" providerId="ADAL" clId="{5DE98919-7985-46BC-810B-60B0A651BEBE}" dt="2026-06-25T13:57:08.238" v="2084" actId="255"/>
          <ac:spMkLst>
            <pc:docMk/>
            <pc:sldMk cId="155424170" sldId="279"/>
            <ac:spMk id="25" creationId="{4BB26841-2A52-B826-7079-361FB62F4926}"/>
          </ac:spMkLst>
        </pc:spChg>
      </pc:sldChg>
    </pc:docChg>
  </pc:docChgLst>
  <pc:docChgLst>
    <pc:chgData name="Gabe Rossi" userId="S::gabrieler@microsoft.com::d06f6e9a-30c9-4d48-92cc-a1f25a4ec3c1" providerId="AD" clId="Web-{0432C214-9594-B3EF-AB96-BC5496932E4A}"/>
    <pc:docChg chg="delSld modSld">
      <pc:chgData name="Gabe Rossi" userId="S::gabrieler@microsoft.com::d06f6e9a-30c9-4d48-92cc-a1f25a4ec3c1" providerId="AD" clId="Web-{0432C214-9594-B3EF-AB96-BC5496932E4A}" dt="2026-06-22T19:00:48.096" v="166" actId="20577"/>
      <pc:docMkLst>
        <pc:docMk/>
      </pc:docMkLst>
      <pc:sldChg chg="modSp">
        <pc:chgData name="Gabe Rossi" userId="S::gabrieler@microsoft.com::d06f6e9a-30c9-4d48-92cc-a1f25a4ec3c1" providerId="AD" clId="Web-{0432C214-9594-B3EF-AB96-BC5496932E4A}" dt="2026-06-22T18:57:46.667" v="108" actId="20577"/>
        <pc:sldMkLst>
          <pc:docMk/>
          <pc:sldMk cId="0" sldId="256"/>
        </pc:sldMkLst>
        <pc:spChg chg="mod">
          <ac:chgData name="Gabe Rossi" userId="S::gabrieler@microsoft.com::d06f6e9a-30c9-4d48-92cc-a1f25a4ec3c1" providerId="AD" clId="Web-{0432C214-9594-B3EF-AB96-BC5496932E4A}" dt="2026-06-22T18:57:20.900" v="82" actId="20577"/>
          <ac:spMkLst>
            <pc:docMk/>
            <pc:sldMk cId="0" sldId="256"/>
            <ac:spMk id="4" creationId="{00000000-0000-0000-0000-000000000000}"/>
          </ac:spMkLst>
        </pc:spChg>
        <pc:spChg chg="mod">
          <ac:chgData name="Gabe Rossi" userId="S::gabrieler@microsoft.com::d06f6e9a-30c9-4d48-92cc-a1f25a4ec3c1" providerId="AD" clId="Web-{0432C214-9594-B3EF-AB96-BC5496932E4A}" dt="2026-06-22T18:57:46.667" v="108" actId="20577"/>
          <ac:spMkLst>
            <pc:docMk/>
            <pc:sldMk cId="0" sldId="256"/>
            <ac:spMk id="5" creationId="{00000000-0000-0000-0000-000000000000}"/>
          </ac:spMkLst>
        </pc:spChg>
      </pc:sldChg>
      <pc:sldChg chg="modSp">
        <pc:chgData name="Gabe Rossi" userId="S::gabrieler@microsoft.com::d06f6e9a-30c9-4d48-92cc-a1f25a4ec3c1" providerId="AD" clId="Web-{0432C214-9594-B3EF-AB96-BC5496932E4A}" dt="2026-06-22T19:00:19.470" v="129" actId="20577"/>
        <pc:sldMkLst>
          <pc:docMk/>
          <pc:sldMk cId="0" sldId="257"/>
        </pc:sldMkLst>
        <pc:spChg chg="mod">
          <ac:chgData name="Gabe Rossi" userId="S::gabrieler@microsoft.com::d06f6e9a-30c9-4d48-92cc-a1f25a4ec3c1" providerId="AD" clId="Web-{0432C214-9594-B3EF-AB96-BC5496932E4A}" dt="2026-06-22T19:00:19.470" v="129" actId="20577"/>
          <ac:spMkLst>
            <pc:docMk/>
            <pc:sldMk cId="0" sldId="257"/>
            <ac:spMk id="32" creationId="{A10AD0B8-7645-6CF9-0F6F-5C80446B562F}"/>
          </ac:spMkLst>
        </pc:spChg>
      </pc:sldChg>
      <pc:sldChg chg="modSp">
        <pc:chgData name="Gabe Rossi" userId="S::gabrieler@microsoft.com::d06f6e9a-30c9-4d48-92cc-a1f25a4ec3c1" providerId="AD" clId="Web-{0432C214-9594-B3EF-AB96-BC5496932E4A}" dt="2026-06-22T18:50:03.118" v="78" actId="20577"/>
        <pc:sldMkLst>
          <pc:docMk/>
          <pc:sldMk cId="0" sldId="262"/>
        </pc:sldMkLst>
        <pc:spChg chg="mod">
          <ac:chgData name="Gabe Rossi" userId="S::gabrieler@microsoft.com::d06f6e9a-30c9-4d48-92cc-a1f25a4ec3c1" providerId="AD" clId="Web-{0432C214-9594-B3EF-AB96-BC5496932E4A}" dt="2026-06-22T18:50:03.118" v="78" actId="20577"/>
          <ac:spMkLst>
            <pc:docMk/>
            <pc:sldMk cId="0" sldId="262"/>
            <ac:spMk id="14" creationId="{00000000-0000-0000-0000-000000000000}"/>
          </ac:spMkLst>
        </pc:spChg>
        <pc:spChg chg="mod">
          <ac:chgData name="Gabe Rossi" userId="S::gabrieler@microsoft.com::d06f6e9a-30c9-4d48-92cc-a1f25a4ec3c1" providerId="AD" clId="Web-{0432C214-9594-B3EF-AB96-BC5496932E4A}" dt="2026-06-22T18:49:56.352" v="77" actId="20577"/>
          <ac:spMkLst>
            <pc:docMk/>
            <pc:sldMk cId="0" sldId="262"/>
            <ac:spMk id="19" creationId="{00000000-0000-0000-0000-000000000000}"/>
          </ac:spMkLst>
        </pc:spChg>
      </pc:sldChg>
      <pc:sldChg chg="modSp">
        <pc:chgData name="Gabe Rossi" userId="S::gabrieler@microsoft.com::d06f6e9a-30c9-4d48-92cc-a1f25a4ec3c1" providerId="AD" clId="Web-{0432C214-9594-B3EF-AB96-BC5496932E4A}" dt="2026-06-22T19:00:48.096" v="166" actId="20577"/>
        <pc:sldMkLst>
          <pc:docMk/>
          <pc:sldMk cId="0" sldId="272"/>
        </pc:sldMkLst>
        <pc:spChg chg="mod">
          <ac:chgData name="Gabe Rossi" userId="S::gabrieler@microsoft.com::d06f6e9a-30c9-4d48-92cc-a1f25a4ec3c1" providerId="AD" clId="Web-{0432C214-9594-B3EF-AB96-BC5496932E4A}" dt="2026-06-22T19:00:48.096" v="166" actId="20577"/>
          <ac:spMkLst>
            <pc:docMk/>
            <pc:sldMk cId="0" sldId="272"/>
            <ac:spMk id="23" creationId="{00000000-0000-0000-0000-000000000000}"/>
          </ac:spMkLst>
        </pc:spChg>
      </pc:sldChg>
      <pc:sldChg chg="modSp">
        <pc:chgData name="Gabe Rossi" userId="S::gabrieler@microsoft.com::d06f6e9a-30c9-4d48-92cc-a1f25a4ec3c1" providerId="AD" clId="Web-{0432C214-9594-B3EF-AB96-BC5496932E4A}" dt="2026-06-22T18:44:59.090" v="58" actId="20577"/>
        <pc:sldMkLst>
          <pc:docMk/>
          <pc:sldMk cId="606990558" sldId="276"/>
        </pc:sldMkLst>
        <pc:spChg chg="mod">
          <ac:chgData name="Gabe Rossi" userId="S::gabrieler@microsoft.com::d06f6e9a-30c9-4d48-92cc-a1f25a4ec3c1" providerId="AD" clId="Web-{0432C214-9594-B3EF-AB96-BC5496932E4A}" dt="2026-06-22T18:44:59.090" v="58" actId="20577"/>
          <ac:spMkLst>
            <pc:docMk/>
            <pc:sldMk cId="606990558" sldId="276"/>
            <ac:spMk id="18" creationId="{E4C959D9-8697-2E5F-502B-FD81BFB56F42}"/>
          </ac:spMkLst>
        </pc:spChg>
      </pc:sldChg>
    </pc:docChg>
  </pc:docChgLst>
  <pc:docChgLst>
    <pc:chgData name="Gabe Rossi" userId="S::gabrieler@microsoft.com::d06f6e9a-30c9-4d48-92cc-a1f25a4ec3c1" providerId="AD" clId="Web-{D53C063E-DC5F-366A-1B67-DA6A97DEBDD0}"/>
    <pc:docChg chg="addSld delSld modSld">
      <pc:chgData name="Gabe Rossi" userId="S::gabrieler@microsoft.com::d06f6e9a-30c9-4d48-92cc-a1f25a4ec3c1" providerId="AD" clId="Web-{D53C063E-DC5F-366A-1B67-DA6A97DEBDD0}" dt="2026-06-22T18:04:40.700" v="106"/>
      <pc:docMkLst>
        <pc:docMk/>
      </pc:docMkLst>
      <pc:sldChg chg="modSp">
        <pc:chgData name="Gabe Rossi" userId="S::gabrieler@microsoft.com::d06f6e9a-30c9-4d48-92cc-a1f25a4ec3c1" providerId="AD" clId="Web-{D53C063E-DC5F-366A-1B67-DA6A97DEBDD0}" dt="2026-06-22T17:31:49.629" v="35"/>
        <pc:sldMkLst>
          <pc:docMk/>
          <pc:sldMk cId="0" sldId="272"/>
        </pc:sldMkLst>
        <pc:spChg chg="mod">
          <ac:chgData name="Gabe Rossi" userId="S::gabrieler@microsoft.com::d06f6e9a-30c9-4d48-92cc-a1f25a4ec3c1" providerId="AD" clId="Web-{D53C063E-DC5F-366A-1B67-DA6A97DEBDD0}" dt="2026-06-22T17:31:29.034" v="31"/>
          <ac:spMkLst>
            <pc:docMk/>
            <pc:sldMk cId="0" sldId="272"/>
            <ac:spMk id="11" creationId="{00000000-0000-0000-0000-000000000000}"/>
          </ac:spMkLst>
        </pc:spChg>
        <pc:spChg chg="mod">
          <ac:chgData name="Gabe Rossi" userId="S::gabrieler@microsoft.com::d06f6e9a-30c9-4d48-92cc-a1f25a4ec3c1" providerId="AD" clId="Web-{D53C063E-DC5F-366A-1B67-DA6A97DEBDD0}" dt="2026-06-22T17:31:49.598" v="34"/>
          <ac:spMkLst>
            <pc:docMk/>
            <pc:sldMk cId="0" sldId="272"/>
            <ac:spMk id="13" creationId="{00000000-0000-0000-0000-000000000000}"/>
          </ac:spMkLst>
        </pc:spChg>
        <pc:spChg chg="mod">
          <ac:chgData name="Gabe Rossi" userId="S::gabrieler@microsoft.com::d06f6e9a-30c9-4d48-92cc-a1f25a4ec3c1" providerId="AD" clId="Web-{D53C063E-DC5F-366A-1B67-DA6A97DEBDD0}" dt="2026-06-22T17:31:49.629" v="35"/>
          <ac:spMkLst>
            <pc:docMk/>
            <pc:sldMk cId="0" sldId="272"/>
            <ac:spMk id="14" creationId="{00000000-0000-0000-0000-000000000000}"/>
          </ac:spMkLst>
        </pc:spChg>
      </pc:sldChg>
      <pc:sldChg chg="add replId">
        <pc:chgData name="Gabe Rossi" userId="S::gabrieler@microsoft.com::d06f6e9a-30c9-4d48-92cc-a1f25a4ec3c1" providerId="AD" clId="Web-{D53C063E-DC5F-366A-1B67-DA6A97DEBDD0}" dt="2026-06-22T18:04:39.966" v="105"/>
        <pc:sldMkLst>
          <pc:docMk/>
          <pc:sldMk cId="606990558" sldId="276"/>
        </pc:sldMkLst>
      </pc:sldChg>
    </pc:docChg>
  </pc:docChgLst>
  <pc:docChgLst>
    <pc:chgData name="Gabe Rossi" userId="S::gabrieler@microsoft.com::d06f6e9a-30c9-4d48-92cc-a1f25a4ec3c1" providerId="AD" clId="Web-{DEA21BA9-4DA9-19FC-A950-B47379F2EBF1}"/>
    <pc:docChg chg="addSld delSld modSld sldOrd">
      <pc:chgData name="Gabe Rossi" userId="S::gabrieler@microsoft.com::d06f6e9a-30c9-4d48-92cc-a1f25a4ec3c1" providerId="AD" clId="Web-{DEA21BA9-4DA9-19FC-A950-B47379F2EBF1}" dt="2026-06-18T16:49:32.525" v="379" actId="20577"/>
      <pc:docMkLst>
        <pc:docMk/>
      </pc:docMkLst>
      <pc:sldChg chg="addSp delSp modSp">
        <pc:chgData name="Gabe Rossi" userId="S::gabrieler@microsoft.com::d06f6e9a-30c9-4d48-92cc-a1f25a4ec3c1" providerId="AD" clId="Web-{DEA21BA9-4DA9-19FC-A950-B47379F2EBF1}" dt="2026-06-18T16:49:32.525" v="379" actId="20577"/>
        <pc:sldMkLst>
          <pc:docMk/>
          <pc:sldMk cId="0" sldId="257"/>
        </pc:sldMkLst>
        <pc:spChg chg="mod">
          <ac:chgData name="Gabe Rossi" userId="S::gabrieler@microsoft.com::d06f6e9a-30c9-4d48-92cc-a1f25a4ec3c1" providerId="AD" clId="Web-{DEA21BA9-4DA9-19FC-A950-B47379F2EBF1}" dt="2026-06-16T18:54:18.592" v="31" actId="20577"/>
          <ac:spMkLst>
            <pc:docMk/>
            <pc:sldMk cId="0" sldId="257"/>
            <ac:spMk id="3" creationId="{00000000-0000-0000-0000-000000000000}"/>
          </ac:spMkLst>
        </pc:spChg>
        <pc:spChg chg="add mod">
          <ac:chgData name="Gabe Rossi" userId="S::gabrieler@microsoft.com::d06f6e9a-30c9-4d48-92cc-a1f25a4ec3c1" providerId="AD" clId="Web-{DEA21BA9-4DA9-19FC-A950-B47379F2EBF1}" dt="2026-06-18T16:49:32.525" v="379" actId="20577"/>
          <ac:spMkLst>
            <pc:docMk/>
            <pc:sldMk cId="0" sldId="257"/>
            <ac:spMk id="32" creationId="{A10AD0B8-7645-6CF9-0F6F-5C80446B562F}"/>
          </ac:spMkLst>
        </pc:spChg>
      </pc:sldChg>
      <pc:sldChg chg="modSp">
        <pc:chgData name="Gabe Rossi" userId="S::gabrieler@microsoft.com::d06f6e9a-30c9-4d48-92cc-a1f25a4ec3c1" providerId="AD" clId="Web-{DEA21BA9-4DA9-19FC-A950-B47379F2EBF1}" dt="2026-06-16T18:58:41.251" v="178" actId="20577"/>
        <pc:sldMkLst>
          <pc:docMk/>
          <pc:sldMk cId="0" sldId="260"/>
        </pc:sldMkLst>
        <pc:spChg chg="mod">
          <ac:chgData name="Gabe Rossi" userId="S::gabrieler@microsoft.com::d06f6e9a-30c9-4d48-92cc-a1f25a4ec3c1" providerId="AD" clId="Web-{DEA21BA9-4DA9-19FC-A950-B47379F2EBF1}" dt="2026-06-16T18:58:41.251" v="178" actId="20577"/>
          <ac:spMkLst>
            <pc:docMk/>
            <pc:sldMk cId="0" sldId="260"/>
            <ac:spMk id="20" creationId="{00000000-0000-0000-0000-000000000000}"/>
          </ac:spMkLst>
        </pc:spChg>
      </pc:sldChg>
      <pc:sldChg chg="modSp">
        <pc:chgData name="Gabe Rossi" userId="S::gabrieler@microsoft.com::d06f6e9a-30c9-4d48-92cc-a1f25a4ec3c1" providerId="AD" clId="Web-{DEA21BA9-4DA9-19FC-A950-B47379F2EBF1}" dt="2026-06-16T19:00:06.538" v="257" actId="20577"/>
        <pc:sldMkLst>
          <pc:docMk/>
          <pc:sldMk cId="0" sldId="262"/>
        </pc:sldMkLst>
        <pc:spChg chg="mod">
          <ac:chgData name="Gabe Rossi" userId="S::gabrieler@microsoft.com::d06f6e9a-30c9-4d48-92cc-a1f25a4ec3c1" providerId="AD" clId="Web-{DEA21BA9-4DA9-19FC-A950-B47379F2EBF1}" dt="2026-06-16T18:58:14.281" v="164" actId="20577"/>
          <ac:spMkLst>
            <pc:docMk/>
            <pc:sldMk cId="0" sldId="262"/>
            <ac:spMk id="4" creationId="{00000000-0000-0000-0000-000000000000}"/>
          </ac:spMkLst>
        </pc:spChg>
        <pc:spChg chg="mod">
          <ac:chgData name="Gabe Rossi" userId="S::gabrieler@microsoft.com::d06f6e9a-30c9-4d48-92cc-a1f25a4ec3c1" providerId="AD" clId="Web-{DEA21BA9-4DA9-19FC-A950-B47379F2EBF1}" dt="2026-06-16T18:59:01.331" v="181" actId="20577"/>
          <ac:spMkLst>
            <pc:docMk/>
            <pc:sldMk cId="0" sldId="262"/>
            <ac:spMk id="14" creationId="{00000000-0000-0000-0000-000000000000}"/>
          </ac:spMkLst>
        </pc:spChg>
        <pc:spChg chg="mod">
          <ac:chgData name="Gabe Rossi" userId="S::gabrieler@microsoft.com::d06f6e9a-30c9-4d48-92cc-a1f25a4ec3c1" providerId="AD" clId="Web-{DEA21BA9-4DA9-19FC-A950-B47379F2EBF1}" dt="2026-06-16T18:59:52.522" v="224" actId="20577"/>
          <ac:spMkLst>
            <pc:docMk/>
            <pc:sldMk cId="0" sldId="262"/>
            <ac:spMk id="24" creationId="{00000000-0000-0000-0000-000000000000}"/>
          </ac:spMkLst>
        </pc:spChg>
        <pc:spChg chg="mod">
          <ac:chgData name="Gabe Rossi" userId="S::gabrieler@microsoft.com::d06f6e9a-30c9-4d48-92cc-a1f25a4ec3c1" providerId="AD" clId="Web-{DEA21BA9-4DA9-19FC-A950-B47379F2EBF1}" dt="2026-06-16T19:00:06.538" v="257" actId="20577"/>
          <ac:spMkLst>
            <pc:docMk/>
            <pc:sldMk cId="0" sldId="262"/>
            <ac:spMk id="29" creationId="{00000000-0000-0000-0000-000000000000}"/>
          </ac:spMkLst>
        </pc:spChg>
      </pc:sldChg>
      <pc:sldChg chg="add replId">
        <pc:chgData name="Gabe Rossi" userId="S::gabrieler@microsoft.com::d06f6e9a-30c9-4d48-92cc-a1f25a4ec3c1" providerId="AD" clId="Web-{DEA21BA9-4DA9-19FC-A950-B47379F2EBF1}" dt="2026-06-16T18:54:07.701" v="2"/>
        <pc:sldMkLst>
          <pc:docMk/>
          <pc:sldMk cId="3303531114" sldId="273"/>
        </pc:sldMkLst>
      </pc:sldChg>
    </pc:docChg>
  </pc:docChgLst>
  <pc:docChgLst>
    <pc:chgData name="Tanya Kaul" userId="27a73712-0267-445d-9e6a-ec1e5e8adf12" providerId="ADAL" clId="{1525E876-B726-4B8B-AAA1-CD3192B26840}"/>
    <pc:docChg chg="custSel modSld">
      <pc:chgData name="Tanya Kaul" userId="27a73712-0267-445d-9e6a-ec1e5e8adf12" providerId="ADAL" clId="{1525E876-B726-4B8B-AAA1-CD3192B26840}" dt="2026-06-25T14:45:58.844" v="884" actId="1035"/>
      <pc:docMkLst>
        <pc:docMk/>
      </pc:docMkLst>
      <pc:sldChg chg="addSp modSp mod">
        <pc:chgData name="Tanya Kaul" userId="27a73712-0267-445d-9e6a-ec1e5e8adf12" providerId="ADAL" clId="{1525E876-B726-4B8B-AAA1-CD3192B26840}" dt="2026-06-25T14:45:58.844" v="884" actId="1035"/>
        <pc:sldMkLst>
          <pc:docMk/>
          <pc:sldMk cId="1323885290" sldId="284"/>
        </pc:sldMkLst>
        <pc:spChg chg="mod">
          <ac:chgData name="Tanya Kaul" userId="27a73712-0267-445d-9e6a-ec1e5e8adf12" providerId="ADAL" clId="{1525E876-B726-4B8B-AAA1-CD3192B26840}" dt="2026-06-25T02:33:43.564" v="123" actId="20577"/>
          <ac:spMkLst>
            <pc:docMk/>
            <pc:sldMk cId="1323885290" sldId="284"/>
            <ac:spMk id="3" creationId="{00000000-0000-0000-0000-000000000000}"/>
          </ac:spMkLst>
        </pc:spChg>
        <pc:spChg chg="mod">
          <ac:chgData name="Tanya Kaul" userId="27a73712-0267-445d-9e6a-ec1e5e8adf12" providerId="ADAL" clId="{1525E876-B726-4B8B-AAA1-CD3192B26840}" dt="2026-06-24T19:45:30.734" v="116" actId="20577"/>
          <ac:spMkLst>
            <pc:docMk/>
            <pc:sldMk cId="1323885290" sldId="284"/>
            <ac:spMk id="6" creationId="{00000000-0000-0000-0000-000000000000}"/>
          </ac:spMkLst>
        </pc:spChg>
        <pc:spChg chg="mod">
          <ac:chgData name="Tanya Kaul" userId="27a73712-0267-445d-9e6a-ec1e5e8adf12" providerId="ADAL" clId="{1525E876-B726-4B8B-AAA1-CD3192B26840}" dt="2026-06-25T13:53:20.979" v="811" actId="20577"/>
          <ac:spMkLst>
            <pc:docMk/>
            <pc:sldMk cId="1323885290" sldId="284"/>
            <ac:spMk id="14" creationId="{00000000-0000-0000-0000-000000000000}"/>
          </ac:spMkLst>
        </pc:spChg>
        <pc:spChg chg="mod">
          <ac:chgData name="Tanya Kaul" userId="27a73712-0267-445d-9e6a-ec1e5e8adf12" providerId="ADAL" clId="{1525E876-B726-4B8B-AAA1-CD3192B26840}" dt="2026-06-25T14:45:38.074" v="836" actId="1035"/>
          <ac:spMkLst>
            <pc:docMk/>
            <pc:sldMk cId="1323885290" sldId="284"/>
            <ac:spMk id="17" creationId="{00000000-0000-0000-0000-000000000000}"/>
          </ac:spMkLst>
        </pc:spChg>
        <pc:spChg chg="mod">
          <ac:chgData name="Tanya Kaul" userId="27a73712-0267-445d-9e6a-ec1e5e8adf12" providerId="ADAL" clId="{1525E876-B726-4B8B-AAA1-CD3192B26840}" dt="2026-06-25T14:45:38.074" v="836" actId="1035"/>
          <ac:spMkLst>
            <pc:docMk/>
            <pc:sldMk cId="1323885290" sldId="284"/>
            <ac:spMk id="18" creationId="{00000000-0000-0000-0000-000000000000}"/>
          </ac:spMkLst>
        </pc:spChg>
        <pc:spChg chg="mod">
          <ac:chgData name="Tanya Kaul" userId="27a73712-0267-445d-9e6a-ec1e5e8adf12" providerId="ADAL" clId="{1525E876-B726-4B8B-AAA1-CD3192B26840}" dt="2026-06-25T14:45:38.074" v="836" actId="1035"/>
          <ac:spMkLst>
            <pc:docMk/>
            <pc:sldMk cId="1323885290" sldId="284"/>
            <ac:spMk id="19" creationId="{00000000-0000-0000-0000-000000000000}"/>
          </ac:spMkLst>
        </pc:spChg>
        <pc:spChg chg="mod">
          <ac:chgData name="Tanya Kaul" userId="27a73712-0267-445d-9e6a-ec1e5e8adf12" providerId="ADAL" clId="{1525E876-B726-4B8B-AAA1-CD3192B26840}" dt="2026-06-25T14:45:50.547" v="862" actId="14100"/>
          <ac:spMkLst>
            <pc:docMk/>
            <pc:sldMk cId="1323885290" sldId="284"/>
            <ac:spMk id="20" creationId="{00000000-0000-0000-0000-000000000000}"/>
          </ac:spMkLst>
        </pc:spChg>
        <pc:spChg chg="mod">
          <ac:chgData name="Tanya Kaul" userId="27a73712-0267-445d-9e6a-ec1e5e8adf12" providerId="ADAL" clId="{1525E876-B726-4B8B-AAA1-CD3192B26840}" dt="2026-06-25T14:45:50.547" v="862" actId="14100"/>
          <ac:spMkLst>
            <pc:docMk/>
            <pc:sldMk cId="1323885290" sldId="284"/>
            <ac:spMk id="21" creationId="{00000000-0000-0000-0000-000000000000}"/>
          </ac:spMkLst>
        </pc:spChg>
        <pc:spChg chg="add mod">
          <ac:chgData name="Tanya Kaul" userId="27a73712-0267-445d-9e6a-ec1e5e8adf12" providerId="ADAL" clId="{1525E876-B726-4B8B-AAA1-CD3192B26840}" dt="2026-06-25T14:45:58.844" v="884" actId="1035"/>
          <ac:spMkLst>
            <pc:docMk/>
            <pc:sldMk cId="1323885290" sldId="284"/>
            <ac:spMk id="25" creationId="{A135CCCE-7EF3-7FE9-6EC5-567DFD71B44C}"/>
          </ac:spMkLst>
        </pc:spChg>
      </pc:sldChg>
    </pc:docChg>
  </pc:docChgLst>
  <pc:docChgLst>
    <pc:chgData name="Tyler Pichach" userId="977c7106-60a4-4fbf-a2bc-7bc2509d27a3" providerId="ADAL" clId="{3AE5B3FD-C360-4B7A-9EFE-1A7D86733CE4}"/>
    <pc:docChg chg="modSld">
      <pc:chgData name="Tyler Pichach" userId="977c7106-60a4-4fbf-a2bc-7bc2509d27a3" providerId="ADAL" clId="{3AE5B3FD-C360-4B7A-9EFE-1A7D86733CE4}" dt="2026-06-25T17:26:53.004" v="26" actId="20577"/>
      <pc:docMkLst>
        <pc:docMk/>
      </pc:docMkLst>
      <pc:sldChg chg="modSp mod">
        <pc:chgData name="Tyler Pichach" userId="977c7106-60a4-4fbf-a2bc-7bc2509d27a3" providerId="ADAL" clId="{3AE5B3FD-C360-4B7A-9EFE-1A7D86733CE4}" dt="2026-06-25T17:26:53.004" v="26" actId="20577"/>
        <pc:sldMkLst>
          <pc:docMk/>
          <pc:sldMk cId="606990558" sldId="276"/>
        </pc:sldMkLst>
        <pc:spChg chg="mod">
          <ac:chgData name="Tyler Pichach" userId="977c7106-60a4-4fbf-a2bc-7bc2509d27a3" providerId="ADAL" clId="{3AE5B3FD-C360-4B7A-9EFE-1A7D86733CE4}" dt="2026-06-25T17:26:53.004" v="26" actId="20577"/>
          <ac:spMkLst>
            <pc:docMk/>
            <pc:sldMk cId="606990558" sldId="276"/>
            <ac:spMk id="33" creationId="{3B694914-D909-3AE7-186B-0C104ECBC988}"/>
          </ac:spMkLst>
        </pc:spChg>
      </pc:sldChg>
    </pc:docChg>
  </pc:docChgLst>
  <pc:docChgLst>
    <pc:chgData name="Gabe Rossi" userId="S::gabrieler@microsoft.com::d06f6e9a-30c9-4d48-92cc-a1f25a4ec3c1" providerId="AD" clId="Web-{481ED29E-58DB-26A3-26CE-7D9FCF2DC80C}"/>
    <pc:docChg chg="modSld">
      <pc:chgData name="Gabe Rossi" userId="S::gabrieler@microsoft.com::d06f6e9a-30c9-4d48-92cc-a1f25a4ec3c1" providerId="AD" clId="Web-{481ED29E-58DB-26A3-26CE-7D9FCF2DC80C}" dt="2026-06-23T20:15:09.566" v="6" actId="20577"/>
      <pc:docMkLst>
        <pc:docMk/>
      </pc:docMkLst>
    </pc:docChg>
  </pc:docChgLst>
  <pc:docChgLst>
    <pc:chgData name="Ankeet Dedhia" userId="S::ankeetdedhia@microsoft.com::41994fe2-67b0-416b-81b3-ed2dfd7dbdd2" providerId="AD" clId="Web-{B69212BE-63FF-76D7-7F25-896A90954217}"/>
    <pc:docChg chg="addSld modSld">
      <pc:chgData name="Ankeet Dedhia" userId="S::ankeetdedhia@microsoft.com::41994fe2-67b0-416b-81b3-ed2dfd7dbdd2" providerId="AD" clId="Web-{B69212BE-63FF-76D7-7F25-896A90954217}" dt="2026-06-25T02:23:15.744" v="1186" actId="20577"/>
      <pc:docMkLst>
        <pc:docMk/>
      </pc:docMkLst>
      <pc:sldChg chg="addSp delSp modSp">
        <pc:chgData name="Ankeet Dedhia" userId="S::ankeetdedhia@microsoft.com::41994fe2-67b0-416b-81b3-ed2dfd7dbdd2" providerId="AD" clId="Web-{B69212BE-63FF-76D7-7F25-896A90954217}" dt="2026-06-25T02:23:15.744" v="1186" actId="20577"/>
        <pc:sldMkLst>
          <pc:docMk/>
          <pc:sldMk cId="1855084431" sldId="281"/>
        </pc:sldMkLst>
        <pc:spChg chg="mod">
          <ac:chgData name="Ankeet Dedhia" userId="S::ankeetdedhia@microsoft.com::41994fe2-67b0-416b-81b3-ed2dfd7dbdd2" providerId="AD" clId="Web-{B69212BE-63FF-76D7-7F25-896A90954217}" dt="2026-06-25T02:23:15.744" v="1186" actId="20577"/>
          <ac:spMkLst>
            <pc:docMk/>
            <pc:sldMk cId="1855084431" sldId="281"/>
            <ac:spMk id="3" creationId="{00000000-0000-0000-0000-000000000000}"/>
          </ac:spMkLst>
        </pc:spChg>
        <pc:spChg chg="mod">
          <ac:chgData name="Ankeet Dedhia" userId="S::ankeetdedhia@microsoft.com::41994fe2-67b0-416b-81b3-ed2dfd7dbdd2" providerId="AD" clId="Web-{B69212BE-63FF-76D7-7F25-896A90954217}" dt="2026-06-24T23:58:07.472" v="841" actId="20577"/>
          <ac:spMkLst>
            <pc:docMk/>
            <pc:sldMk cId="1855084431" sldId="281"/>
            <ac:spMk id="25" creationId="{07E79304-73BD-F8CC-F156-360C4BDF88A0}"/>
          </ac:spMkLst>
        </pc:spChg>
        <pc:spChg chg="add">
          <ac:chgData name="Ankeet Dedhia" userId="S::ankeetdedhia@microsoft.com::41994fe2-67b0-416b-81b3-ed2dfd7dbdd2" providerId="AD" clId="Web-{B69212BE-63FF-76D7-7F25-896A90954217}" dt="2026-06-24T23:33:42.233" v="24"/>
          <ac:spMkLst>
            <pc:docMk/>
            <pc:sldMk cId="1855084431" sldId="281"/>
            <ac:spMk id="42" creationId="{FDB00B75-27CD-B09C-A07C-80336BC011B2}"/>
          </ac:spMkLst>
        </pc:spChg>
        <pc:spChg chg="add mod">
          <ac:chgData name="Ankeet Dedhia" userId="S::ankeetdedhia@microsoft.com::41994fe2-67b0-416b-81b3-ed2dfd7dbdd2" providerId="AD" clId="Web-{B69212BE-63FF-76D7-7F25-896A90954217}" dt="2026-06-25T00:01:19.834" v="939" actId="20577"/>
          <ac:spMkLst>
            <pc:docMk/>
            <pc:sldMk cId="1855084431" sldId="281"/>
            <ac:spMk id="43" creationId="{DEC734BB-DC19-8122-E7D7-70949E65BBC2}"/>
          </ac:spMkLst>
        </pc:spChg>
        <pc:spChg chg="mod">
          <ac:chgData name="Ankeet Dedhia" userId="S::ankeetdedhia@microsoft.com::41994fe2-67b0-416b-81b3-ed2dfd7dbdd2" providerId="AD" clId="Web-{B69212BE-63FF-76D7-7F25-896A90954217}" dt="2026-06-24T23:38:30.190" v="295" actId="1076"/>
          <ac:spMkLst>
            <pc:docMk/>
            <pc:sldMk cId="1855084431" sldId="281"/>
            <ac:spMk id="44" creationId="{37E01DB1-8855-AC15-0ED0-71B15A4C04FC}"/>
          </ac:spMkLst>
        </pc:spChg>
        <pc:spChg chg="mod">
          <ac:chgData name="Ankeet Dedhia" userId="S::ankeetdedhia@microsoft.com::41994fe2-67b0-416b-81b3-ed2dfd7dbdd2" providerId="AD" clId="Web-{B69212BE-63FF-76D7-7F25-896A90954217}" dt="2026-06-24T23:34:15.936" v="28"/>
          <ac:spMkLst>
            <pc:docMk/>
            <pc:sldMk cId="1855084431" sldId="281"/>
            <ac:spMk id="46" creationId="{69C69863-164C-28D6-1C32-FC9A7CB31E05}"/>
          </ac:spMkLst>
        </pc:spChg>
        <pc:spChg chg="add">
          <ac:chgData name="Ankeet Dedhia" userId="S::ankeetdedhia@microsoft.com::41994fe2-67b0-416b-81b3-ed2dfd7dbdd2" providerId="AD" clId="Web-{B69212BE-63FF-76D7-7F25-896A90954217}" dt="2026-06-24T23:33:42.233" v="24"/>
          <ac:spMkLst>
            <pc:docMk/>
            <pc:sldMk cId="1855084431" sldId="281"/>
            <ac:spMk id="48" creationId="{461195E1-5313-AC47-9BA5-71C80C7C81C8}"/>
          </ac:spMkLst>
        </pc:spChg>
        <pc:spChg chg="add">
          <ac:chgData name="Ankeet Dedhia" userId="S::ankeetdedhia@microsoft.com::41994fe2-67b0-416b-81b3-ed2dfd7dbdd2" providerId="AD" clId="Web-{B69212BE-63FF-76D7-7F25-896A90954217}" dt="2026-06-24T23:33:42.233" v="24"/>
          <ac:spMkLst>
            <pc:docMk/>
            <pc:sldMk cId="1855084431" sldId="281"/>
            <ac:spMk id="50" creationId="{094A898B-3303-06EF-93E2-E86284DC68BD}"/>
          </ac:spMkLst>
        </pc:spChg>
        <pc:spChg chg="add mod">
          <ac:chgData name="Ankeet Dedhia" userId="S::ankeetdedhia@microsoft.com::41994fe2-67b0-416b-81b3-ed2dfd7dbdd2" providerId="AD" clId="Web-{B69212BE-63FF-76D7-7F25-896A90954217}" dt="2026-06-24T23:50:51.028" v="622" actId="14100"/>
          <ac:spMkLst>
            <pc:docMk/>
            <pc:sldMk cId="1855084431" sldId="281"/>
            <ac:spMk id="52" creationId="{C76177E7-C1F7-486A-B61E-EBE3176ACD5E}"/>
          </ac:spMkLst>
        </pc:spChg>
        <pc:spChg chg="add">
          <ac:chgData name="Ankeet Dedhia" userId="S::ankeetdedhia@microsoft.com::41994fe2-67b0-416b-81b3-ed2dfd7dbdd2" providerId="AD" clId="Web-{B69212BE-63FF-76D7-7F25-896A90954217}" dt="2026-06-24T23:33:42.233" v="24"/>
          <ac:spMkLst>
            <pc:docMk/>
            <pc:sldMk cId="1855084431" sldId="281"/>
            <ac:spMk id="54" creationId="{A9665EB2-F879-5688-11CA-79EA70A4C77F}"/>
          </ac:spMkLst>
        </pc:spChg>
        <pc:spChg chg="add mod">
          <ac:chgData name="Ankeet Dedhia" userId="S::ankeetdedhia@microsoft.com::41994fe2-67b0-416b-81b3-ed2dfd7dbdd2" providerId="AD" clId="Web-{B69212BE-63FF-76D7-7F25-896A90954217}" dt="2026-06-24T23:50:31.153" v="620" actId="14100"/>
          <ac:spMkLst>
            <pc:docMk/>
            <pc:sldMk cId="1855084431" sldId="281"/>
            <ac:spMk id="56" creationId="{8996882C-762C-8577-EF94-9E9089B2A193}"/>
          </ac:spMkLst>
        </pc:spChg>
        <pc:spChg chg="add">
          <ac:chgData name="Ankeet Dedhia" userId="S::ankeetdedhia@microsoft.com::41994fe2-67b0-416b-81b3-ed2dfd7dbdd2" providerId="AD" clId="Web-{B69212BE-63FF-76D7-7F25-896A90954217}" dt="2026-06-24T23:33:42.233" v="24"/>
          <ac:spMkLst>
            <pc:docMk/>
            <pc:sldMk cId="1855084431" sldId="281"/>
            <ac:spMk id="57" creationId="{C3B6A7FA-BC10-BE07-8819-B313987C4EDE}"/>
          </ac:spMkLst>
        </pc:spChg>
        <pc:spChg chg="add mod">
          <ac:chgData name="Ankeet Dedhia" userId="S::ankeetdedhia@microsoft.com::41994fe2-67b0-416b-81b3-ed2dfd7dbdd2" providerId="AD" clId="Web-{B69212BE-63FF-76D7-7F25-896A90954217}" dt="2026-06-25T00:04:45.961" v="995" actId="20577"/>
          <ac:spMkLst>
            <pc:docMk/>
            <pc:sldMk cId="1855084431" sldId="281"/>
            <ac:spMk id="60" creationId="{466BEDCB-B170-FBBB-1DC4-DFBBD1AB5512}"/>
          </ac:spMkLst>
        </pc:spChg>
        <pc:spChg chg="add mod">
          <ac:chgData name="Ankeet Dedhia" userId="S::ankeetdedhia@microsoft.com::41994fe2-67b0-416b-81b3-ed2dfd7dbdd2" providerId="AD" clId="Web-{B69212BE-63FF-76D7-7F25-896A90954217}" dt="2026-06-25T00:08:54.047" v="1178" actId="20577"/>
          <ac:spMkLst>
            <pc:docMk/>
            <pc:sldMk cId="1855084431" sldId="281"/>
            <ac:spMk id="61" creationId="{7212C614-B455-5A3A-F99A-E7E7B69FAD94}"/>
          </ac:spMkLst>
        </pc:spChg>
        <pc:spChg chg="add mod ord">
          <ac:chgData name="Ankeet Dedhia" userId="S::ankeetdedhia@microsoft.com::41994fe2-67b0-416b-81b3-ed2dfd7dbdd2" providerId="AD" clId="Web-{B69212BE-63FF-76D7-7F25-896A90954217}" dt="2026-06-25T00:02:04.194" v="946" actId="20577"/>
          <ac:spMkLst>
            <pc:docMk/>
            <pc:sldMk cId="1855084431" sldId="281"/>
            <ac:spMk id="62" creationId="{3E34C616-8B89-9FBF-FCAB-BC69449F9C18}"/>
          </ac:spMkLst>
        </pc:spChg>
        <pc:spChg chg="add mod">
          <ac:chgData name="Ankeet Dedhia" userId="S::ankeetdedhia@microsoft.com::41994fe2-67b0-416b-81b3-ed2dfd7dbdd2" providerId="AD" clId="Web-{B69212BE-63FF-76D7-7F25-896A90954217}" dt="2026-06-25T00:08:02.564" v="1177" actId="20577"/>
          <ac:spMkLst>
            <pc:docMk/>
            <pc:sldMk cId="1855084431" sldId="281"/>
            <ac:spMk id="63" creationId="{0039B46B-CB9A-F0F1-281D-08C5BFD52029}"/>
          </ac:spMkLst>
        </pc:spChg>
      </pc:sldChg>
      <pc:sldChg chg="addSp delSp modSp add replId">
        <pc:chgData name="Ankeet Dedhia" userId="S::ankeetdedhia@microsoft.com::41994fe2-67b0-416b-81b3-ed2dfd7dbdd2" providerId="AD" clId="Web-{B69212BE-63FF-76D7-7F25-896A90954217}" dt="2026-06-25T02:23:09.947" v="1182" actId="20577"/>
        <pc:sldMkLst>
          <pc:docMk/>
          <pc:sldMk cId="1797108641" sldId="287"/>
        </pc:sldMkLst>
        <pc:spChg chg="mod">
          <ac:chgData name="Ankeet Dedhia" userId="S::ankeetdedhia@microsoft.com::41994fe2-67b0-416b-81b3-ed2dfd7dbdd2" providerId="AD" clId="Web-{B69212BE-63FF-76D7-7F25-896A90954217}" dt="2026-06-25T02:23:09.947" v="1182" actId="20577"/>
          <ac:spMkLst>
            <pc:docMk/>
            <pc:sldMk cId="1797108641" sldId="287"/>
            <ac:spMk id="3" creationId="{1DE88F4B-4D66-AD7D-D0EF-719637CE6078}"/>
          </ac:spMkLst>
        </pc:spChg>
        <pc:spChg chg="add">
          <ac:chgData name="Ankeet Dedhia" userId="S::ankeetdedhia@microsoft.com::41994fe2-67b0-416b-81b3-ed2dfd7dbdd2" providerId="AD" clId="Web-{B69212BE-63FF-76D7-7F25-896A90954217}" dt="2026-06-24T23:58:18.456" v="843"/>
          <ac:spMkLst>
            <pc:docMk/>
            <pc:sldMk cId="1797108641" sldId="287"/>
            <ac:spMk id="6" creationId="{F236F1D5-6303-264C-BB37-018E74A14616}"/>
          </ac:spMkLst>
        </pc:spChg>
        <pc:spChg chg="mod">
          <ac:chgData name="Ankeet Dedhia" userId="S::ankeetdedhia@microsoft.com::41994fe2-67b0-416b-81b3-ed2dfd7dbdd2" providerId="AD" clId="Web-{B69212BE-63FF-76D7-7F25-896A90954217}" dt="2026-06-24T23:55:52.689" v="814" actId="20577"/>
          <ac:spMkLst>
            <pc:docMk/>
            <pc:sldMk cId="1797108641" sldId="287"/>
            <ac:spMk id="43" creationId="{BE77262D-856F-B9F9-F3BB-5F9AF5AD92E0}"/>
          </ac:spMkLst>
        </pc:spChg>
        <pc:spChg chg="mod">
          <ac:chgData name="Ankeet Dedhia" userId="S::ankeetdedhia@microsoft.com::41994fe2-67b0-416b-81b3-ed2dfd7dbdd2" providerId="AD" clId="Web-{B69212BE-63FF-76D7-7F25-896A90954217}" dt="2026-06-25T00:08:59.078" v="1179" actId="20577"/>
          <ac:spMkLst>
            <pc:docMk/>
            <pc:sldMk cId="1797108641" sldId="287"/>
            <ac:spMk id="61" creationId="{4C34D431-9575-6ABF-F0BB-2C9A8738495A}"/>
          </ac:spMkLst>
        </pc:spChg>
        <pc:spChg chg="mod">
          <ac:chgData name="Ankeet Dedhia" userId="S::ankeetdedhia@microsoft.com::41994fe2-67b0-416b-81b3-ed2dfd7dbdd2" providerId="AD" clId="Web-{B69212BE-63FF-76D7-7F25-896A90954217}" dt="2026-06-25T00:00:32.927" v="938" actId="20577"/>
          <ac:spMkLst>
            <pc:docMk/>
            <pc:sldMk cId="1797108641" sldId="287"/>
            <ac:spMk id="63" creationId="{9DEB135A-732F-2C64-06D4-53991F58DF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F161D84-17F9-4E03-845B-43BFD7EEE993}" type="datetimeFigureOut">
              <a:t>7/6/2026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81EB789-070E-42F5-B7BD-474B00DB5846}" type="slidenum">
              <a:t>‹#›</a:t>
            </a:fld>
            <a:endParaRPr lang="en-US"/>
          </a:p>
        </p:txBody>
      </p:sp>
    </p:spTree>
    <p:extLst>
      <p:ext uri="{BB962C8B-B14F-4D97-AF65-F5344CB8AC3E}">
        <p14:creationId xmlns:p14="http://schemas.microsoft.com/office/powerpoint/2010/main" val="366657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16CA-816D-3D6C-02CE-3E6BD354E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3614-EFC7-2DA1-EC45-D3278F7AC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504B3-8C4A-E24B-184F-E24839D811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DE668B-CA9E-F388-7864-A427286F8B6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7562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BE8BF-2E87-F08A-C3C1-35E6ECFB7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DCCAA-3DD6-D479-1E6E-2EEA90246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5D2BC-396D-CD28-7D3B-3F4CC71E2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CB1E09-C603-3929-588A-77818EDE818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47345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Every client portfolio needs to be explained to clients. Illustratively, provide the why beyond a financial change in the portfolio. Eg holdings drove it, comparison to benchmark, if management change and potential implications (without running afoul of any regulatory requirements about commitments and language. Creating portfolio commentary is labour intensive, analysis intensive and highly repetitive</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Idea: It turns portfolio analytics into the commentary an advisor would write — at scale, consistently, and grounded in validated data rather than a model's imagination.</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In wealth and asset management, every client portfolio has to be </a:t>
            </a:r>
            <a:r>
              <a:rPr lang="en-US" sz="1200" i="1" kern="1200" dirty="0">
                <a:solidFill>
                  <a:schemeClr val="tx1"/>
                </a:solidFill>
                <a:effectLst/>
                <a:latin typeface="+mn-lt"/>
                <a:ea typeface="+mn-ea"/>
                <a:cs typeface="+mn-cs"/>
              </a:rPr>
              <a:t>explained</a:t>
            </a:r>
            <a:r>
              <a:rPr lang="en-CA" sz="1200" kern="1200" dirty="0">
                <a:solidFill>
                  <a:schemeClr val="tx1"/>
                </a:solidFill>
                <a:effectLst/>
                <a:latin typeface="+mn-lt"/>
                <a:ea typeface="+mn-ea"/>
                <a:cs typeface="+mn-cs"/>
              </a:rPr>
              <a:t>, not just </a:t>
            </a:r>
            <a:r>
              <a:rPr lang="en-US" sz="1200" i="1" kern="1200" dirty="0">
                <a:solidFill>
                  <a:schemeClr val="tx1"/>
                </a:solidFill>
                <a:effectLst/>
                <a:latin typeface="+mn-lt"/>
                <a:ea typeface="+mn-ea"/>
                <a:cs typeface="+mn-cs"/>
              </a:rPr>
              <a:t>reported</a:t>
            </a:r>
            <a:r>
              <a:rPr lang="en-CA" sz="1200" kern="1200" dirty="0">
                <a:solidFill>
                  <a:schemeClr val="tx1"/>
                </a:solidFill>
                <a:effectLst/>
                <a:latin typeface="+mn-lt"/>
                <a:ea typeface="+mn-ea"/>
                <a:cs typeface="+mn-cs"/>
              </a:rPr>
              <a:t>. A statement showing "+4.2% this quarter" is a number; a client wants to know </a:t>
            </a:r>
            <a:r>
              <a:rPr lang="en-US" sz="1200" b="1" kern="1200" dirty="0">
                <a:solidFill>
                  <a:schemeClr val="tx1"/>
                </a:solidFill>
                <a:effectLst/>
                <a:latin typeface="+mn-lt"/>
                <a:ea typeface="+mn-ea"/>
                <a:cs typeface="+mn-cs"/>
              </a:rPr>
              <a:t>why</a:t>
            </a:r>
            <a:r>
              <a:rPr lang="en-CA" sz="1200" kern="1200" dirty="0">
                <a:solidFill>
                  <a:schemeClr val="tx1"/>
                </a:solidFill>
                <a:effectLst/>
                <a:latin typeface="+mn-lt"/>
                <a:ea typeface="+mn-ea"/>
                <a:cs typeface="+mn-cs"/>
              </a:rPr>
              <a:t> — which holdings drove it, how it compares to the benchmark, what the manager changed, and what it means going forward. Producing that explanation — the </a:t>
            </a:r>
            <a:r>
              <a:rPr lang="en-US" sz="1200" b="1" kern="1200" dirty="0">
                <a:solidFill>
                  <a:schemeClr val="tx1"/>
                </a:solidFill>
                <a:effectLst/>
                <a:latin typeface="+mn-lt"/>
                <a:ea typeface="+mn-ea"/>
                <a:cs typeface="+mn-cs"/>
              </a:rPr>
              <a:t>portfolio commentary</a:t>
            </a:r>
            <a:r>
              <a:rPr lang="en-CA" sz="1200" kern="1200" dirty="0">
                <a:solidFill>
                  <a:schemeClr val="tx1"/>
                </a:solidFill>
                <a:effectLst/>
                <a:latin typeface="+mn-lt"/>
                <a:ea typeface="+mn-ea"/>
                <a:cs typeface="+mn-cs"/>
              </a:rPr>
              <a:t> — is one of the most repetitive, labour-intensive jobs in the industry. The Portfolio Narrative Generator uses generative AI to automate it. It takes the raw, structured outputs of portfolio analytics and converts them into clear, client-ready prose that </a:t>
            </a:r>
            <a:r>
              <a:rPr lang="en-CA" sz="1200" b="1" kern="1200" dirty="0">
                <a:solidFill>
                  <a:schemeClr val="tx1"/>
                </a:solidFill>
                <a:effectLst/>
                <a:latin typeface="+mn-lt"/>
                <a:ea typeface="+mn-ea"/>
                <a:cs typeface="+mn-cs"/>
              </a:rPr>
              <a:t>explains three things in plain language:</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Performance drivers</a:t>
            </a:r>
            <a:r>
              <a:rPr lang="en-CA" sz="1200" kern="1200" dirty="0">
                <a:solidFill>
                  <a:schemeClr val="tx1"/>
                </a:solidFill>
                <a:effectLst/>
                <a:latin typeface="+mn-lt"/>
                <a:ea typeface="+mn-ea"/>
                <a:cs typeface="+mn-cs"/>
              </a:rPr>
              <a:t> — what made money and what lost money (sectors, securities, asset classes, factors).</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Attribution</a:t>
            </a:r>
            <a:r>
              <a:rPr lang="en-CA" sz="1200" kern="1200" dirty="0">
                <a:solidFill>
                  <a:schemeClr val="tx1"/>
                </a:solidFill>
                <a:effectLst/>
                <a:latin typeface="+mn-lt"/>
                <a:ea typeface="+mn-ea"/>
                <a:cs typeface="+mn-cs"/>
              </a:rPr>
              <a:t> — </a:t>
            </a:r>
            <a:r>
              <a:rPr lang="en-US" sz="1200" i="1" kern="1200" dirty="0">
                <a:solidFill>
                  <a:schemeClr val="tx1"/>
                </a:solidFill>
                <a:effectLst/>
                <a:latin typeface="+mn-lt"/>
                <a:ea typeface="+mn-ea"/>
                <a:cs typeface="+mn-cs"/>
              </a:rPr>
              <a:t>why</a:t>
            </a:r>
            <a:r>
              <a:rPr lang="en-CA" sz="1200" kern="1200" dirty="0">
                <a:solidFill>
                  <a:schemeClr val="tx1"/>
                </a:solidFill>
                <a:effectLst/>
                <a:latin typeface="+mn-lt"/>
                <a:ea typeface="+mn-ea"/>
                <a:cs typeface="+mn-cs"/>
              </a:rPr>
              <a:t> the portfolio beat or trailed its benchmark, decomposed into allocation effect (being over/under-weight the right areas) and selection effect (picking the right securities within them).</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Positioning changes</a:t>
            </a:r>
            <a:r>
              <a:rPr lang="en-CA" sz="1200" kern="1200" dirty="0">
                <a:solidFill>
                  <a:schemeClr val="tx1"/>
                </a:solidFill>
                <a:effectLst/>
                <a:latin typeface="+mn-lt"/>
                <a:ea typeface="+mn-ea"/>
                <a:cs typeface="+mn-cs"/>
              </a:rPr>
              <a:t> — what the manager did: rebalancing, new positions, exits, weight shifts, and the rationale.</a:t>
            </a:r>
          </a:p>
          <a:p>
            <a:pPr marL="171450" indent="-171450">
              <a:buFont typeface="Arial" panose="020B0604020202020204" pitchFamily="34" charset="0"/>
              <a:buChar char="•"/>
            </a:pPr>
            <a:r>
              <a:rPr lang="en-CA" sz="1200" b="1" kern="1200" dirty="0">
                <a:solidFill>
                  <a:schemeClr val="tx1"/>
                </a:solidFill>
                <a:effectLst/>
                <a:latin typeface="+mn-lt"/>
                <a:ea typeface="+mn-ea"/>
                <a:cs typeface="+mn-cs"/>
              </a:rPr>
              <a:t>The enabler (document intelligence agent)</a:t>
            </a:r>
            <a:r>
              <a:rPr lang="en-CA" sz="1200" kern="1200" dirty="0">
                <a:solidFill>
                  <a:schemeClr val="tx1"/>
                </a:solidFill>
                <a:effectLst/>
                <a:latin typeface="+mn-lt"/>
                <a:ea typeface="+mn-ea"/>
                <a:cs typeface="+mn-cs"/>
              </a:rPr>
              <a:t> is what makes this robust in the real world. The needed input doesn't live in clean databases — it sits in PDFs: fund fact sheets, sub-manager commentary, custodian statements, research notes, and exhibits with charts and tables. The document-intelligence agent extracts and </a:t>
            </a:r>
            <a:r>
              <a:rPr lang="en-US" sz="1200" i="1" kern="1200" dirty="0">
                <a:solidFill>
                  <a:schemeClr val="tx1"/>
                </a:solidFill>
                <a:effectLst/>
                <a:latin typeface="+mn-lt"/>
                <a:ea typeface="+mn-ea"/>
                <a:cs typeface="+mn-cs"/>
              </a:rPr>
              <a:t>reasons over</a:t>
            </a:r>
            <a:r>
              <a:rPr lang="en-CA" sz="1200" kern="1200" dirty="0">
                <a:solidFill>
                  <a:schemeClr val="tx1"/>
                </a:solidFill>
                <a:effectLst/>
                <a:latin typeface="+mn-lt"/>
                <a:ea typeface="+mn-ea"/>
                <a:cs typeface="+mn-cs"/>
              </a:rPr>
              <a:t> that unstructured content (text, tables, charts, diagrams), validates it, and turns it into query-able data the generator can ground its narrative in. In the Microsoft stack this maps almost directly to </a:t>
            </a:r>
            <a:r>
              <a:rPr lang="en-US" sz="1200" b="1" kern="1200" dirty="0">
                <a:solidFill>
                  <a:schemeClr val="tx1"/>
                </a:solidFill>
                <a:effectLst/>
                <a:latin typeface="+mn-lt"/>
                <a:ea typeface="+mn-ea"/>
                <a:cs typeface="+mn-cs"/>
              </a:rPr>
              <a:t>Azure AI Document Intelligence</a:t>
            </a:r>
            <a:r>
              <a:rPr lang="en-CA" sz="1200" kern="1200" dirty="0">
                <a:solidFill>
                  <a:schemeClr val="tx1"/>
                </a:solidFill>
                <a:effectLst/>
                <a:latin typeface="+mn-lt"/>
                <a:ea typeface="+mn-ea"/>
                <a:cs typeface="+mn-cs"/>
              </a:rPr>
              <a:t> + an agent layer.</a:t>
            </a:r>
          </a:p>
          <a:p>
            <a:r>
              <a:rPr lang="en-CA"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CA" sz="1200" b="1" kern="1200" dirty="0">
                <a:solidFill>
                  <a:schemeClr val="tx1"/>
                </a:solidFill>
                <a:effectLst/>
                <a:latin typeface="+mn-lt"/>
                <a:ea typeface="+mn-ea"/>
                <a:cs typeface="+mn-cs"/>
              </a:rPr>
              <a:t>2. Value proposition</a:t>
            </a:r>
            <a:endParaRPr lang="en-CA" sz="1200" kern="1200" dirty="0">
              <a:solidFill>
                <a:schemeClr val="tx1"/>
              </a:solidFill>
              <a:effectLst/>
              <a:latin typeface="+mn-lt"/>
              <a:ea typeface="+mn-ea"/>
              <a:cs typeface="+mn-cs"/>
            </a:endParaRPr>
          </a:p>
          <a:p>
            <a:pPr lvl="1" rtl="0" fontAlgn="t"/>
            <a:r>
              <a:rPr lang="en-CA" sz="1200" b="1" kern="1200" dirty="0">
                <a:solidFill>
                  <a:schemeClr val="tx1"/>
                </a:solidFill>
                <a:effectLst/>
                <a:latin typeface="+mn-lt"/>
                <a:ea typeface="+mn-ea"/>
                <a:cs typeface="+mn-cs"/>
              </a:rPr>
              <a:t>Scale &amp; cost</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Commentary that today only the largest accounts get (human-written) can be produced for </a:t>
            </a:r>
            <a:r>
              <a:rPr lang="en-US" sz="1200" i="1" kern="1200" dirty="0">
                <a:solidFill>
                  <a:schemeClr val="tx1"/>
                </a:solidFill>
                <a:effectLst/>
                <a:latin typeface="+mn-lt"/>
                <a:ea typeface="+mn-ea"/>
                <a:cs typeface="+mn-cs"/>
              </a:rPr>
              <a:t>every</a:t>
            </a:r>
            <a:r>
              <a:rPr lang="en-CA" sz="1200" kern="1200" dirty="0">
                <a:solidFill>
                  <a:schemeClr val="tx1"/>
                </a:solidFill>
                <a:effectLst/>
                <a:latin typeface="+mn-lt"/>
                <a:ea typeface="+mn-ea"/>
                <a:cs typeface="+mn-cs"/>
              </a:rPr>
              <a:t> client and fund, including the mass-affluent tier where bespoke writing isn't economic.</a:t>
            </a:r>
          </a:p>
          <a:p>
            <a:pPr lvl="1" rtl="0" fontAlgn="t"/>
            <a:r>
              <a:rPr lang="en-CA" sz="1200" b="1" kern="1200" dirty="0">
                <a:solidFill>
                  <a:schemeClr val="tx1"/>
                </a:solidFill>
                <a:effectLst/>
                <a:latin typeface="+mn-lt"/>
                <a:ea typeface="+mn-ea"/>
                <a:cs typeface="+mn-cs"/>
              </a:rPr>
              <a:t>Advisor / PM productivity</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Reclaims hours per cycle. Analysts and PMs shift from drafting boilerplate to reviewing and adding judgment — the AI does the first draft.</a:t>
            </a:r>
          </a:p>
          <a:p>
            <a:pPr lvl="1" rtl="0" fontAlgn="t"/>
            <a:r>
              <a:rPr lang="en-CA" sz="1200" b="1" kern="1200" dirty="0">
                <a:solidFill>
                  <a:schemeClr val="tx1"/>
                </a:solidFill>
                <a:effectLst/>
                <a:latin typeface="+mn-lt"/>
                <a:ea typeface="+mn-ea"/>
                <a:cs typeface="+mn-cs"/>
              </a:rPr>
              <a:t>Consistency &amp; brand voice</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Every narrative follows the same structure, tone, and house view — eliminating the variance you get across dozens of advisors writing independently.</a:t>
            </a:r>
          </a:p>
          <a:p>
            <a:pPr lvl="1" rtl="0" fontAlgn="t"/>
            <a:r>
              <a:rPr lang="en-CA" sz="1200" b="1" kern="1200" dirty="0">
                <a:solidFill>
                  <a:schemeClr val="tx1"/>
                </a:solidFill>
                <a:effectLst/>
                <a:latin typeface="+mn-lt"/>
                <a:ea typeface="+mn-ea"/>
                <a:cs typeface="+mn-cs"/>
              </a:rPr>
              <a:t>Speed to client</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Quarter-end and month-end reporting crunch compresses from days to minutes; commentary is ready as soon as the data closes.</a:t>
            </a:r>
          </a:p>
          <a:p>
            <a:pPr lvl="1" rtl="0" fontAlgn="t"/>
            <a:r>
              <a:rPr lang="en-CA" sz="1200" b="1" kern="1200" dirty="0">
                <a:solidFill>
                  <a:schemeClr val="tx1"/>
                </a:solidFill>
                <a:effectLst/>
                <a:latin typeface="+mn-lt"/>
                <a:ea typeface="+mn-ea"/>
                <a:cs typeface="+mn-cs"/>
              </a:rPr>
              <a:t>Personalization</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The same underlying analytics can be re-voiced for different audiences — a retail client, a sophisticated institutional investor, or an internal investment committee.</a:t>
            </a:r>
          </a:p>
          <a:p>
            <a:pPr lvl="1" rtl="0" fontAlgn="t"/>
            <a:r>
              <a:rPr lang="en-CA" sz="1200" b="1" kern="1200" dirty="0">
                <a:solidFill>
                  <a:schemeClr val="tx1"/>
                </a:solidFill>
                <a:effectLst/>
                <a:latin typeface="+mn-lt"/>
                <a:ea typeface="+mn-ea"/>
                <a:cs typeface="+mn-cs"/>
              </a:rPr>
              <a:t>Accuracy &amp; trust</a:t>
            </a:r>
            <a:endParaRPr lang="en-CA" sz="1200" kern="1200" dirty="0">
              <a:solidFill>
                <a:schemeClr val="tx1"/>
              </a:solidFill>
              <a:effectLst/>
              <a:latin typeface="+mn-lt"/>
              <a:ea typeface="+mn-ea"/>
              <a:cs typeface="+mn-cs"/>
            </a:endParaRPr>
          </a:p>
          <a:p>
            <a:pPr lvl="1" rtl="0" fontAlgn="t"/>
            <a:r>
              <a:rPr lang="en-CA" sz="1200" kern="1200" dirty="0">
                <a:solidFill>
                  <a:schemeClr val="tx1"/>
                </a:solidFill>
                <a:effectLst/>
                <a:latin typeface="+mn-lt"/>
                <a:ea typeface="+mn-ea"/>
                <a:cs typeface="+mn-cs"/>
              </a:rPr>
              <a:t>Because it's grounded in validated extracted data (not free-form generation), numbers in the prose tie back to source — critical for a regulated context.</a:t>
            </a:r>
          </a:p>
          <a:p>
            <a:pPr lvl="1"/>
            <a:r>
              <a:rPr lang="en-CA" sz="1200" b="1" kern="1200" dirty="0">
                <a:solidFill>
                  <a:schemeClr val="tx1"/>
                </a:solidFill>
                <a:effectLst/>
                <a:latin typeface="+mn-lt"/>
                <a:ea typeface="+mn-ea"/>
                <a:cs typeface="+mn-cs"/>
              </a:rPr>
              <a:t>Quant Impact: </a:t>
            </a:r>
            <a:r>
              <a:rPr lang="en-CA" sz="1200" kern="1200" dirty="0">
                <a:solidFill>
                  <a:schemeClr val="tx1"/>
                </a:solidFill>
                <a:effectLst/>
                <a:latin typeface="+mn-lt"/>
                <a:ea typeface="+mn-ea"/>
                <a:cs typeface="+mn-cs"/>
              </a:rPr>
              <a:t>client reporting and commentary is often cited as consuming 20–40% of investment operations / client-service effort during reporting cycles. Even partial automation is a large, measurable productivity story.</a:t>
            </a:r>
          </a:p>
          <a:p>
            <a:r>
              <a:rPr lang="en-US" sz="1200" kern="1200" dirty="0">
                <a:solidFill>
                  <a:schemeClr val="tx1"/>
                </a:solidFill>
                <a:effectLst/>
                <a:latin typeface="+mn-lt"/>
                <a:ea typeface="+mn-ea"/>
                <a:cs typeface="+mn-cs"/>
              </a:rPr>
              <a:t> </a:t>
            </a:r>
          </a:p>
          <a:p>
            <a:r>
              <a:rPr lang="en-CA" sz="1200" b="1" kern="1200" dirty="0">
                <a:solidFill>
                  <a:schemeClr val="tx1"/>
                </a:solidFill>
                <a:effectLst/>
                <a:latin typeface="+mn-lt"/>
                <a:ea typeface="+mn-ea"/>
                <a:cs typeface="+mn-cs"/>
              </a:rPr>
              <a:t>3. Current state</a:t>
            </a:r>
            <a:endParaRPr lang="en-CA" sz="1200" kern="1200" dirty="0">
              <a:solidFill>
                <a:schemeClr val="tx1"/>
              </a:solidFill>
              <a:effectLst/>
              <a:latin typeface="+mn-lt"/>
              <a:ea typeface="+mn-ea"/>
              <a:cs typeface="+mn-cs"/>
            </a:endParaRP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Predominantly manual.</a:t>
            </a:r>
            <a:r>
              <a:rPr lang="en-CA" sz="1200" kern="1200" dirty="0">
                <a:solidFill>
                  <a:schemeClr val="tx1"/>
                </a:solidFill>
                <a:effectLst/>
                <a:latin typeface="+mn-lt"/>
                <a:ea typeface="+mn-ea"/>
                <a:cs typeface="+mn-cs"/>
              </a:rPr>
              <a:t> Analysts pull performance and attribution from the portfolio system, eyeball the drivers, and hand-write commentary in Word/PowerPoint. It's slow and doesn't scale.</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Templated but not intelligent.</a:t>
            </a:r>
            <a:r>
              <a:rPr lang="en-CA" sz="1200" kern="1200" dirty="0">
                <a:solidFill>
                  <a:schemeClr val="tx1"/>
                </a:solidFill>
                <a:effectLst/>
                <a:latin typeface="+mn-lt"/>
                <a:ea typeface="+mn-ea"/>
                <a:cs typeface="+mn-cs"/>
              </a:rPr>
              <a:t> Some firms use mail-merge / rules-based templates ("Equities contributed X%…"). These are brittle, robotic, and can't explain </a:t>
            </a:r>
            <a:r>
              <a:rPr lang="en-US" sz="1200" i="1" kern="1200" dirty="0">
                <a:solidFill>
                  <a:schemeClr val="tx1"/>
                </a:solidFill>
                <a:effectLst/>
                <a:latin typeface="+mn-lt"/>
                <a:ea typeface="+mn-ea"/>
                <a:cs typeface="+mn-cs"/>
              </a:rPr>
              <a:t>nuance</a:t>
            </a:r>
            <a:r>
              <a:rPr lang="en-CA"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why</a:t>
            </a:r>
            <a:r>
              <a:rPr lang="en-CA" sz="1200" kern="1200" dirty="0">
                <a:solidFill>
                  <a:schemeClr val="tx1"/>
                </a:solidFill>
                <a:effectLst/>
                <a:latin typeface="+mn-lt"/>
                <a:ea typeface="+mn-ea"/>
                <a:cs typeface="+mn-cs"/>
              </a:rPr>
              <a:t>.</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Early GenAI pilots.</a:t>
            </a:r>
            <a:r>
              <a:rPr lang="en-CA" sz="1200" kern="1200" dirty="0">
                <a:solidFill>
                  <a:schemeClr val="tx1"/>
                </a:solidFill>
                <a:effectLst/>
                <a:latin typeface="+mn-lt"/>
                <a:ea typeface="+mn-ea"/>
                <a:cs typeface="+mn-cs"/>
              </a:rPr>
              <a:t> Leading asset managers are piloting LLM-drafted commentary, but most stop at clean structured data and struggle with (a) the PDF/unstructured world, (b) hallucinated numbers, and (c) compliance sign-off.</a:t>
            </a:r>
          </a:p>
          <a:p>
            <a:pPr marL="171450" indent="-171450" rtl="0" fontAlgn="ctr">
              <a:buFont typeface="Arial" panose="020B0604020202020204" pitchFamily="34" charset="0"/>
              <a:buChar char="•"/>
            </a:pPr>
            <a:r>
              <a:rPr lang="en-CA" sz="1200" b="1" kern="1200" dirty="0">
                <a:solidFill>
                  <a:schemeClr val="tx1"/>
                </a:solidFill>
                <a:effectLst/>
                <a:latin typeface="+mn-lt"/>
                <a:ea typeface="+mn-ea"/>
                <a:cs typeface="+mn-cs"/>
              </a:rPr>
              <a:t>The gap this idea fills:</a:t>
            </a:r>
            <a:r>
              <a:rPr lang="en-CA" sz="1200" kern="1200" dirty="0">
                <a:solidFill>
                  <a:schemeClr val="tx1"/>
                </a:solidFill>
                <a:effectLst/>
                <a:latin typeface="+mn-lt"/>
                <a:ea typeface="+mn-ea"/>
                <a:cs typeface="+mn-cs"/>
              </a:rPr>
              <a:t> few solutions combine </a:t>
            </a:r>
            <a:r>
              <a:rPr lang="en-US" sz="1200" b="1" kern="1200" dirty="0">
                <a:solidFill>
                  <a:schemeClr val="tx1"/>
                </a:solidFill>
                <a:effectLst/>
                <a:latin typeface="+mn-lt"/>
                <a:ea typeface="+mn-ea"/>
                <a:cs typeface="+mn-cs"/>
              </a:rPr>
              <a:t>document intelligence</a:t>
            </a:r>
            <a:r>
              <a:rPr lang="en-CA" sz="1200" kern="1200" dirty="0">
                <a:solidFill>
                  <a:schemeClr val="tx1"/>
                </a:solidFill>
                <a:effectLst/>
                <a:latin typeface="+mn-lt"/>
                <a:ea typeface="+mn-ea"/>
                <a:cs typeface="+mn-cs"/>
              </a:rPr>
              <a:t> (to ingest the messy source material) with </a:t>
            </a:r>
            <a:r>
              <a:rPr lang="en-US" sz="1200" b="1" kern="1200" dirty="0">
                <a:solidFill>
                  <a:schemeClr val="tx1"/>
                </a:solidFill>
                <a:effectLst/>
                <a:latin typeface="+mn-lt"/>
                <a:ea typeface="+mn-ea"/>
                <a:cs typeface="+mn-cs"/>
              </a:rPr>
              <a:t>grounded generation</a:t>
            </a:r>
            <a:r>
              <a:rPr lang="en-CA" sz="1200" kern="1200" dirty="0">
                <a:solidFill>
                  <a:schemeClr val="tx1"/>
                </a:solidFill>
                <a:effectLst/>
                <a:latin typeface="+mn-lt"/>
                <a:ea typeface="+mn-ea"/>
                <a:cs typeface="+mn-cs"/>
              </a:rPr>
              <a:t> (to keep the narrative factual and auditable). That combination is the differentiator and why it's worth a hackathon build.</a:t>
            </a:r>
          </a:p>
          <a:p>
            <a:r>
              <a:rPr lang="en-US" sz="1200" kern="1200" dirty="0">
                <a:solidFill>
                  <a:schemeClr val="tx1"/>
                </a:solidFill>
                <a:effectLst/>
                <a:latin typeface="+mn-lt"/>
                <a:ea typeface="+mn-ea"/>
                <a:cs typeface="+mn-cs"/>
              </a:rPr>
              <a:t> </a:t>
            </a:r>
          </a:p>
          <a:p>
            <a:r>
              <a:rPr lang="en-CA" sz="1200" b="1" kern="1200" dirty="0">
                <a:solidFill>
                  <a:schemeClr val="tx1"/>
                </a:solidFill>
                <a:effectLst/>
                <a:latin typeface="+mn-lt"/>
                <a:ea typeface="+mn-ea"/>
                <a:cs typeface="+mn-cs"/>
              </a:rPr>
              <a:t>4. Illustrative Flow, for discussion. We can do a subset or another flow. Open to ideas</a:t>
            </a:r>
            <a:endParaRPr lang="en-CA" sz="120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Trigger</a:t>
            </a:r>
            <a:r>
              <a:rPr lang="en-CA" sz="1200" b="0" i="0" kern="1200" dirty="0">
                <a:solidFill>
                  <a:schemeClr val="tx1"/>
                </a:solidFill>
                <a:effectLst/>
                <a:latin typeface="+mn-lt"/>
                <a:ea typeface="+mn-ea"/>
                <a:cs typeface="+mn-cs"/>
              </a:rPr>
              <a:t> — period close (quarter/month), or an advisor clicks "Generate commentary" for an account or fund.</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Ingest &amp; validate</a:t>
            </a:r>
            <a:r>
              <a:rPr lang="en-CA" sz="1200" b="0" i="0" kern="1200" dirty="0">
                <a:solidFill>
                  <a:schemeClr val="tx1"/>
                </a:solidFill>
                <a:effectLst/>
                <a:latin typeface="+mn-lt"/>
                <a:ea typeface="+mn-ea"/>
                <a:cs typeface="+mn-cs"/>
              </a:rPr>
              <a:t> — the document-intelligence agent pulls structured feeds </a:t>
            </a:r>
            <a:r>
              <a:rPr lang="en-US" sz="1200" b="0" i="1" kern="1200" dirty="0">
                <a:solidFill>
                  <a:schemeClr val="tx1"/>
                </a:solidFill>
                <a:effectLst/>
                <a:latin typeface="+mn-lt"/>
                <a:ea typeface="+mn-ea"/>
                <a:cs typeface="+mn-cs"/>
              </a:rPr>
              <a:t>and</a:t>
            </a:r>
            <a:r>
              <a:rPr lang="en-CA" sz="1200" b="0" i="0" kern="1200" dirty="0">
                <a:solidFill>
                  <a:schemeClr val="tx1"/>
                </a:solidFill>
                <a:effectLst/>
                <a:latin typeface="+mn-lt"/>
                <a:ea typeface="+mn-ea"/>
                <a:cs typeface="+mn-cs"/>
              </a:rPr>
              <a:t> parses PDFs (fact sheets, manager notes, exhibits), reconciling and validating the figures.</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Analyze</a:t>
            </a:r>
            <a:r>
              <a:rPr lang="en-CA" sz="1200" b="0" i="0" kern="1200" dirty="0">
                <a:solidFill>
                  <a:schemeClr val="tx1"/>
                </a:solidFill>
                <a:effectLst/>
                <a:latin typeface="+mn-lt"/>
                <a:ea typeface="+mn-ea"/>
                <a:cs typeface="+mn-cs"/>
              </a:rPr>
              <a:t> — the agent identifies the top performance drivers, attribution effects, and material positioning changes versus the prior period and the benchmark.</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Generate</a:t>
            </a:r>
            <a:r>
              <a:rPr lang="en-CA" sz="1200" b="0" i="0" kern="1200" dirty="0">
                <a:solidFill>
                  <a:schemeClr val="tx1"/>
                </a:solidFill>
                <a:effectLst/>
                <a:latin typeface="+mn-lt"/>
                <a:ea typeface="+mn-ea"/>
                <a:cs typeface="+mn-cs"/>
              </a:rPr>
              <a:t> — it drafts a narrative in the firm's house voice, with selectable length/audience (client-friendly vs. institutional vs. IC).</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Ground &amp; cite</a:t>
            </a:r>
            <a:r>
              <a:rPr lang="en-CA" sz="1200" b="0" i="0" kern="1200" dirty="0">
                <a:solidFill>
                  <a:schemeClr val="tx1"/>
                </a:solidFill>
                <a:effectLst/>
                <a:latin typeface="+mn-lt"/>
                <a:ea typeface="+mn-ea"/>
                <a:cs typeface="+mn-cs"/>
              </a:rPr>
              <a:t> — every claim and number traces back to a source data point, so it's reviewable and auditable.</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Human-in-the-loop review</a:t>
            </a:r>
            <a:r>
              <a:rPr lang="en-CA" sz="1200" b="0" i="0" kern="1200" dirty="0">
                <a:solidFill>
                  <a:schemeClr val="tx1"/>
                </a:solidFill>
                <a:effectLst/>
                <a:latin typeface="+mn-lt"/>
                <a:ea typeface="+mn-ea"/>
                <a:cs typeface="+mn-cs"/>
              </a:rPr>
              <a:t> — the PM/advisor edits and approves in-flow (ideally inside Word or Copilot), and feedback refines future output.</a:t>
            </a:r>
            <a:endParaRPr lang="en-CA" sz="1200" b="1" i="0" kern="1200" dirty="0">
              <a:solidFill>
                <a:schemeClr val="tx1"/>
              </a:solidFill>
              <a:effectLst/>
              <a:latin typeface="+mn-lt"/>
              <a:ea typeface="+mn-ea"/>
              <a:cs typeface="+mn-cs"/>
            </a:endParaRPr>
          </a:p>
          <a:p>
            <a:pPr rtl="0" fontAlgn="ctr"/>
            <a:r>
              <a:rPr lang="en-CA" sz="1200" b="1" i="0" kern="1200" dirty="0">
                <a:solidFill>
                  <a:schemeClr val="tx1"/>
                </a:solidFill>
                <a:effectLst/>
                <a:latin typeface="+mn-lt"/>
                <a:ea typeface="+mn-ea"/>
                <a:cs typeface="+mn-cs"/>
              </a:rPr>
              <a:t>Deliver</a:t>
            </a:r>
            <a:r>
              <a:rPr lang="en-CA" sz="1200" b="0" i="0" kern="1200" dirty="0">
                <a:solidFill>
                  <a:schemeClr val="tx1"/>
                </a:solidFill>
                <a:effectLst/>
                <a:latin typeface="+mn-lt"/>
                <a:ea typeface="+mn-ea"/>
                <a:cs typeface="+mn-cs"/>
              </a:rPr>
              <a:t> — pushed into the client report, fact sheet, portal, or email.</a:t>
            </a:r>
            <a:endParaRPr lang="en-CA" sz="1200" b="1" i="0"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Demo idea:</a:t>
            </a:r>
            <a:r>
              <a:rPr lang="en-CA" sz="1200" kern="1200" dirty="0">
                <a:solidFill>
                  <a:schemeClr val="tx1"/>
                </a:solidFill>
                <a:effectLst/>
                <a:latin typeface="+mn-lt"/>
                <a:ea typeface="+mn-ea"/>
                <a:cs typeface="+mn-cs"/>
              </a:rPr>
              <a:t> Use an anonymized portfolio + a fund PDF to create a professional, benchmark-aware client paragraph in seconds, with each number clickable to its source. Be careful about regulatory requirements about acceptable statements.</a:t>
            </a:r>
          </a:p>
          <a:p>
            <a:pPr lvl="1"/>
            <a:r>
              <a:rPr lang="en-US" sz="1200" kern="1200" dirty="0">
                <a:solidFill>
                  <a:schemeClr val="tx1"/>
                </a:solidFill>
                <a:effectLst/>
                <a:latin typeface="+mn-lt"/>
                <a:ea typeface="+mn-ea"/>
                <a:cs typeface="+mn-cs"/>
              </a:rPr>
              <a:t> </a:t>
            </a:r>
          </a:p>
          <a:p>
            <a:pPr lvl="1"/>
            <a:r>
              <a:rPr lang="en-CA" sz="1200" b="1" kern="1200" dirty="0">
                <a:solidFill>
                  <a:schemeClr val="tx1"/>
                </a:solidFill>
                <a:effectLst/>
                <a:latin typeface="+mn-lt"/>
                <a:ea typeface="+mn-ea"/>
                <a:cs typeface="+mn-cs"/>
              </a:rPr>
              <a:t>Data sources</a:t>
            </a:r>
            <a:endParaRPr lang="en-CA"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Structured / internal:</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Portfolio accounting / book of record (ABOR/IBOR)</a:t>
            </a:r>
            <a:r>
              <a:rPr lang="en-CA" sz="1200" kern="1200" dirty="0">
                <a:solidFill>
                  <a:schemeClr val="tx1"/>
                </a:solidFill>
                <a:effectLst/>
                <a:latin typeface="+mn-lt"/>
                <a:ea typeface="+mn-ea"/>
                <a:cs typeface="+mn-cs"/>
              </a:rPr>
              <a:t> — holdings, weights, market values, cash.</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Performance &amp; attribution engine</a:t>
            </a:r>
            <a:r>
              <a:rPr lang="en-CA" sz="1200" kern="1200" dirty="0">
                <a:solidFill>
                  <a:schemeClr val="tx1"/>
                </a:solidFill>
                <a:effectLst/>
                <a:latin typeface="+mn-lt"/>
                <a:ea typeface="+mn-ea"/>
                <a:cs typeface="+mn-cs"/>
              </a:rPr>
              <a:t> — returns, contribution-to-return, allocation vs. selection effects, benchmark-relative (active) return. </a:t>
            </a:r>
            <a:r>
              <a:rPr lang="en-US" sz="1200" i="1" kern="1200" dirty="0">
                <a:solidFill>
                  <a:schemeClr val="tx1"/>
                </a:solidFill>
                <a:effectLst/>
                <a:latin typeface="+mn-lt"/>
                <a:ea typeface="+mn-ea"/>
                <a:cs typeface="+mn-cs"/>
              </a:rPr>
              <a:t>(This is the analytical heart — see dependencies.)</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b="1" strike="sngStrike" kern="1200" dirty="0">
                <a:solidFill>
                  <a:schemeClr val="tx1"/>
                </a:solidFill>
                <a:effectLst/>
                <a:latin typeface="+mn-lt"/>
                <a:ea typeface="+mn-ea"/>
                <a:cs typeface="+mn-cs"/>
              </a:rPr>
              <a:t>Transactions / order management</a:t>
            </a:r>
            <a:r>
              <a:rPr lang="en-CA" sz="1200" strike="sngStrike" kern="1200" dirty="0">
                <a:solidFill>
                  <a:schemeClr val="tx1"/>
                </a:solidFill>
                <a:effectLst/>
                <a:latin typeface="+mn-lt"/>
                <a:ea typeface="+mn-ea"/>
                <a:cs typeface="+mn-cs"/>
              </a:rPr>
              <a:t> — trades, rebalances, the positioning changes to be narrated.</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Security master &amp; reference data</a:t>
            </a:r>
            <a:r>
              <a:rPr lang="en-CA" sz="1200" kern="1200" dirty="0">
                <a:solidFill>
                  <a:schemeClr val="tx1"/>
                </a:solidFill>
                <a:effectLst/>
                <a:latin typeface="+mn-lt"/>
                <a:ea typeface="+mn-ea"/>
                <a:cs typeface="+mn-cs"/>
              </a:rPr>
              <a:t> — sector/region/asset-class classifications, identifiers.</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Benchmark &amp; index data</a:t>
            </a:r>
            <a:r>
              <a:rPr lang="en-CA" sz="1200" kern="1200" dirty="0">
                <a:solidFill>
                  <a:schemeClr val="tx1"/>
                </a:solidFill>
                <a:effectLst/>
                <a:latin typeface="+mn-lt"/>
                <a:ea typeface="+mn-ea"/>
                <a:cs typeface="+mn-cs"/>
              </a:rPr>
              <a:t> — index constituents and returns for relative attribution.</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Market &amp; pricing data</a:t>
            </a:r>
            <a:r>
              <a:rPr lang="en-CA" sz="1200" kern="1200" dirty="0">
                <a:solidFill>
                  <a:schemeClr val="tx1"/>
                </a:solidFill>
                <a:effectLst/>
                <a:latin typeface="+mn-lt"/>
                <a:ea typeface="+mn-ea"/>
                <a:cs typeface="+mn-cs"/>
              </a:rPr>
              <a:t> — prices, FX, corporate actions (e.g., Bloomberg/Refinitiv/ICE).</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CRM (e.g., Dynamics)</a:t>
            </a:r>
            <a:r>
              <a:rPr lang="en-CA" sz="1200" kern="1200" dirty="0">
                <a:solidFill>
                  <a:schemeClr val="tx1"/>
                </a:solidFill>
                <a:effectLst/>
                <a:latin typeface="+mn-lt"/>
                <a:ea typeface="+mn-ea"/>
                <a:cs typeface="+mn-cs"/>
              </a:rPr>
              <a:t> — client profile, risk tolerance, audience, mandate constraints (for personalization).</a:t>
            </a: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Unstructured (the document-intelligence target):</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kern="1200" dirty="0">
                <a:solidFill>
                  <a:schemeClr val="tx1"/>
                </a:solidFill>
                <a:effectLst/>
                <a:latin typeface="+mn-lt"/>
                <a:ea typeface="+mn-ea"/>
                <a:cs typeface="+mn-cs"/>
              </a:rPr>
              <a:t>Fund/sub-manager </a:t>
            </a:r>
            <a:r>
              <a:rPr lang="en-US" sz="1200" b="1" kern="1200" dirty="0">
                <a:solidFill>
                  <a:schemeClr val="tx1"/>
                </a:solidFill>
                <a:effectLst/>
                <a:latin typeface="+mn-lt"/>
                <a:ea typeface="+mn-ea"/>
                <a:cs typeface="+mn-cs"/>
              </a:rPr>
              <a:t>commentary PDFs</a:t>
            </a:r>
            <a:r>
              <a:rPr lang="en-CA"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fact sheets</a:t>
            </a:r>
            <a:r>
              <a:rPr lang="en-CA"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custodian statements</a:t>
            </a:r>
            <a:r>
              <a:rPr lang="en-CA"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research notes</a:t>
            </a:r>
            <a:r>
              <a:rPr lang="en-CA"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exhibits/charts/tables</a:t>
            </a:r>
            <a:r>
              <a:rPr lang="en-CA" sz="1200" kern="1200" dirty="0">
                <a:solidFill>
                  <a:schemeClr val="tx1"/>
                </a:solidFill>
                <a:effectLst/>
                <a:latin typeface="+mn-lt"/>
                <a:ea typeface="+mn-ea"/>
                <a:cs typeface="+mn-cs"/>
              </a:rPr>
              <a:t> embedded in financial documents.</a:t>
            </a: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House content for grounding:</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kern="1200" dirty="0">
                <a:solidFill>
                  <a:schemeClr val="tx1"/>
                </a:solidFill>
                <a:effectLst/>
                <a:latin typeface="+mn-lt"/>
                <a:ea typeface="+mn-ea"/>
                <a:cs typeface="+mn-cs"/>
              </a:rPr>
              <a:t>The firm's </a:t>
            </a:r>
            <a:r>
              <a:rPr lang="en-US" sz="1200" b="1" kern="1200" dirty="0">
                <a:solidFill>
                  <a:schemeClr val="tx1"/>
                </a:solidFill>
                <a:effectLst/>
                <a:latin typeface="+mn-lt"/>
                <a:ea typeface="+mn-ea"/>
                <a:cs typeface="+mn-cs"/>
              </a:rPr>
              <a:t>house view / market outlook</a:t>
            </a:r>
            <a:r>
              <a:rPr lang="en-CA"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style guide / brand voice</a:t>
            </a:r>
            <a:r>
              <a:rPr lang="en-CA"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approved-language / disclosure library</a:t>
            </a:r>
            <a:r>
              <a:rPr lang="en-CA" sz="1200" kern="1200" dirty="0">
                <a:solidFill>
                  <a:schemeClr val="tx1"/>
                </a:solidFill>
                <a:effectLst/>
                <a:latin typeface="+mn-lt"/>
                <a:ea typeface="+mn-ea"/>
                <a:cs typeface="+mn-cs"/>
              </a:rPr>
              <a:t> (so output is compliant by construction).</a:t>
            </a:r>
          </a:p>
          <a:p>
            <a:pPr lvl="1"/>
            <a:r>
              <a:rPr lang="en-US" sz="1200" kern="1200" dirty="0">
                <a:solidFill>
                  <a:schemeClr val="tx1"/>
                </a:solidFill>
                <a:effectLst/>
                <a:latin typeface="+mn-lt"/>
                <a:ea typeface="+mn-ea"/>
                <a:cs typeface="+mn-cs"/>
              </a:rPr>
              <a:t> </a:t>
            </a:r>
          </a:p>
          <a:p>
            <a:pPr lvl="1"/>
            <a:r>
              <a:rPr lang="en-CA" sz="1200" b="1" kern="1200" dirty="0">
                <a:solidFill>
                  <a:schemeClr val="tx1"/>
                </a:solidFill>
                <a:effectLst/>
                <a:latin typeface="+mn-lt"/>
                <a:ea typeface="+mn-ea"/>
                <a:cs typeface="+mn-cs"/>
              </a:rPr>
              <a:t>Dependencies</a:t>
            </a:r>
            <a:endParaRPr lang="en-CA"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Data &amp; analytical:</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A reliable attribution engine.</a:t>
            </a:r>
            <a:r>
              <a:rPr lang="en-CA" sz="1200" kern="1200" dirty="0">
                <a:solidFill>
                  <a:schemeClr val="tx1"/>
                </a:solidFill>
                <a:effectLst/>
                <a:latin typeface="+mn-lt"/>
                <a:ea typeface="+mn-ea"/>
                <a:cs typeface="+mn-cs"/>
              </a:rPr>
              <a:t> The generator narrates attribution — it does not compute it from scratch. Garbage attribution → garbage narrative. This is the single biggest prerequisite.</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Data quality &amp; timeliness.</a:t>
            </a:r>
            <a:r>
              <a:rPr lang="en-CA" sz="1200" kern="1200" dirty="0">
                <a:solidFill>
                  <a:schemeClr val="tx1"/>
                </a:solidFill>
                <a:effectLst/>
                <a:latin typeface="+mn-lt"/>
                <a:ea typeface="+mn-ea"/>
                <a:cs typeface="+mn-cs"/>
              </a:rPr>
              <a:t> Reconciled, period-closed, validated data. Bad/lagging data is the top failure mode.</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Benchmark alignment.</a:t>
            </a:r>
            <a:r>
              <a:rPr lang="en-CA" sz="1200" kern="1200" dirty="0">
                <a:solidFill>
                  <a:schemeClr val="tx1"/>
                </a:solidFill>
                <a:effectLst/>
                <a:latin typeface="+mn-lt"/>
                <a:ea typeface="+mn-ea"/>
                <a:cs typeface="+mn-cs"/>
              </a:rPr>
              <a:t> Correct benchmark mapping per mandate for the relative story to be right.</a:t>
            </a: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Technical (mapped to the Microsoft/Azure stack — useful for this audience):</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Azure AI Document Intelligence</a:t>
            </a:r>
            <a:r>
              <a:rPr lang="en-CA" sz="1200" kern="1200" dirty="0">
                <a:solidFill>
                  <a:schemeClr val="tx1"/>
                </a:solidFill>
                <a:effectLst/>
                <a:latin typeface="+mn-lt"/>
                <a:ea typeface="+mn-ea"/>
                <a:cs typeface="+mn-cs"/>
              </a:rPr>
              <a:t> — the literal enabler for parsing PDFs/tables/charts.</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Azure OpenAI / Azure AI Foundry</a:t>
            </a:r>
            <a:r>
              <a:rPr lang="en-CA" sz="1200" kern="1200" dirty="0">
                <a:solidFill>
                  <a:schemeClr val="tx1"/>
                </a:solidFill>
                <a:effectLst/>
                <a:latin typeface="+mn-lt"/>
                <a:ea typeface="+mn-ea"/>
                <a:cs typeface="+mn-cs"/>
              </a:rPr>
              <a:t> — the generation + agent orchestration layer.</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Azure AI Search (RAG / grounding)</a:t>
            </a:r>
            <a:r>
              <a:rPr lang="en-CA" sz="1200" kern="1200" dirty="0">
                <a:solidFill>
                  <a:schemeClr val="tx1"/>
                </a:solidFill>
                <a:effectLst/>
                <a:latin typeface="+mn-lt"/>
                <a:ea typeface="+mn-ea"/>
                <a:cs typeface="+mn-cs"/>
              </a:rPr>
              <a:t> — to ground narratives in validated data and house content, minimizing hallucination.</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Microsoft Fabric / data platform</a:t>
            </a:r>
            <a:r>
              <a:rPr lang="en-CA" sz="1200" kern="1200" dirty="0">
                <a:solidFill>
                  <a:schemeClr val="tx1"/>
                </a:solidFill>
                <a:effectLst/>
                <a:latin typeface="+mn-lt"/>
                <a:ea typeface="+mn-ea"/>
                <a:cs typeface="+mn-cs"/>
              </a:rPr>
              <a:t> — to unify the structured feeds.</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Microsoft Copilot / Word / Copilot Studio</a:t>
            </a:r>
            <a:r>
              <a:rPr lang="en-CA" sz="1200" kern="1200" dirty="0">
                <a:solidFill>
                  <a:schemeClr val="tx1"/>
                </a:solidFill>
                <a:effectLst/>
                <a:latin typeface="+mn-lt"/>
                <a:ea typeface="+mn-ea"/>
                <a:cs typeface="+mn-cs"/>
              </a:rPr>
              <a:t> — the human-in-the-loop review and delivery surface.</a:t>
            </a:r>
          </a:p>
          <a:p>
            <a:pPr marL="628650" lvl="1" indent="-171450">
              <a:buFont typeface="Arial" panose="020B0604020202020204" pitchFamily="34" charset="0"/>
              <a:buChar char="•"/>
            </a:pPr>
            <a:r>
              <a:rPr lang="en-CA" sz="1200" b="1" kern="1200" dirty="0">
                <a:solidFill>
                  <a:schemeClr val="tx1"/>
                </a:solidFill>
                <a:effectLst/>
                <a:latin typeface="+mn-lt"/>
                <a:ea typeface="+mn-ea"/>
                <a:cs typeface="+mn-cs"/>
              </a:rPr>
              <a:t>Governance &amp; trust (non-negotiable in regulated WAM):</a:t>
            </a:r>
            <a:endParaRPr lang="en-CA" sz="1200" kern="1200" dirty="0">
              <a:solidFill>
                <a:schemeClr val="tx1"/>
              </a:solidFill>
              <a:effectLst/>
              <a:latin typeface="+mn-lt"/>
              <a:ea typeface="+mn-ea"/>
              <a:cs typeface="+mn-cs"/>
            </a:endParaRP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Hallucination / numerical-accuracy controls</a:t>
            </a:r>
            <a:r>
              <a:rPr lang="en-CA" sz="1200" kern="1200" dirty="0">
                <a:solidFill>
                  <a:schemeClr val="tx1"/>
                </a:solidFill>
                <a:effectLst/>
                <a:latin typeface="+mn-lt"/>
                <a:ea typeface="+mn-ea"/>
                <a:cs typeface="+mn-cs"/>
              </a:rPr>
              <a:t> — every figure must tie to source; no model-invented numbers. This is the credibility make-or-break.</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Compliance, supervision &amp; disclosures</a:t>
            </a:r>
            <a:r>
              <a:rPr lang="en-CA" sz="1200" kern="1200" dirty="0">
                <a:solidFill>
                  <a:schemeClr val="tx1"/>
                </a:solidFill>
                <a:effectLst/>
                <a:latin typeface="+mn-lt"/>
                <a:ea typeface="+mn-ea"/>
                <a:cs typeface="+mn-cs"/>
              </a:rPr>
              <a:t> — audit trail, approved language, archiving, and a review/sign-off workflow (think SEC/IIROC/FCA-style marketing-communication rules).</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Data privacy &amp; security</a:t>
            </a:r>
            <a:r>
              <a:rPr lang="en-CA" sz="1200" kern="1200" dirty="0">
                <a:solidFill>
                  <a:schemeClr val="tx1"/>
                </a:solidFill>
                <a:effectLst/>
                <a:latin typeface="+mn-lt"/>
                <a:ea typeface="+mn-ea"/>
                <a:cs typeface="+mn-cs"/>
              </a:rPr>
              <a:t> — client data confidentiality (Purview / access controls); keep data in-tenant.</a:t>
            </a:r>
          </a:p>
          <a:p>
            <a:pPr marL="628650" lvl="1" indent="-171450" rtl="0" fontAlgn="ctr">
              <a:buFont typeface="Arial" panose="020B0604020202020204" pitchFamily="34" charset="0"/>
              <a:buChar char="•"/>
            </a:pPr>
            <a:r>
              <a:rPr lang="en-CA" sz="1200" b="1" kern="1200" dirty="0">
                <a:solidFill>
                  <a:schemeClr val="tx1"/>
                </a:solidFill>
                <a:effectLst/>
                <a:latin typeface="+mn-lt"/>
                <a:ea typeface="+mn-ea"/>
                <a:cs typeface="+mn-cs"/>
              </a:rPr>
              <a:t>Human-in-the-loop</a:t>
            </a:r>
            <a:r>
              <a:rPr lang="en-CA" sz="1200" kern="1200" dirty="0">
                <a:solidFill>
                  <a:schemeClr val="tx1"/>
                </a:solidFill>
                <a:effectLst/>
                <a:latin typeface="+mn-lt"/>
                <a:ea typeface="+mn-ea"/>
                <a:cs typeface="+mn-cs"/>
              </a:rPr>
              <a:t> — the PM/advisor remains accountable; AI drafts, human approves.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52254-5BE8-59DF-AD10-794B50C72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9C153-C4DD-DC3C-EF3D-27E73737C7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C107F-27AD-9376-A440-4DC2C61776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663817-E895-8DCB-F21F-C7BC6D12A25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199148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9295E-B2D4-4F77-F2F2-DF7B81991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48A28-3099-CEE7-72A1-ADE5CCA51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C0526-7D7C-6E5D-89AE-F13183CCCC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AF3841-60AA-3E8A-E4E4-4D77B9A0DBF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75398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A45C-21DB-3B4A-F0A5-1549037BD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090F1-E8C3-BBEB-A992-126650CA9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98CE6-F324-B6FB-147A-054B83463E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607872-F5F6-4504-C4DA-5D1D40AB710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69399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ca-frontend-sage-poc-eus2.purpleriver-0efe6bf9.eastus2.azurecontainerapps.io/"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microsoft-my.sharepoint.com/:p:/p/scallighan/IQASGm2ao7EhQIJxulrWA1vFAXo_NlNNkkRYmpMOILEWMuc" TargetMode="External"/><Relationship Id="rId7" Type="http://schemas.openxmlformats.org/officeDocument/2006/relationships/hyperlink" Target="https://github.com/akshata29/fincopilotkit" TargetMode="External"/><Relationship Id="rId2" Type="http://schemas.openxmlformats.org/officeDocument/2006/relationships/hyperlink" Target="https://microsoft-my.sharepoint.com/:p:/p/astalati/cQpELHz-vWu-QYiDKoeKoyCkEgUCmqz5xY5SzxjDujIcCNR0BA" TargetMode="External"/><Relationship Id="rId1" Type="http://schemas.openxmlformats.org/officeDocument/2006/relationships/slideLayout" Target="../slideLayouts/slideLayout1.xml"/><Relationship Id="rId6" Type="http://schemas.openxmlformats.org/officeDocument/2006/relationships/hyperlink" Target="https://teams.microsoft.com/l/meetup-join/19%3ameeting_ZGU5MTVjYmQtZGU3NS00MTAzLThkNjgtNWMyMWJmM2NjYzY5%40thread.v2/0?context=%7b%22Tid%22%3a%2272f988bf-86f1-41af-91ab-2d7cd011db47%22%2c%22Oid%22%3a%22d1bb3ff6-bb6f-45f5-a1bb-9b315a4517c4%22%7d" TargetMode="External"/><Relationship Id="rId5" Type="http://schemas.openxmlformats.org/officeDocument/2006/relationships/hyperlink" Target="https://microsoft-my.sharepoint.com/:x:/p/jonsontsai/cQrggOid_HAcQ5JrowIkiEWZEgUC8zhSzi21xuv0aEfYjgkx8w" TargetMode="External"/><Relationship Id="rId4" Type="http://schemas.openxmlformats.org/officeDocument/2006/relationships/hyperlink" Target="https://teams.microsoft.com/l/entity/0d820ecd-def2-4297-adad-78056cde7c78/_djb2_msteams_prefix_1975940044?context=%7B%22chatId%22%3A%2219%3Ac918aa17ca3b4595841f843b7ce076b7%40thread.v2%22%2C%22contextType%22%3A%22chat%22%7D&amp;tenantId=72f988bf-86f1-41af-91ab-2d7cd011db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029200" cy="5029200"/>
          </a:xfrm>
          <a:prstGeom prst="ellipse">
            <a:avLst/>
          </a:prstGeom>
          <a:solidFill>
            <a:srgbClr val="50B0F0">
              <a:alpha val="20000"/>
            </a:srgbClr>
          </a:solidFill>
          <a:ln/>
        </p:spPr>
        <p:txBody>
          <a:bodyPr/>
          <a:lstStyle/>
          <a:p>
            <a:endParaRPr lang="en-US"/>
          </a:p>
        </p:txBody>
      </p:sp>
      <p:sp>
        <p:nvSpPr>
          <p:cNvPr id="3" name="Shape 1"/>
          <p:cNvSpPr/>
          <p:nvPr/>
        </p:nvSpPr>
        <p:spPr>
          <a:xfrm>
            <a:off x="10515600" y="4114800"/>
            <a:ext cx="3657600" cy="3657600"/>
          </a:xfrm>
          <a:prstGeom prst="ellipse">
            <a:avLst/>
          </a:prstGeom>
          <a:solidFill>
            <a:srgbClr val="00BCF2">
              <a:alpha val="15000"/>
            </a:srgbClr>
          </a:solidFill>
          <a:ln/>
        </p:spPr>
        <p:txBody>
          <a:bodyPr/>
          <a:lstStyle/>
          <a:p>
            <a:endParaRPr lang="en-US"/>
          </a:p>
        </p:txBody>
      </p:sp>
      <p:sp>
        <p:nvSpPr>
          <p:cNvPr id="4" name="Text 2"/>
          <p:cNvSpPr/>
          <p:nvPr/>
        </p:nvSpPr>
        <p:spPr>
          <a:xfrm>
            <a:off x="640080" y="1828800"/>
            <a:ext cx="10058400" cy="457200"/>
          </a:xfrm>
          <a:prstGeom prst="rect">
            <a:avLst/>
          </a:prstGeom>
          <a:noFill/>
          <a:ln/>
        </p:spPr>
        <p:txBody>
          <a:bodyPr wrap="square" lIns="0" tIns="0" rIns="0" bIns="0" rtlCol="0" anchor="ctr"/>
          <a:lstStyle/>
          <a:p>
            <a:pPr marL="0" indent="0">
              <a:buNone/>
            </a:pPr>
            <a:r>
              <a:rPr lang="en-US" sz="2000" b="1" kern="0" spc="400">
                <a:solidFill>
                  <a:srgbClr val="50B0F0"/>
                </a:solidFill>
                <a:latin typeface="Segoe UI Semibold"/>
                <a:ea typeface="Segoe UI Semibold" pitchFamily="34" charset="-122"/>
                <a:cs typeface="Segoe UI Semibold"/>
              </a:rPr>
              <a:t>CAPITAL MARKETS</a:t>
            </a:r>
            <a:endParaRPr lang="en-US" sz="2000"/>
          </a:p>
        </p:txBody>
      </p:sp>
      <p:sp>
        <p:nvSpPr>
          <p:cNvPr id="5" name="Text 3"/>
          <p:cNvSpPr/>
          <p:nvPr/>
        </p:nvSpPr>
        <p:spPr>
          <a:xfrm>
            <a:off x="636306" y="2276565"/>
            <a:ext cx="10834914" cy="1060995"/>
          </a:xfrm>
          <a:prstGeom prst="rect">
            <a:avLst/>
          </a:prstGeom>
          <a:noFill/>
          <a:ln/>
        </p:spPr>
        <p:txBody>
          <a:bodyPr wrap="square" lIns="0" tIns="0" rIns="0" bIns="0" rtlCol="0" anchor="ctr"/>
          <a:lstStyle/>
          <a:p>
            <a:r>
              <a:rPr lang="en-US" sz="4800" b="1">
                <a:solidFill>
                  <a:srgbClr val="FFFFFF"/>
                </a:solidFill>
                <a:latin typeface="Segoe UI Semibold"/>
                <a:cs typeface="Segoe UI Semibold"/>
              </a:rPr>
              <a:t>Cloud &amp; AI Industry &amp; SE Hackathon</a:t>
            </a:r>
            <a:endParaRPr lang="en-US" sz="4800"/>
          </a:p>
        </p:txBody>
      </p:sp>
      <p:sp>
        <p:nvSpPr>
          <p:cNvPr id="6" name="Shape 4"/>
          <p:cNvSpPr/>
          <p:nvPr/>
        </p:nvSpPr>
        <p:spPr>
          <a:xfrm>
            <a:off x="685800" y="3520440"/>
            <a:ext cx="640080" cy="45720"/>
          </a:xfrm>
          <a:prstGeom prst="rect">
            <a:avLst/>
          </a:prstGeom>
          <a:solidFill>
            <a:srgbClr val="00BCF2"/>
          </a:solidFill>
          <a:ln/>
        </p:spPr>
        <p:txBody>
          <a:bodyPr/>
          <a:lstStyle/>
          <a:p>
            <a:endParaRPr lang="en-US"/>
          </a:p>
        </p:txBody>
      </p:sp>
      <p:sp>
        <p:nvSpPr>
          <p:cNvPr id="7" name="Text 5"/>
          <p:cNvSpPr/>
          <p:nvPr/>
        </p:nvSpPr>
        <p:spPr>
          <a:xfrm>
            <a:off x="640080" y="3703320"/>
            <a:ext cx="9144000" cy="411480"/>
          </a:xfrm>
          <a:prstGeom prst="rect">
            <a:avLst/>
          </a:prstGeom>
          <a:noFill/>
          <a:ln/>
        </p:spPr>
        <p:txBody>
          <a:bodyPr wrap="square" lIns="0" tIns="0" rIns="0" bIns="0" rtlCol="0" anchor="ctr"/>
          <a:lstStyle/>
          <a:p>
            <a:pPr marL="0" indent="0">
              <a:buNone/>
            </a:pPr>
            <a:r>
              <a:rPr lang="en-US" sz="2400">
                <a:solidFill>
                  <a:srgbClr val="FFFFFF"/>
                </a:solidFill>
                <a:latin typeface="Segoe UI" pitchFamily="34" charset="0"/>
                <a:ea typeface="Segoe UI" pitchFamily="34" charset="-122"/>
                <a:cs typeface="Segoe UI" pitchFamily="34" charset="-120"/>
              </a:rPr>
              <a:t>Kickoff</a:t>
            </a:r>
            <a:endParaRPr lang="en-US" sz="2400"/>
          </a:p>
        </p:txBody>
      </p:sp>
      <p:sp>
        <p:nvSpPr>
          <p:cNvPr id="8" name="Text 6"/>
          <p:cNvSpPr/>
          <p:nvPr/>
        </p:nvSpPr>
        <p:spPr>
          <a:xfrm>
            <a:off x="640080" y="4160520"/>
            <a:ext cx="9144000" cy="365760"/>
          </a:xfrm>
          <a:prstGeom prst="rect">
            <a:avLst/>
          </a:prstGeom>
          <a:noFill/>
          <a:ln/>
        </p:spPr>
        <p:txBody>
          <a:bodyPr wrap="square" lIns="0" tIns="0" rIns="0" bIns="0" rtlCol="0" anchor="ctr"/>
          <a:lstStyle/>
          <a:p>
            <a:pPr marL="0" indent="0">
              <a:buNone/>
            </a:pPr>
            <a:r>
              <a:rPr lang="en-US" sz="1600">
                <a:solidFill>
                  <a:srgbClr val="50B0F0"/>
                </a:solidFill>
                <a:latin typeface="Segoe UI" pitchFamily="34" charset="0"/>
                <a:ea typeface="Segoe UI" pitchFamily="34" charset="-122"/>
                <a:cs typeface="Segoe UI" pitchFamily="34" charset="-120"/>
              </a:rPr>
              <a:t>June 25, 2026</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a:cs typeface="Segoe UI Semibold"/>
              </a:rPr>
              <a:t>Agenda</a:t>
            </a:r>
            <a:endParaRPr lang="en-US"/>
          </a:p>
        </p:txBody>
      </p:sp>
      <p:sp>
        <p:nvSpPr>
          <p:cNvPr id="29" name="Text 27"/>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30" name="Text 28"/>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2</a:t>
            </a:r>
            <a:endParaRPr lang="en-US" sz="900"/>
          </a:p>
        </p:txBody>
      </p:sp>
      <p:sp>
        <p:nvSpPr>
          <p:cNvPr id="32" name="TextBox 31">
            <a:extLst>
              <a:ext uri="{FF2B5EF4-FFF2-40B4-BE49-F238E27FC236}">
                <a16:creationId xmlns:a16="http://schemas.microsoft.com/office/drawing/2014/main" id="{A10AD0B8-7645-6CF9-0F6F-5C80446B562F}"/>
              </a:ext>
            </a:extLst>
          </p:cNvPr>
          <p:cNvSpPr txBox="1"/>
          <p:nvPr/>
        </p:nvSpPr>
        <p:spPr>
          <a:xfrm>
            <a:off x="451884" y="1497418"/>
            <a:ext cx="10375604"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200000"/>
              </a:lnSpc>
              <a:buFontTx/>
              <a:buAutoNum type="arabicPeriod"/>
            </a:pPr>
            <a:r>
              <a:rPr lang="en-US" sz="2400">
                <a:latin typeface="Segoe UI"/>
                <a:ea typeface="Calibri" panose="020F0502020204030204"/>
                <a:cs typeface="Segoe UI"/>
              </a:rPr>
              <a:t>Intro and Welcome [5 min]</a:t>
            </a:r>
          </a:p>
          <a:p>
            <a:pPr marL="342900" indent="-342900">
              <a:lnSpc>
                <a:spcPct val="200000"/>
              </a:lnSpc>
              <a:buFontTx/>
              <a:buAutoNum type="arabicPeriod"/>
            </a:pPr>
            <a:r>
              <a:rPr lang="en-US" sz="2400">
                <a:latin typeface="Segoe UI"/>
                <a:ea typeface="Calibri" panose="020F0502020204030204"/>
                <a:cs typeface="Segoe UI"/>
              </a:rPr>
              <a:t>Pod Assignments [5 min]</a:t>
            </a:r>
          </a:p>
          <a:p>
            <a:pPr marL="342900" indent="-342900">
              <a:lnSpc>
                <a:spcPct val="200000"/>
              </a:lnSpc>
              <a:buFontTx/>
              <a:buAutoNum type="arabicPeriod"/>
            </a:pPr>
            <a:r>
              <a:rPr lang="en-US" sz="2400">
                <a:latin typeface="Segoe UI"/>
                <a:ea typeface="Calibri" panose="020F0502020204030204"/>
                <a:cs typeface="Segoe UI"/>
              </a:rPr>
              <a:t>Hackathon plan and execution [10 min]</a:t>
            </a:r>
          </a:p>
          <a:p>
            <a:pPr marL="342900" indent="-342900">
              <a:lnSpc>
                <a:spcPct val="200000"/>
              </a:lnSpc>
              <a:buAutoNum type="arabicPeriod"/>
            </a:pPr>
            <a:r>
              <a:rPr lang="en-US" sz="2400">
                <a:latin typeface="Segoe UI"/>
                <a:ea typeface="Calibri" panose="020F0502020204030204"/>
                <a:cs typeface="Segoe UI"/>
              </a:rPr>
              <a:t>Capital Markets Landscape in FY27 [10 min]</a:t>
            </a:r>
          </a:p>
          <a:p>
            <a:pPr marL="342900" indent="-342900">
              <a:lnSpc>
                <a:spcPct val="200000"/>
              </a:lnSpc>
              <a:buAutoNum type="arabicPeriod"/>
            </a:pPr>
            <a:r>
              <a:rPr lang="en-US" sz="2400">
                <a:latin typeface="Segoe UI"/>
                <a:ea typeface="Calibri" panose="020F0502020204030204"/>
                <a:cs typeface="Segoe UI"/>
              </a:rPr>
              <a:t>Challenges for Hackathon [30 min]</a:t>
            </a:r>
          </a:p>
          <a:p>
            <a:pPr marL="342900" indent="-342900">
              <a:lnSpc>
                <a:spcPct val="200000"/>
              </a:lnSpc>
              <a:buAutoNum type="arabicPeriod"/>
            </a:pPr>
            <a:r>
              <a:rPr lang="en-US" sz="2400">
                <a:latin typeface="Segoe UI"/>
                <a:ea typeface="Calibri" panose="020F0502020204030204"/>
                <a:cs typeface="Segoe UI"/>
              </a:rPr>
              <a:t>Pod Breakouts – SE Discovery and Challenge Definition [60 min]</a:t>
            </a:r>
          </a:p>
          <a:p>
            <a:pPr marL="342900" indent="-342900">
              <a:lnSpc>
                <a:spcPct val="200000"/>
              </a:lnSpc>
              <a:buAutoNum type="arabicPeriod"/>
            </a:pPr>
            <a:endParaRPr lang="en-US" sz="2400">
              <a:latin typeface="Segoe UI"/>
              <a:ea typeface="Calibri" panose="020F0502020204030204"/>
              <a:cs typeface="Segoe UI"/>
            </a:endParaRPr>
          </a:p>
          <a:p>
            <a:pPr marL="342900" indent="-342900">
              <a:buAutoNum type="arabicPeriod"/>
            </a:pPr>
            <a:endParaRPr lang="en-US" sz="2400">
              <a:latin typeface="Segoe UI"/>
              <a:ea typeface="Calibri" panose="020F0502020204030204"/>
              <a:cs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DB990872-55D8-3F42-6831-204EECB58A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E7ACF0B-C0DF-E443-66B5-3863BDDFE373}"/>
              </a:ext>
            </a:extLst>
          </p:cNvPr>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WELCOME</a:t>
            </a:r>
            <a:endParaRPr lang="en-US" sz="1200"/>
          </a:p>
        </p:txBody>
      </p:sp>
      <p:sp>
        <p:nvSpPr>
          <p:cNvPr id="3" name="Text 1">
            <a:extLst>
              <a:ext uri="{FF2B5EF4-FFF2-40B4-BE49-F238E27FC236}">
                <a16:creationId xmlns:a16="http://schemas.microsoft.com/office/drawing/2014/main" id="{B9C069DE-52B8-5635-1FC9-6141078B163A}"/>
              </a:ext>
            </a:extLst>
          </p:cNvPr>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Amazing FY26. Now let’s build FY27.</a:t>
            </a:r>
            <a:endParaRPr lang="en-US" sz="2800"/>
          </a:p>
        </p:txBody>
      </p:sp>
      <p:sp>
        <p:nvSpPr>
          <p:cNvPr id="4" name="Text 2">
            <a:extLst>
              <a:ext uri="{FF2B5EF4-FFF2-40B4-BE49-F238E27FC236}">
                <a16:creationId xmlns:a16="http://schemas.microsoft.com/office/drawing/2014/main" id="{9555E134-3AE4-13E8-213F-A9D0BA6AAE8C}"/>
              </a:ext>
            </a:extLst>
          </p:cNvPr>
          <p:cNvSpPr/>
          <p:nvPr/>
        </p:nvSpPr>
        <p:spPr>
          <a:xfrm>
            <a:off x="457200" y="1417320"/>
            <a:ext cx="11247120" cy="640080"/>
          </a:xfrm>
          <a:prstGeom prst="rect">
            <a:avLst/>
          </a:prstGeom>
          <a:noFill/>
          <a:ln/>
        </p:spPr>
        <p:txBody>
          <a:bodyPr wrap="square" lIns="0" tIns="0" rIns="0" bIns="0" rtlCol="0" anchor="t"/>
          <a:lstStyle/>
          <a:p>
            <a:pPr marL="0" indent="0">
              <a:buNone/>
            </a:pPr>
            <a:r>
              <a:rPr lang="en-US" sz="1500">
                <a:solidFill>
                  <a:srgbClr val="4B5563"/>
                </a:solidFill>
                <a:latin typeface="Segoe UI" pitchFamily="34" charset="0"/>
                <a:ea typeface="Segoe UI" pitchFamily="34" charset="-122"/>
                <a:cs typeface="Segoe UI" pitchFamily="34" charset="-120"/>
              </a:rPr>
              <a:t>A strong, transitional FY26 set a high bar. Heading into FY27, we win by working as one Capital Markets team — pairing deep industry expertise with strong technical solutions for every customer.</a:t>
            </a:r>
            <a:endParaRPr lang="en-US" sz="1500"/>
          </a:p>
        </p:txBody>
      </p:sp>
      <p:sp>
        <p:nvSpPr>
          <p:cNvPr id="5" name="Shape 3">
            <a:extLst>
              <a:ext uri="{FF2B5EF4-FFF2-40B4-BE49-F238E27FC236}">
                <a16:creationId xmlns:a16="http://schemas.microsoft.com/office/drawing/2014/main" id="{6DD22C1B-EB39-5AF6-FF94-2D724AAB05D3}"/>
              </a:ext>
            </a:extLst>
          </p:cNvPr>
          <p:cNvSpPr/>
          <p:nvPr/>
        </p:nvSpPr>
        <p:spPr>
          <a:xfrm>
            <a:off x="457200" y="2286000"/>
            <a:ext cx="2674620" cy="3383280"/>
          </a:xfrm>
          <a:prstGeom prst="rect">
            <a:avLst/>
          </a:prstGeom>
          <a:solidFill>
            <a:srgbClr val="FFFFFF"/>
          </a:solidFill>
          <a:ln w="9525">
            <a:solidFill>
              <a:srgbClr val="D1D5DB"/>
            </a:solidFill>
            <a:prstDash val="solid"/>
          </a:ln>
        </p:spPr>
        <p:txBody>
          <a:bodyPr/>
          <a:lstStyle/>
          <a:p>
            <a:endParaRPr lang="en-US"/>
          </a:p>
        </p:txBody>
      </p:sp>
      <p:sp>
        <p:nvSpPr>
          <p:cNvPr id="6" name="Shape 4">
            <a:extLst>
              <a:ext uri="{FF2B5EF4-FFF2-40B4-BE49-F238E27FC236}">
                <a16:creationId xmlns:a16="http://schemas.microsoft.com/office/drawing/2014/main" id="{F4A5DE74-D679-0D1A-43E1-935115424686}"/>
              </a:ext>
            </a:extLst>
          </p:cNvPr>
          <p:cNvSpPr/>
          <p:nvPr/>
        </p:nvSpPr>
        <p:spPr>
          <a:xfrm>
            <a:off x="457200" y="2286000"/>
            <a:ext cx="2674620" cy="109728"/>
          </a:xfrm>
          <a:prstGeom prst="rect">
            <a:avLst/>
          </a:prstGeom>
          <a:solidFill>
            <a:srgbClr val="0078D4"/>
          </a:solidFill>
          <a:ln/>
        </p:spPr>
        <p:txBody>
          <a:bodyPr/>
          <a:lstStyle/>
          <a:p>
            <a:endParaRPr lang="en-US"/>
          </a:p>
        </p:txBody>
      </p:sp>
      <p:sp>
        <p:nvSpPr>
          <p:cNvPr id="7" name="Text 5">
            <a:extLst>
              <a:ext uri="{FF2B5EF4-FFF2-40B4-BE49-F238E27FC236}">
                <a16:creationId xmlns:a16="http://schemas.microsoft.com/office/drawing/2014/main" id="{6246C95A-1302-0ED1-AF41-18F143F4A3F1}"/>
              </a:ext>
            </a:extLst>
          </p:cNvPr>
          <p:cNvSpPr/>
          <p:nvPr/>
        </p:nvSpPr>
        <p:spPr>
          <a:xfrm>
            <a:off x="731520" y="2606040"/>
            <a:ext cx="2125980" cy="640080"/>
          </a:xfrm>
          <a:prstGeom prst="rect">
            <a:avLst/>
          </a:prstGeom>
          <a:noFill/>
          <a:ln/>
        </p:spPr>
        <p:txBody>
          <a:bodyPr wrap="square" lIns="0" tIns="0" rIns="0" bIns="0" rtlCol="0" anchor="ctr"/>
          <a:lstStyle/>
          <a:p>
            <a:pPr marL="0" indent="0">
              <a:buNone/>
            </a:pPr>
            <a:r>
              <a:rPr lang="en-US" sz="3400" b="1">
                <a:solidFill>
                  <a:srgbClr val="50B0F0"/>
                </a:solidFill>
                <a:latin typeface="Segoe UI Semibold" pitchFamily="34" charset="0"/>
                <a:ea typeface="Segoe UI Semibold" pitchFamily="34" charset="-122"/>
                <a:cs typeface="Segoe UI Semibold" pitchFamily="34" charset="-120"/>
              </a:rPr>
              <a:t>01</a:t>
            </a:r>
            <a:endParaRPr lang="en-US" sz="3400"/>
          </a:p>
        </p:txBody>
      </p:sp>
      <p:sp>
        <p:nvSpPr>
          <p:cNvPr id="8" name="Text 6">
            <a:extLst>
              <a:ext uri="{FF2B5EF4-FFF2-40B4-BE49-F238E27FC236}">
                <a16:creationId xmlns:a16="http://schemas.microsoft.com/office/drawing/2014/main" id="{9BDF9B11-4738-CEF2-7F72-327B582A6558}"/>
              </a:ext>
            </a:extLst>
          </p:cNvPr>
          <p:cNvSpPr/>
          <p:nvPr/>
        </p:nvSpPr>
        <p:spPr>
          <a:xfrm>
            <a:off x="731520" y="3337560"/>
            <a:ext cx="2125980" cy="64008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Strengthen our team</a:t>
            </a:r>
            <a:endParaRPr lang="en-US" sz="1600"/>
          </a:p>
        </p:txBody>
      </p:sp>
      <p:sp>
        <p:nvSpPr>
          <p:cNvPr id="9" name="Shape 7">
            <a:extLst>
              <a:ext uri="{FF2B5EF4-FFF2-40B4-BE49-F238E27FC236}">
                <a16:creationId xmlns:a16="http://schemas.microsoft.com/office/drawing/2014/main" id="{F6B2C160-19DB-FE9C-D424-6DE32631B3DE}"/>
              </a:ext>
            </a:extLst>
          </p:cNvPr>
          <p:cNvSpPr/>
          <p:nvPr/>
        </p:nvSpPr>
        <p:spPr>
          <a:xfrm>
            <a:off x="731520" y="3977640"/>
            <a:ext cx="365760" cy="27432"/>
          </a:xfrm>
          <a:prstGeom prst="rect">
            <a:avLst/>
          </a:prstGeom>
          <a:solidFill>
            <a:srgbClr val="00BCF2"/>
          </a:solidFill>
          <a:ln/>
        </p:spPr>
        <p:txBody>
          <a:bodyPr/>
          <a:lstStyle/>
          <a:p>
            <a:endParaRPr lang="en-US"/>
          </a:p>
        </p:txBody>
      </p:sp>
      <p:sp>
        <p:nvSpPr>
          <p:cNvPr id="10" name="Text 8">
            <a:extLst>
              <a:ext uri="{FF2B5EF4-FFF2-40B4-BE49-F238E27FC236}">
                <a16:creationId xmlns:a16="http://schemas.microsoft.com/office/drawing/2014/main" id="{1B1989CA-6238-F10A-2D00-4011C95146E9}"/>
              </a:ext>
            </a:extLst>
          </p:cNvPr>
          <p:cNvSpPr/>
          <p:nvPr/>
        </p:nvSpPr>
        <p:spPr>
          <a:xfrm>
            <a:off x="731520" y="4114800"/>
            <a:ext cx="2125980" cy="1371600"/>
          </a:xfrm>
          <a:prstGeom prst="rect">
            <a:avLst/>
          </a:prstGeom>
          <a:noFill/>
          <a:ln/>
        </p:spPr>
        <p:txBody>
          <a:bodyPr wrap="square" lIns="0" tIns="0" rIns="0" bIns="0" rtlCol="0" anchor="t"/>
          <a:lstStyle/>
          <a:p>
            <a:pPr marL="0" indent="0">
              <a:buNone/>
            </a:pPr>
            <a:r>
              <a:rPr lang="en-US" sz="1200">
                <a:solidFill>
                  <a:srgbClr val="4B5563"/>
                </a:solidFill>
                <a:latin typeface="Segoe UI" pitchFamily="34" charset="0"/>
                <a:ea typeface="Segoe UI" pitchFamily="34" charset="-122"/>
                <a:cs typeface="Segoe UI" pitchFamily="34" charset="-120"/>
              </a:rPr>
              <a:t>Deepen relationships across the operating unit and build trust between IAs and SEs.</a:t>
            </a:r>
            <a:endParaRPr lang="en-US" sz="1200"/>
          </a:p>
        </p:txBody>
      </p:sp>
      <p:sp>
        <p:nvSpPr>
          <p:cNvPr id="11" name="Shape 9">
            <a:extLst>
              <a:ext uri="{FF2B5EF4-FFF2-40B4-BE49-F238E27FC236}">
                <a16:creationId xmlns:a16="http://schemas.microsoft.com/office/drawing/2014/main" id="{A04D350A-AC47-62D7-1221-5D075B42782E}"/>
              </a:ext>
            </a:extLst>
          </p:cNvPr>
          <p:cNvSpPr/>
          <p:nvPr/>
        </p:nvSpPr>
        <p:spPr>
          <a:xfrm>
            <a:off x="3314700" y="2286000"/>
            <a:ext cx="2674620" cy="3383280"/>
          </a:xfrm>
          <a:prstGeom prst="rect">
            <a:avLst/>
          </a:prstGeom>
          <a:solidFill>
            <a:srgbClr val="FFFFFF"/>
          </a:solidFill>
          <a:ln w="9525">
            <a:solidFill>
              <a:srgbClr val="D1D5DB"/>
            </a:solidFill>
            <a:prstDash val="solid"/>
          </a:ln>
        </p:spPr>
        <p:txBody>
          <a:bodyPr/>
          <a:lstStyle/>
          <a:p>
            <a:endParaRPr lang="en-US"/>
          </a:p>
        </p:txBody>
      </p:sp>
      <p:sp>
        <p:nvSpPr>
          <p:cNvPr id="12" name="Shape 10">
            <a:extLst>
              <a:ext uri="{FF2B5EF4-FFF2-40B4-BE49-F238E27FC236}">
                <a16:creationId xmlns:a16="http://schemas.microsoft.com/office/drawing/2014/main" id="{C259DC27-5E21-1CEF-B93B-9368D08E6E96}"/>
              </a:ext>
            </a:extLst>
          </p:cNvPr>
          <p:cNvSpPr/>
          <p:nvPr/>
        </p:nvSpPr>
        <p:spPr>
          <a:xfrm>
            <a:off x="3314700" y="2286000"/>
            <a:ext cx="2674620" cy="109728"/>
          </a:xfrm>
          <a:prstGeom prst="rect">
            <a:avLst/>
          </a:prstGeom>
          <a:solidFill>
            <a:srgbClr val="0078D4"/>
          </a:solidFill>
          <a:ln/>
        </p:spPr>
        <p:txBody>
          <a:bodyPr/>
          <a:lstStyle/>
          <a:p>
            <a:endParaRPr lang="en-US"/>
          </a:p>
        </p:txBody>
      </p:sp>
      <p:sp>
        <p:nvSpPr>
          <p:cNvPr id="13" name="Text 11">
            <a:extLst>
              <a:ext uri="{FF2B5EF4-FFF2-40B4-BE49-F238E27FC236}">
                <a16:creationId xmlns:a16="http://schemas.microsoft.com/office/drawing/2014/main" id="{EFC5DCFA-B509-0A89-F077-6C8FA490C833}"/>
              </a:ext>
            </a:extLst>
          </p:cNvPr>
          <p:cNvSpPr/>
          <p:nvPr/>
        </p:nvSpPr>
        <p:spPr>
          <a:xfrm>
            <a:off x="3589020" y="2606040"/>
            <a:ext cx="2125980" cy="640080"/>
          </a:xfrm>
          <a:prstGeom prst="rect">
            <a:avLst/>
          </a:prstGeom>
          <a:noFill/>
          <a:ln/>
        </p:spPr>
        <p:txBody>
          <a:bodyPr wrap="square" lIns="0" tIns="0" rIns="0" bIns="0" rtlCol="0" anchor="ctr"/>
          <a:lstStyle/>
          <a:p>
            <a:pPr marL="0" indent="0">
              <a:buNone/>
            </a:pPr>
            <a:r>
              <a:rPr lang="en-US" sz="3400" b="1">
                <a:solidFill>
                  <a:srgbClr val="50B0F0"/>
                </a:solidFill>
                <a:latin typeface="Segoe UI Semibold" pitchFamily="34" charset="0"/>
                <a:ea typeface="Segoe UI Semibold" pitchFamily="34" charset="-122"/>
                <a:cs typeface="Segoe UI Semibold" pitchFamily="34" charset="-120"/>
              </a:rPr>
              <a:t>02</a:t>
            </a:r>
            <a:endParaRPr lang="en-US" sz="3400"/>
          </a:p>
        </p:txBody>
      </p:sp>
      <p:sp>
        <p:nvSpPr>
          <p:cNvPr id="14" name="Text 12">
            <a:extLst>
              <a:ext uri="{FF2B5EF4-FFF2-40B4-BE49-F238E27FC236}">
                <a16:creationId xmlns:a16="http://schemas.microsoft.com/office/drawing/2014/main" id="{D97649C9-1EEB-988F-9F4B-3CCE334D310C}"/>
              </a:ext>
            </a:extLst>
          </p:cNvPr>
          <p:cNvSpPr/>
          <p:nvPr/>
        </p:nvSpPr>
        <p:spPr>
          <a:xfrm>
            <a:off x="3589020" y="3337560"/>
            <a:ext cx="2125980" cy="64008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Shared understanding</a:t>
            </a:r>
            <a:endParaRPr lang="en-US" sz="1600"/>
          </a:p>
        </p:txBody>
      </p:sp>
      <p:sp>
        <p:nvSpPr>
          <p:cNvPr id="15" name="Shape 13">
            <a:extLst>
              <a:ext uri="{FF2B5EF4-FFF2-40B4-BE49-F238E27FC236}">
                <a16:creationId xmlns:a16="http://schemas.microsoft.com/office/drawing/2014/main" id="{F96320BD-657A-CD91-43ED-2039F1DCFC9B}"/>
              </a:ext>
            </a:extLst>
          </p:cNvPr>
          <p:cNvSpPr/>
          <p:nvPr/>
        </p:nvSpPr>
        <p:spPr>
          <a:xfrm>
            <a:off x="3589020" y="3977640"/>
            <a:ext cx="365760" cy="27432"/>
          </a:xfrm>
          <a:prstGeom prst="rect">
            <a:avLst/>
          </a:prstGeom>
          <a:solidFill>
            <a:srgbClr val="00BCF2"/>
          </a:solidFill>
          <a:ln/>
        </p:spPr>
        <p:txBody>
          <a:bodyPr/>
          <a:lstStyle/>
          <a:p>
            <a:endParaRPr lang="en-US"/>
          </a:p>
        </p:txBody>
      </p:sp>
      <p:sp>
        <p:nvSpPr>
          <p:cNvPr id="16" name="Text 14">
            <a:extLst>
              <a:ext uri="{FF2B5EF4-FFF2-40B4-BE49-F238E27FC236}">
                <a16:creationId xmlns:a16="http://schemas.microsoft.com/office/drawing/2014/main" id="{A6D300C4-8AB9-70EB-5EA1-8386CAC3E0F7}"/>
              </a:ext>
            </a:extLst>
          </p:cNvPr>
          <p:cNvSpPr/>
          <p:nvPr/>
        </p:nvSpPr>
        <p:spPr>
          <a:xfrm>
            <a:off x="3589020" y="4114800"/>
            <a:ext cx="2125980" cy="1371600"/>
          </a:xfrm>
          <a:prstGeom prst="rect">
            <a:avLst/>
          </a:prstGeom>
          <a:noFill/>
          <a:ln/>
        </p:spPr>
        <p:txBody>
          <a:bodyPr wrap="square" lIns="0" tIns="0" rIns="0" bIns="0" rtlCol="0" anchor="t"/>
          <a:lstStyle/>
          <a:p>
            <a:pPr marL="0" indent="0">
              <a:buNone/>
            </a:pPr>
            <a:r>
              <a:rPr lang="en-US" sz="1200">
                <a:solidFill>
                  <a:srgbClr val="4B5563"/>
                </a:solidFill>
                <a:latin typeface="Segoe UI" pitchFamily="34" charset="0"/>
                <a:ea typeface="Segoe UI" pitchFamily="34" charset="-122"/>
                <a:cs typeface="Segoe UI" pitchFamily="34" charset="-120"/>
              </a:rPr>
              <a:t>Build a common view of the trends and challenges shaping Capital Markets.</a:t>
            </a:r>
            <a:endParaRPr lang="en-US" sz="1200"/>
          </a:p>
        </p:txBody>
      </p:sp>
      <p:sp>
        <p:nvSpPr>
          <p:cNvPr id="17" name="Shape 15">
            <a:extLst>
              <a:ext uri="{FF2B5EF4-FFF2-40B4-BE49-F238E27FC236}">
                <a16:creationId xmlns:a16="http://schemas.microsoft.com/office/drawing/2014/main" id="{FE0D6108-F947-C11C-DA69-BE347C4AE704}"/>
              </a:ext>
            </a:extLst>
          </p:cNvPr>
          <p:cNvSpPr/>
          <p:nvPr/>
        </p:nvSpPr>
        <p:spPr>
          <a:xfrm>
            <a:off x="6172200" y="2286000"/>
            <a:ext cx="2674620" cy="3383280"/>
          </a:xfrm>
          <a:prstGeom prst="rect">
            <a:avLst/>
          </a:prstGeom>
          <a:solidFill>
            <a:srgbClr val="FFFFFF"/>
          </a:solidFill>
          <a:ln w="9525">
            <a:solidFill>
              <a:srgbClr val="D1D5DB"/>
            </a:solidFill>
            <a:prstDash val="solid"/>
          </a:ln>
        </p:spPr>
        <p:txBody>
          <a:bodyPr/>
          <a:lstStyle/>
          <a:p>
            <a:endParaRPr lang="en-US"/>
          </a:p>
        </p:txBody>
      </p:sp>
      <p:sp>
        <p:nvSpPr>
          <p:cNvPr id="18" name="Shape 16">
            <a:extLst>
              <a:ext uri="{FF2B5EF4-FFF2-40B4-BE49-F238E27FC236}">
                <a16:creationId xmlns:a16="http://schemas.microsoft.com/office/drawing/2014/main" id="{58B75B0A-5F17-6AFE-F2EF-0A7819FBE401}"/>
              </a:ext>
            </a:extLst>
          </p:cNvPr>
          <p:cNvSpPr/>
          <p:nvPr/>
        </p:nvSpPr>
        <p:spPr>
          <a:xfrm>
            <a:off x="6172200" y="2286000"/>
            <a:ext cx="2674620" cy="109728"/>
          </a:xfrm>
          <a:prstGeom prst="rect">
            <a:avLst/>
          </a:prstGeom>
          <a:solidFill>
            <a:srgbClr val="0078D4"/>
          </a:solidFill>
          <a:ln/>
        </p:spPr>
        <p:txBody>
          <a:bodyPr/>
          <a:lstStyle/>
          <a:p>
            <a:endParaRPr lang="en-US"/>
          </a:p>
        </p:txBody>
      </p:sp>
      <p:sp>
        <p:nvSpPr>
          <p:cNvPr id="19" name="Text 17">
            <a:extLst>
              <a:ext uri="{FF2B5EF4-FFF2-40B4-BE49-F238E27FC236}">
                <a16:creationId xmlns:a16="http://schemas.microsoft.com/office/drawing/2014/main" id="{D77F1E2D-57F9-8D3E-F826-B91FAD497487}"/>
              </a:ext>
            </a:extLst>
          </p:cNvPr>
          <p:cNvSpPr/>
          <p:nvPr/>
        </p:nvSpPr>
        <p:spPr>
          <a:xfrm>
            <a:off x="6446520" y="2606040"/>
            <a:ext cx="2125980" cy="640080"/>
          </a:xfrm>
          <a:prstGeom prst="rect">
            <a:avLst/>
          </a:prstGeom>
          <a:noFill/>
          <a:ln/>
        </p:spPr>
        <p:txBody>
          <a:bodyPr wrap="square" lIns="0" tIns="0" rIns="0" bIns="0" rtlCol="0" anchor="ctr"/>
          <a:lstStyle/>
          <a:p>
            <a:pPr marL="0" indent="0">
              <a:buNone/>
            </a:pPr>
            <a:r>
              <a:rPr lang="en-US" sz="3400" b="1">
                <a:solidFill>
                  <a:srgbClr val="50B0F0"/>
                </a:solidFill>
                <a:latin typeface="Segoe UI Semibold" pitchFamily="34" charset="0"/>
                <a:ea typeface="Segoe UI Semibold" pitchFamily="34" charset="-122"/>
                <a:cs typeface="Segoe UI Semibold" pitchFamily="34" charset="-120"/>
              </a:rPr>
              <a:t>03</a:t>
            </a:r>
            <a:endParaRPr lang="en-US" sz="3400"/>
          </a:p>
        </p:txBody>
      </p:sp>
      <p:sp>
        <p:nvSpPr>
          <p:cNvPr id="20" name="Text 18">
            <a:extLst>
              <a:ext uri="{FF2B5EF4-FFF2-40B4-BE49-F238E27FC236}">
                <a16:creationId xmlns:a16="http://schemas.microsoft.com/office/drawing/2014/main" id="{F846A514-1BF3-475B-955E-8EB8D1B247D8}"/>
              </a:ext>
            </a:extLst>
          </p:cNvPr>
          <p:cNvSpPr/>
          <p:nvPr/>
        </p:nvSpPr>
        <p:spPr>
          <a:xfrm>
            <a:off x="6446520" y="3337560"/>
            <a:ext cx="2125980" cy="64008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Sharpen our craft</a:t>
            </a:r>
            <a:endParaRPr lang="en-US" sz="1600"/>
          </a:p>
        </p:txBody>
      </p:sp>
      <p:sp>
        <p:nvSpPr>
          <p:cNvPr id="21" name="Shape 19">
            <a:extLst>
              <a:ext uri="{FF2B5EF4-FFF2-40B4-BE49-F238E27FC236}">
                <a16:creationId xmlns:a16="http://schemas.microsoft.com/office/drawing/2014/main" id="{D431F998-BCE4-0FEB-E5FA-E224FBB51C6D}"/>
              </a:ext>
            </a:extLst>
          </p:cNvPr>
          <p:cNvSpPr/>
          <p:nvPr/>
        </p:nvSpPr>
        <p:spPr>
          <a:xfrm>
            <a:off x="6446520" y="3977640"/>
            <a:ext cx="365760" cy="27432"/>
          </a:xfrm>
          <a:prstGeom prst="rect">
            <a:avLst/>
          </a:prstGeom>
          <a:solidFill>
            <a:srgbClr val="00BCF2"/>
          </a:solidFill>
          <a:ln/>
        </p:spPr>
        <p:txBody>
          <a:bodyPr/>
          <a:lstStyle/>
          <a:p>
            <a:endParaRPr lang="en-US"/>
          </a:p>
        </p:txBody>
      </p:sp>
      <p:sp>
        <p:nvSpPr>
          <p:cNvPr id="22" name="Text 20">
            <a:extLst>
              <a:ext uri="{FF2B5EF4-FFF2-40B4-BE49-F238E27FC236}">
                <a16:creationId xmlns:a16="http://schemas.microsoft.com/office/drawing/2014/main" id="{91942EB0-19E4-1786-26BB-923BF20BE466}"/>
              </a:ext>
            </a:extLst>
          </p:cNvPr>
          <p:cNvSpPr/>
          <p:nvPr/>
        </p:nvSpPr>
        <p:spPr>
          <a:xfrm>
            <a:off x="6446520" y="4114800"/>
            <a:ext cx="2125980" cy="1371600"/>
          </a:xfrm>
          <a:prstGeom prst="rect">
            <a:avLst/>
          </a:prstGeom>
          <a:noFill/>
          <a:ln/>
        </p:spPr>
        <p:txBody>
          <a:bodyPr wrap="square" lIns="0" tIns="0" rIns="0" bIns="0" rtlCol="0" anchor="t"/>
          <a:lstStyle/>
          <a:p>
            <a:pPr marL="0" indent="0">
              <a:buNone/>
            </a:pPr>
            <a:r>
              <a:rPr lang="en-US" sz="1200">
                <a:solidFill>
                  <a:srgbClr val="4B5563"/>
                </a:solidFill>
                <a:latin typeface="Segoe UI" pitchFamily="34" charset="0"/>
                <a:ea typeface="Segoe UI" pitchFamily="34" charset="-122"/>
                <a:cs typeface="Segoe UI" pitchFamily="34" charset="-120"/>
              </a:rPr>
              <a:t>Practice discovery and value-driven selling skills on real customer problems.</a:t>
            </a:r>
            <a:endParaRPr lang="en-US" sz="1200"/>
          </a:p>
        </p:txBody>
      </p:sp>
      <p:sp>
        <p:nvSpPr>
          <p:cNvPr id="23" name="Shape 21">
            <a:extLst>
              <a:ext uri="{FF2B5EF4-FFF2-40B4-BE49-F238E27FC236}">
                <a16:creationId xmlns:a16="http://schemas.microsoft.com/office/drawing/2014/main" id="{AC7001D3-7D66-C5A8-0AF0-BF86116BBDA3}"/>
              </a:ext>
            </a:extLst>
          </p:cNvPr>
          <p:cNvSpPr/>
          <p:nvPr/>
        </p:nvSpPr>
        <p:spPr>
          <a:xfrm>
            <a:off x="9029700" y="2286000"/>
            <a:ext cx="2674620" cy="3383280"/>
          </a:xfrm>
          <a:prstGeom prst="rect">
            <a:avLst/>
          </a:prstGeom>
          <a:solidFill>
            <a:srgbClr val="FFFFFF"/>
          </a:solidFill>
          <a:ln w="9525">
            <a:solidFill>
              <a:srgbClr val="D1D5DB"/>
            </a:solidFill>
            <a:prstDash val="solid"/>
          </a:ln>
        </p:spPr>
        <p:txBody>
          <a:bodyPr/>
          <a:lstStyle/>
          <a:p>
            <a:endParaRPr lang="en-US"/>
          </a:p>
        </p:txBody>
      </p:sp>
      <p:sp>
        <p:nvSpPr>
          <p:cNvPr id="24" name="Shape 22">
            <a:extLst>
              <a:ext uri="{FF2B5EF4-FFF2-40B4-BE49-F238E27FC236}">
                <a16:creationId xmlns:a16="http://schemas.microsoft.com/office/drawing/2014/main" id="{60C88B8F-C4FC-055B-3F53-0CC695461BF4}"/>
              </a:ext>
            </a:extLst>
          </p:cNvPr>
          <p:cNvSpPr/>
          <p:nvPr/>
        </p:nvSpPr>
        <p:spPr>
          <a:xfrm>
            <a:off x="9029700" y="2286000"/>
            <a:ext cx="2674620" cy="109728"/>
          </a:xfrm>
          <a:prstGeom prst="rect">
            <a:avLst/>
          </a:prstGeom>
          <a:solidFill>
            <a:srgbClr val="0078D4"/>
          </a:solidFill>
          <a:ln/>
        </p:spPr>
        <p:txBody>
          <a:bodyPr/>
          <a:lstStyle/>
          <a:p>
            <a:endParaRPr lang="en-US"/>
          </a:p>
        </p:txBody>
      </p:sp>
      <p:sp>
        <p:nvSpPr>
          <p:cNvPr id="25" name="Text 23">
            <a:extLst>
              <a:ext uri="{FF2B5EF4-FFF2-40B4-BE49-F238E27FC236}">
                <a16:creationId xmlns:a16="http://schemas.microsoft.com/office/drawing/2014/main" id="{F6AB71FF-7872-9495-9125-A1C267478699}"/>
              </a:ext>
            </a:extLst>
          </p:cNvPr>
          <p:cNvSpPr/>
          <p:nvPr/>
        </p:nvSpPr>
        <p:spPr>
          <a:xfrm>
            <a:off x="9304020" y="2606040"/>
            <a:ext cx="2125980" cy="640080"/>
          </a:xfrm>
          <a:prstGeom prst="rect">
            <a:avLst/>
          </a:prstGeom>
          <a:noFill/>
          <a:ln/>
        </p:spPr>
        <p:txBody>
          <a:bodyPr wrap="square" lIns="0" tIns="0" rIns="0" bIns="0" rtlCol="0" anchor="ctr"/>
          <a:lstStyle/>
          <a:p>
            <a:pPr marL="0" indent="0">
              <a:buNone/>
            </a:pPr>
            <a:r>
              <a:rPr lang="en-US" sz="3400" b="1">
                <a:solidFill>
                  <a:srgbClr val="50B0F0"/>
                </a:solidFill>
                <a:latin typeface="Segoe UI Semibold" pitchFamily="34" charset="0"/>
                <a:ea typeface="Segoe UI Semibold" pitchFamily="34" charset="-122"/>
                <a:cs typeface="Segoe UI Semibold" pitchFamily="34" charset="-120"/>
              </a:rPr>
              <a:t>04</a:t>
            </a:r>
            <a:endParaRPr lang="en-US" sz="3400"/>
          </a:p>
        </p:txBody>
      </p:sp>
      <p:sp>
        <p:nvSpPr>
          <p:cNvPr id="26" name="Text 24">
            <a:extLst>
              <a:ext uri="{FF2B5EF4-FFF2-40B4-BE49-F238E27FC236}">
                <a16:creationId xmlns:a16="http://schemas.microsoft.com/office/drawing/2014/main" id="{6B777362-841A-3FC5-5C13-1B37E5815CB1}"/>
              </a:ext>
            </a:extLst>
          </p:cNvPr>
          <p:cNvSpPr/>
          <p:nvPr/>
        </p:nvSpPr>
        <p:spPr>
          <a:xfrm>
            <a:off x="9304020" y="3337560"/>
            <a:ext cx="2125980" cy="64008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Build FY27 pipeline</a:t>
            </a:r>
            <a:endParaRPr lang="en-US" sz="1600"/>
          </a:p>
        </p:txBody>
      </p:sp>
      <p:sp>
        <p:nvSpPr>
          <p:cNvPr id="27" name="Shape 25">
            <a:extLst>
              <a:ext uri="{FF2B5EF4-FFF2-40B4-BE49-F238E27FC236}">
                <a16:creationId xmlns:a16="http://schemas.microsoft.com/office/drawing/2014/main" id="{1ADFF259-DE1E-0994-D282-967FEECAEE01}"/>
              </a:ext>
            </a:extLst>
          </p:cNvPr>
          <p:cNvSpPr/>
          <p:nvPr/>
        </p:nvSpPr>
        <p:spPr>
          <a:xfrm>
            <a:off x="9304020" y="3977640"/>
            <a:ext cx="365760" cy="27432"/>
          </a:xfrm>
          <a:prstGeom prst="rect">
            <a:avLst/>
          </a:prstGeom>
          <a:solidFill>
            <a:srgbClr val="00BCF2"/>
          </a:solidFill>
          <a:ln/>
        </p:spPr>
        <p:txBody>
          <a:bodyPr/>
          <a:lstStyle/>
          <a:p>
            <a:endParaRPr lang="en-US"/>
          </a:p>
        </p:txBody>
      </p:sp>
      <p:sp>
        <p:nvSpPr>
          <p:cNvPr id="28" name="Text 26">
            <a:extLst>
              <a:ext uri="{FF2B5EF4-FFF2-40B4-BE49-F238E27FC236}">
                <a16:creationId xmlns:a16="http://schemas.microsoft.com/office/drawing/2014/main" id="{33550F44-EEA2-7640-CCDD-07CD6BD28DED}"/>
              </a:ext>
            </a:extLst>
          </p:cNvPr>
          <p:cNvSpPr/>
          <p:nvPr/>
        </p:nvSpPr>
        <p:spPr>
          <a:xfrm>
            <a:off x="9304020" y="4114800"/>
            <a:ext cx="2125980" cy="1371600"/>
          </a:xfrm>
          <a:prstGeom prst="rect">
            <a:avLst/>
          </a:prstGeom>
          <a:noFill/>
          <a:ln/>
        </p:spPr>
        <p:txBody>
          <a:bodyPr wrap="square" lIns="0" tIns="0" rIns="0" bIns="0" rtlCol="0" anchor="t"/>
          <a:lstStyle/>
          <a:p>
            <a:pPr marL="0" indent="0">
              <a:buNone/>
            </a:pPr>
            <a:r>
              <a:rPr lang="en-US" sz="1200">
                <a:solidFill>
                  <a:srgbClr val="4B5563"/>
                </a:solidFill>
                <a:latin typeface="Segoe UI" pitchFamily="34" charset="0"/>
                <a:ea typeface="Segoe UI" pitchFamily="34" charset="-122"/>
                <a:cs typeface="Segoe UI" pitchFamily="34" charset="-120"/>
              </a:rPr>
              <a:t>Develop demos and patterns that are repeatable across Capital Markets.</a:t>
            </a:r>
            <a:endParaRPr lang="en-US" sz="1200"/>
          </a:p>
        </p:txBody>
      </p:sp>
      <p:sp>
        <p:nvSpPr>
          <p:cNvPr id="29" name="Text 27">
            <a:extLst>
              <a:ext uri="{FF2B5EF4-FFF2-40B4-BE49-F238E27FC236}">
                <a16:creationId xmlns:a16="http://schemas.microsoft.com/office/drawing/2014/main" id="{178BD551-E8D8-F1FB-7BB6-2158AD4C10F3}"/>
              </a:ext>
            </a:extLst>
          </p:cNvPr>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30" name="Text 28">
            <a:extLst>
              <a:ext uri="{FF2B5EF4-FFF2-40B4-BE49-F238E27FC236}">
                <a16:creationId xmlns:a16="http://schemas.microsoft.com/office/drawing/2014/main" id="{114DFB6B-C985-4713-93E9-CE043467F340}"/>
              </a:ext>
            </a:extLst>
          </p:cNvPr>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2</a:t>
            </a:r>
            <a:endParaRPr lang="en-US" sz="900"/>
          </a:p>
        </p:txBody>
      </p:sp>
    </p:spTree>
    <p:extLst>
      <p:ext uri="{BB962C8B-B14F-4D97-AF65-F5344CB8AC3E}">
        <p14:creationId xmlns:p14="http://schemas.microsoft.com/office/powerpoint/2010/main" val="3303531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B5CCEEB6-AEE7-3451-F2D3-6B8BB1DAC6C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4A61C3-29B9-C7CC-6C61-D5CA8C7C3801}"/>
              </a:ext>
            </a:extLst>
          </p:cNvPr>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WHO’S BUILDING WHAT</a:t>
            </a:r>
            <a:endParaRPr lang="en-US" sz="1200"/>
          </a:p>
        </p:txBody>
      </p:sp>
      <p:sp>
        <p:nvSpPr>
          <p:cNvPr id="3" name="Text 1">
            <a:extLst>
              <a:ext uri="{FF2B5EF4-FFF2-40B4-BE49-F238E27FC236}">
                <a16:creationId xmlns:a16="http://schemas.microsoft.com/office/drawing/2014/main" id="{2E8925FE-9DA8-049F-B831-8B94A24C1624}"/>
              </a:ext>
            </a:extLst>
          </p:cNvPr>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Pod assignments</a:t>
            </a:r>
            <a:endParaRPr lang="en-US" sz="2800"/>
          </a:p>
        </p:txBody>
      </p:sp>
      <p:sp>
        <p:nvSpPr>
          <p:cNvPr id="4" name="Text 2">
            <a:extLst>
              <a:ext uri="{FF2B5EF4-FFF2-40B4-BE49-F238E27FC236}">
                <a16:creationId xmlns:a16="http://schemas.microsoft.com/office/drawing/2014/main" id="{7FF94D95-CFEA-BF8C-9A05-DA06EBF970BE}"/>
              </a:ext>
            </a:extLst>
          </p:cNvPr>
          <p:cNvSpPr/>
          <p:nvPr/>
        </p:nvSpPr>
        <p:spPr>
          <a:xfrm>
            <a:off x="457200" y="1371600"/>
            <a:ext cx="11247120" cy="365760"/>
          </a:xfrm>
          <a:prstGeom prst="rect">
            <a:avLst/>
          </a:prstGeom>
          <a:noFill/>
          <a:ln/>
        </p:spPr>
        <p:txBody>
          <a:bodyPr wrap="square" lIns="0" tIns="0" rIns="0" bIns="0" rtlCol="0" anchor="ctr"/>
          <a:lstStyle/>
          <a:p>
            <a:pPr marL="0" indent="0">
              <a:buNone/>
            </a:pPr>
            <a:r>
              <a:rPr lang="en-US" sz="1400" i="1">
                <a:solidFill>
                  <a:srgbClr val="4B5563"/>
                </a:solidFill>
                <a:latin typeface="Segoe UI"/>
                <a:ea typeface="Segoe UI" pitchFamily="34" charset="-122"/>
                <a:cs typeface="Segoe UI"/>
              </a:rPr>
              <a:t>Each pod pairs an Industry Advisor with Solution Engineers, aligned to a Capital Markets subdivision.</a:t>
            </a:r>
            <a:endParaRPr lang="en-US" sz="1400">
              <a:latin typeface="Segoe UI"/>
              <a:cs typeface="Segoe UI"/>
            </a:endParaRPr>
          </a:p>
        </p:txBody>
      </p:sp>
      <p:sp>
        <p:nvSpPr>
          <p:cNvPr id="5" name="Text 3">
            <a:extLst>
              <a:ext uri="{FF2B5EF4-FFF2-40B4-BE49-F238E27FC236}">
                <a16:creationId xmlns:a16="http://schemas.microsoft.com/office/drawing/2014/main" id="{FE2D1558-E2FF-B8F2-3773-BD7BC46545D2}"/>
              </a:ext>
            </a:extLst>
          </p:cNvPr>
          <p:cNvSpPr/>
          <p:nvPr/>
        </p:nvSpPr>
        <p:spPr>
          <a:xfrm>
            <a:off x="457200" y="1783080"/>
            <a:ext cx="7315200" cy="274320"/>
          </a:xfrm>
          <a:prstGeom prst="rect">
            <a:avLst/>
          </a:prstGeom>
          <a:noFill/>
          <a:ln/>
        </p:spPr>
        <p:txBody>
          <a:bodyPr wrap="square" lIns="0" tIns="0" rIns="0" bIns="0" rtlCol="0" anchor="ctr"/>
          <a:lstStyle/>
          <a:p>
            <a:pPr marL="0" indent="0">
              <a:buNone/>
            </a:pPr>
            <a:endParaRPr lang="en-US" sz="1000"/>
          </a:p>
        </p:txBody>
      </p:sp>
      <p:sp>
        <p:nvSpPr>
          <p:cNvPr id="6" name="Shape 4">
            <a:extLst>
              <a:ext uri="{FF2B5EF4-FFF2-40B4-BE49-F238E27FC236}">
                <a16:creationId xmlns:a16="http://schemas.microsoft.com/office/drawing/2014/main" id="{F741F200-64F5-34B3-3A1A-AC3F9951D001}"/>
              </a:ext>
            </a:extLst>
          </p:cNvPr>
          <p:cNvSpPr/>
          <p:nvPr/>
        </p:nvSpPr>
        <p:spPr>
          <a:xfrm>
            <a:off x="457200" y="2103120"/>
            <a:ext cx="11247120" cy="457200"/>
          </a:xfrm>
          <a:prstGeom prst="rect">
            <a:avLst/>
          </a:prstGeom>
          <a:solidFill>
            <a:srgbClr val="0B2545"/>
          </a:solidFill>
          <a:ln/>
        </p:spPr>
        <p:txBody>
          <a:bodyPr/>
          <a:lstStyle/>
          <a:p>
            <a:endParaRPr lang="en-CA"/>
          </a:p>
        </p:txBody>
      </p:sp>
      <p:sp>
        <p:nvSpPr>
          <p:cNvPr id="7" name="Text 5">
            <a:extLst>
              <a:ext uri="{FF2B5EF4-FFF2-40B4-BE49-F238E27FC236}">
                <a16:creationId xmlns:a16="http://schemas.microsoft.com/office/drawing/2014/main" id="{9E5F293E-97B4-8EEA-71C4-0570354AD117}"/>
              </a:ext>
            </a:extLst>
          </p:cNvPr>
          <p:cNvSpPr/>
          <p:nvPr/>
        </p:nvSpPr>
        <p:spPr>
          <a:xfrm>
            <a:off x="640080" y="2103120"/>
            <a:ext cx="2286000" cy="457200"/>
          </a:xfrm>
          <a:prstGeom prst="rect">
            <a:avLst/>
          </a:prstGeom>
          <a:noFill/>
          <a:ln/>
        </p:spPr>
        <p:txBody>
          <a:bodyPr wrap="square" lIns="0" tIns="0" rIns="0" bIns="0" rtlCol="0" anchor="ctr"/>
          <a:lstStyle/>
          <a:p>
            <a:pPr marL="0" indent="0">
              <a:buNone/>
            </a:pPr>
            <a:r>
              <a:rPr lang="en-US" sz="1300" b="1">
                <a:solidFill>
                  <a:srgbClr val="FFFFFF"/>
                </a:solidFill>
                <a:latin typeface="Segoe UI Semibold" pitchFamily="34" charset="0"/>
                <a:ea typeface="Segoe UI Semibold" pitchFamily="34" charset="-122"/>
                <a:cs typeface="Segoe UI Semibold" pitchFamily="34" charset="-120"/>
              </a:rPr>
              <a:t>Subdivision</a:t>
            </a:r>
            <a:endParaRPr lang="en-US" sz="1300"/>
          </a:p>
        </p:txBody>
      </p:sp>
      <p:sp>
        <p:nvSpPr>
          <p:cNvPr id="8" name="Text 6">
            <a:extLst>
              <a:ext uri="{FF2B5EF4-FFF2-40B4-BE49-F238E27FC236}">
                <a16:creationId xmlns:a16="http://schemas.microsoft.com/office/drawing/2014/main" id="{633509C3-9C60-2B45-15A1-E987D36DD08A}"/>
              </a:ext>
            </a:extLst>
          </p:cNvPr>
          <p:cNvSpPr/>
          <p:nvPr/>
        </p:nvSpPr>
        <p:spPr>
          <a:xfrm>
            <a:off x="3108960" y="2103120"/>
            <a:ext cx="2926080" cy="457200"/>
          </a:xfrm>
          <a:prstGeom prst="rect">
            <a:avLst/>
          </a:prstGeom>
          <a:noFill/>
          <a:ln/>
        </p:spPr>
        <p:txBody>
          <a:bodyPr wrap="square" lIns="0" tIns="0" rIns="0" bIns="0" rtlCol="0" anchor="ctr"/>
          <a:lstStyle/>
          <a:p>
            <a:r>
              <a:rPr lang="en-US" sz="1300" b="1">
                <a:solidFill>
                  <a:srgbClr val="FFFFFF"/>
                </a:solidFill>
                <a:latin typeface="Segoe UI Semibold"/>
                <a:cs typeface="Segoe UI Semibold"/>
              </a:rPr>
              <a:t>Industry Advisor(s)</a:t>
            </a:r>
          </a:p>
        </p:txBody>
      </p:sp>
      <p:sp>
        <p:nvSpPr>
          <p:cNvPr id="9" name="Text 7">
            <a:extLst>
              <a:ext uri="{FF2B5EF4-FFF2-40B4-BE49-F238E27FC236}">
                <a16:creationId xmlns:a16="http://schemas.microsoft.com/office/drawing/2014/main" id="{97324F31-047F-8691-6070-5FFC86E3F1F0}"/>
              </a:ext>
            </a:extLst>
          </p:cNvPr>
          <p:cNvSpPr/>
          <p:nvPr/>
        </p:nvSpPr>
        <p:spPr>
          <a:xfrm>
            <a:off x="6217920" y="2103120"/>
            <a:ext cx="5486400" cy="457200"/>
          </a:xfrm>
          <a:prstGeom prst="rect">
            <a:avLst/>
          </a:prstGeom>
          <a:noFill/>
          <a:ln/>
        </p:spPr>
        <p:txBody>
          <a:bodyPr wrap="square" lIns="0" tIns="0" rIns="0" bIns="0" rtlCol="0" anchor="ctr"/>
          <a:lstStyle/>
          <a:p>
            <a:pPr marL="0" indent="0">
              <a:buNone/>
            </a:pPr>
            <a:r>
              <a:rPr lang="en-US" sz="1300" b="1">
                <a:solidFill>
                  <a:srgbClr val="FFFFFF"/>
                </a:solidFill>
                <a:latin typeface="Segoe UI Semibold" pitchFamily="34" charset="0"/>
                <a:ea typeface="Segoe UI Semibold" pitchFamily="34" charset="-122"/>
                <a:cs typeface="Segoe UI Semibold" pitchFamily="34" charset="-120"/>
              </a:rPr>
              <a:t>Solution Engineers</a:t>
            </a:r>
            <a:endParaRPr lang="en-US" sz="1300"/>
          </a:p>
        </p:txBody>
      </p:sp>
      <p:sp>
        <p:nvSpPr>
          <p:cNvPr id="10" name="Shape 8">
            <a:extLst>
              <a:ext uri="{FF2B5EF4-FFF2-40B4-BE49-F238E27FC236}">
                <a16:creationId xmlns:a16="http://schemas.microsoft.com/office/drawing/2014/main" id="{F0B50955-86CF-A370-CFBE-B587A4767A56}"/>
              </a:ext>
            </a:extLst>
          </p:cNvPr>
          <p:cNvSpPr/>
          <p:nvPr/>
        </p:nvSpPr>
        <p:spPr>
          <a:xfrm>
            <a:off x="457200" y="2560320"/>
            <a:ext cx="11247120" cy="530352"/>
          </a:xfrm>
          <a:prstGeom prst="rect">
            <a:avLst/>
          </a:prstGeom>
          <a:solidFill>
            <a:srgbClr val="FFFFFF"/>
          </a:solidFill>
          <a:ln w="6350">
            <a:solidFill>
              <a:srgbClr val="D1D5DB"/>
            </a:solidFill>
            <a:prstDash val="solid"/>
          </a:ln>
        </p:spPr>
        <p:txBody>
          <a:bodyPr/>
          <a:lstStyle/>
          <a:p>
            <a:endParaRPr lang="en-CA"/>
          </a:p>
        </p:txBody>
      </p:sp>
      <p:sp>
        <p:nvSpPr>
          <p:cNvPr id="11" name="Shape 9">
            <a:extLst>
              <a:ext uri="{FF2B5EF4-FFF2-40B4-BE49-F238E27FC236}">
                <a16:creationId xmlns:a16="http://schemas.microsoft.com/office/drawing/2014/main" id="{FD1F69CA-BCBB-E206-332B-35DEB3C1C92B}"/>
              </a:ext>
            </a:extLst>
          </p:cNvPr>
          <p:cNvSpPr/>
          <p:nvPr/>
        </p:nvSpPr>
        <p:spPr>
          <a:xfrm>
            <a:off x="457200" y="2560320"/>
            <a:ext cx="73152" cy="530352"/>
          </a:xfrm>
          <a:prstGeom prst="rect">
            <a:avLst/>
          </a:prstGeom>
          <a:solidFill>
            <a:srgbClr val="0078D4"/>
          </a:solidFill>
          <a:ln/>
        </p:spPr>
        <p:txBody>
          <a:bodyPr/>
          <a:lstStyle/>
          <a:p>
            <a:endParaRPr lang="en-CA"/>
          </a:p>
        </p:txBody>
      </p:sp>
      <p:sp>
        <p:nvSpPr>
          <p:cNvPr id="12" name="Text 10">
            <a:extLst>
              <a:ext uri="{FF2B5EF4-FFF2-40B4-BE49-F238E27FC236}">
                <a16:creationId xmlns:a16="http://schemas.microsoft.com/office/drawing/2014/main" id="{5899691A-4EC1-8F7B-B415-205697A26F40}"/>
              </a:ext>
            </a:extLst>
          </p:cNvPr>
          <p:cNvSpPr/>
          <p:nvPr/>
        </p:nvSpPr>
        <p:spPr>
          <a:xfrm>
            <a:off x="685800" y="2560320"/>
            <a:ext cx="2194560" cy="530352"/>
          </a:xfrm>
          <a:prstGeom prst="rect">
            <a:avLst/>
          </a:prstGeom>
          <a:noFill/>
          <a:ln/>
        </p:spPr>
        <p:txBody>
          <a:bodyPr wrap="square" lIns="0" tIns="0" rIns="0" bIns="0" rtlCol="0" anchor="ctr"/>
          <a:lstStyle/>
          <a:p>
            <a:pPr marL="0" indent="0">
              <a:buNone/>
            </a:pPr>
            <a:r>
              <a:rPr lang="en-US" sz="1400" b="1" dirty="0">
                <a:solidFill>
                  <a:srgbClr val="0B2545"/>
                </a:solidFill>
                <a:latin typeface="Segoe UI Semibold" pitchFamily="34" charset="0"/>
                <a:ea typeface="Segoe UI Semibold" pitchFamily="34" charset="-122"/>
                <a:cs typeface="Segoe UI Semibold" pitchFamily="34" charset="-120"/>
              </a:rPr>
              <a:t>AWM</a:t>
            </a:r>
            <a:endParaRPr lang="en-US" sz="1400" dirty="0"/>
          </a:p>
          <a:p>
            <a:pPr marL="0" indent="0">
              <a:buNone/>
            </a:pPr>
            <a:r>
              <a:rPr lang="en-US" sz="1000" dirty="0">
                <a:solidFill>
                  <a:srgbClr val="0078D4"/>
                </a:solidFill>
                <a:latin typeface="Segoe UI"/>
                <a:ea typeface="Segoe UI" pitchFamily="34" charset="-122"/>
                <a:cs typeface="Segoe UI"/>
              </a:rPr>
              <a:t>Pod 1  </a:t>
            </a:r>
            <a:endParaRPr lang="en-US" sz="1400" dirty="0">
              <a:latin typeface="Segoe UI"/>
              <a:ea typeface="Calibri" panose="020F0502020204030204"/>
              <a:cs typeface="Calibri" panose="020F0502020204030204"/>
            </a:endParaRPr>
          </a:p>
        </p:txBody>
      </p:sp>
      <p:sp>
        <p:nvSpPr>
          <p:cNvPr id="13" name="Text 11">
            <a:extLst>
              <a:ext uri="{FF2B5EF4-FFF2-40B4-BE49-F238E27FC236}">
                <a16:creationId xmlns:a16="http://schemas.microsoft.com/office/drawing/2014/main" id="{F0244008-5939-D734-71F3-9A1A1F60D83D}"/>
              </a:ext>
            </a:extLst>
          </p:cNvPr>
          <p:cNvSpPr/>
          <p:nvPr/>
        </p:nvSpPr>
        <p:spPr>
          <a:xfrm>
            <a:off x="3108960" y="2560320"/>
            <a:ext cx="283464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Mona · Symon</a:t>
            </a:r>
            <a:endParaRPr lang="en-US" sz="1200">
              <a:latin typeface="Segoe UI"/>
              <a:cs typeface="Segoe UI"/>
            </a:endParaRPr>
          </a:p>
        </p:txBody>
      </p:sp>
      <p:sp>
        <p:nvSpPr>
          <p:cNvPr id="14" name="Text 12">
            <a:extLst>
              <a:ext uri="{FF2B5EF4-FFF2-40B4-BE49-F238E27FC236}">
                <a16:creationId xmlns:a16="http://schemas.microsoft.com/office/drawing/2014/main" id="{475E95D6-0ADD-23F0-B15C-72B9B42D01F8}"/>
              </a:ext>
            </a:extLst>
          </p:cNvPr>
          <p:cNvSpPr/>
          <p:nvPr/>
        </p:nvSpPr>
        <p:spPr>
          <a:xfrm>
            <a:off x="6217920" y="2560320"/>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Karl  ·  Dan  ·  Ashish  ·  Joe</a:t>
            </a:r>
            <a:endParaRPr lang="en-US" sz="1200"/>
          </a:p>
        </p:txBody>
      </p:sp>
      <p:sp>
        <p:nvSpPr>
          <p:cNvPr id="15" name="Shape 13">
            <a:extLst>
              <a:ext uri="{FF2B5EF4-FFF2-40B4-BE49-F238E27FC236}">
                <a16:creationId xmlns:a16="http://schemas.microsoft.com/office/drawing/2014/main" id="{D26B8CF1-280D-E9FD-9519-A158709042B5}"/>
              </a:ext>
            </a:extLst>
          </p:cNvPr>
          <p:cNvSpPr/>
          <p:nvPr/>
        </p:nvSpPr>
        <p:spPr>
          <a:xfrm>
            <a:off x="457200" y="3090672"/>
            <a:ext cx="11247120" cy="530352"/>
          </a:xfrm>
          <a:prstGeom prst="rect">
            <a:avLst/>
          </a:prstGeom>
          <a:solidFill>
            <a:srgbClr val="F3F4F6"/>
          </a:solidFill>
          <a:ln w="6350">
            <a:solidFill>
              <a:srgbClr val="D1D5DB"/>
            </a:solidFill>
            <a:prstDash val="solid"/>
          </a:ln>
        </p:spPr>
        <p:txBody>
          <a:bodyPr/>
          <a:lstStyle/>
          <a:p>
            <a:endParaRPr lang="en-CA"/>
          </a:p>
        </p:txBody>
      </p:sp>
      <p:sp>
        <p:nvSpPr>
          <p:cNvPr id="16" name="Shape 14">
            <a:extLst>
              <a:ext uri="{FF2B5EF4-FFF2-40B4-BE49-F238E27FC236}">
                <a16:creationId xmlns:a16="http://schemas.microsoft.com/office/drawing/2014/main" id="{C944FFAA-C1F9-196E-63B6-7B3478A5283E}"/>
              </a:ext>
            </a:extLst>
          </p:cNvPr>
          <p:cNvSpPr/>
          <p:nvPr/>
        </p:nvSpPr>
        <p:spPr>
          <a:xfrm>
            <a:off x="457200" y="3090672"/>
            <a:ext cx="73152" cy="530352"/>
          </a:xfrm>
          <a:prstGeom prst="rect">
            <a:avLst/>
          </a:prstGeom>
          <a:solidFill>
            <a:srgbClr val="0078D4"/>
          </a:solidFill>
          <a:ln/>
        </p:spPr>
        <p:txBody>
          <a:bodyPr/>
          <a:lstStyle/>
          <a:p>
            <a:endParaRPr lang="en-CA"/>
          </a:p>
        </p:txBody>
      </p:sp>
      <p:sp>
        <p:nvSpPr>
          <p:cNvPr id="17" name="Text 15">
            <a:extLst>
              <a:ext uri="{FF2B5EF4-FFF2-40B4-BE49-F238E27FC236}">
                <a16:creationId xmlns:a16="http://schemas.microsoft.com/office/drawing/2014/main" id="{4DF5AC85-DF2E-2E89-9247-61D66AFB695F}"/>
              </a:ext>
            </a:extLst>
          </p:cNvPr>
          <p:cNvSpPr/>
          <p:nvPr/>
        </p:nvSpPr>
        <p:spPr>
          <a:xfrm>
            <a:off x="685800" y="3090672"/>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AWM</a:t>
            </a:r>
            <a:endParaRPr lang="en-US" sz="1400"/>
          </a:p>
          <a:p>
            <a:pPr marL="0" indent="0">
              <a:buNone/>
            </a:pPr>
            <a:r>
              <a:rPr lang="en-US" sz="1000">
                <a:solidFill>
                  <a:srgbClr val="0078D4"/>
                </a:solidFill>
                <a:latin typeface="Segoe UI"/>
                <a:ea typeface="Segoe UI" pitchFamily="34" charset="-122"/>
                <a:cs typeface="Segoe UI"/>
              </a:rPr>
              <a:t>Pod 2 </a:t>
            </a:r>
            <a:endParaRPr lang="en-US" sz="1400">
              <a:latin typeface="Segoe UI"/>
              <a:ea typeface="Calibri" panose="020F0502020204030204"/>
              <a:cs typeface="Calibri" panose="020F0502020204030204"/>
            </a:endParaRPr>
          </a:p>
        </p:txBody>
      </p:sp>
      <p:sp>
        <p:nvSpPr>
          <p:cNvPr id="18" name="Text 16">
            <a:extLst>
              <a:ext uri="{FF2B5EF4-FFF2-40B4-BE49-F238E27FC236}">
                <a16:creationId xmlns:a16="http://schemas.microsoft.com/office/drawing/2014/main" id="{E4C959D9-8697-2E5F-502B-FD81BFB56F42}"/>
              </a:ext>
            </a:extLst>
          </p:cNvPr>
          <p:cNvSpPr/>
          <p:nvPr/>
        </p:nvSpPr>
        <p:spPr>
          <a:xfrm>
            <a:off x="3108960" y="3090672"/>
            <a:ext cx="283464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Cheryl · Kevin</a:t>
            </a:r>
            <a:endParaRPr lang="en-US" sz="1200">
              <a:solidFill>
                <a:srgbClr val="000000"/>
              </a:solidFill>
              <a:latin typeface="Segoe UI"/>
              <a:ea typeface="Segoe UI" pitchFamily="34" charset="-122"/>
              <a:cs typeface="Segoe UI"/>
            </a:endParaRPr>
          </a:p>
        </p:txBody>
      </p:sp>
      <p:sp>
        <p:nvSpPr>
          <p:cNvPr id="19" name="Text 17">
            <a:extLst>
              <a:ext uri="{FF2B5EF4-FFF2-40B4-BE49-F238E27FC236}">
                <a16:creationId xmlns:a16="http://schemas.microsoft.com/office/drawing/2014/main" id="{19D66BDF-32B4-E46B-843A-1004087766DD}"/>
              </a:ext>
            </a:extLst>
          </p:cNvPr>
          <p:cNvSpPr/>
          <p:nvPr/>
        </p:nvSpPr>
        <p:spPr>
          <a:xfrm>
            <a:off x="6217920" y="3090672"/>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Marcos  · Dr. Ravi  ·  Ryan H  ·  Kishore</a:t>
            </a:r>
            <a:endParaRPr lang="en-US" sz="1200">
              <a:latin typeface="Segoe UI"/>
              <a:cs typeface="Segoe UI"/>
            </a:endParaRPr>
          </a:p>
        </p:txBody>
      </p:sp>
      <p:sp>
        <p:nvSpPr>
          <p:cNvPr id="20" name="Shape 18">
            <a:extLst>
              <a:ext uri="{FF2B5EF4-FFF2-40B4-BE49-F238E27FC236}">
                <a16:creationId xmlns:a16="http://schemas.microsoft.com/office/drawing/2014/main" id="{E44A3D34-E814-C7AA-8593-8066FA38BCA8}"/>
              </a:ext>
            </a:extLst>
          </p:cNvPr>
          <p:cNvSpPr/>
          <p:nvPr/>
        </p:nvSpPr>
        <p:spPr>
          <a:xfrm>
            <a:off x="457200" y="3621024"/>
            <a:ext cx="11247120" cy="530352"/>
          </a:xfrm>
          <a:prstGeom prst="rect">
            <a:avLst/>
          </a:prstGeom>
          <a:solidFill>
            <a:srgbClr val="FFFFFF"/>
          </a:solidFill>
          <a:ln w="6350">
            <a:solidFill>
              <a:srgbClr val="D1D5DB"/>
            </a:solidFill>
            <a:prstDash val="solid"/>
          </a:ln>
        </p:spPr>
        <p:txBody>
          <a:bodyPr/>
          <a:lstStyle/>
          <a:p>
            <a:endParaRPr lang="en-CA"/>
          </a:p>
        </p:txBody>
      </p:sp>
      <p:sp>
        <p:nvSpPr>
          <p:cNvPr id="21" name="Shape 19">
            <a:extLst>
              <a:ext uri="{FF2B5EF4-FFF2-40B4-BE49-F238E27FC236}">
                <a16:creationId xmlns:a16="http://schemas.microsoft.com/office/drawing/2014/main" id="{98EF86A2-8BB6-C0B1-75E0-58948790C7DE}"/>
              </a:ext>
            </a:extLst>
          </p:cNvPr>
          <p:cNvSpPr/>
          <p:nvPr/>
        </p:nvSpPr>
        <p:spPr>
          <a:xfrm>
            <a:off x="457200" y="3621024"/>
            <a:ext cx="73152" cy="530352"/>
          </a:xfrm>
          <a:prstGeom prst="rect">
            <a:avLst/>
          </a:prstGeom>
          <a:solidFill>
            <a:srgbClr val="0078D4"/>
          </a:solidFill>
          <a:ln/>
        </p:spPr>
        <p:txBody>
          <a:bodyPr/>
          <a:lstStyle/>
          <a:p>
            <a:endParaRPr lang="en-CA"/>
          </a:p>
        </p:txBody>
      </p:sp>
      <p:sp>
        <p:nvSpPr>
          <p:cNvPr id="22" name="Text 20">
            <a:extLst>
              <a:ext uri="{FF2B5EF4-FFF2-40B4-BE49-F238E27FC236}">
                <a16:creationId xmlns:a16="http://schemas.microsoft.com/office/drawing/2014/main" id="{F22151A1-DA43-3E44-FB16-2DDDFEE838E8}"/>
              </a:ext>
            </a:extLst>
          </p:cNvPr>
          <p:cNvSpPr/>
          <p:nvPr/>
        </p:nvSpPr>
        <p:spPr>
          <a:xfrm>
            <a:off x="685800" y="3621024"/>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Markets</a:t>
            </a:r>
            <a:endParaRPr lang="en-US" sz="1400"/>
          </a:p>
        </p:txBody>
      </p:sp>
      <p:sp>
        <p:nvSpPr>
          <p:cNvPr id="23" name="Text 21">
            <a:extLst>
              <a:ext uri="{FF2B5EF4-FFF2-40B4-BE49-F238E27FC236}">
                <a16:creationId xmlns:a16="http://schemas.microsoft.com/office/drawing/2014/main" id="{225A3C2E-2818-016D-A457-E4BEB0484E78}"/>
              </a:ext>
            </a:extLst>
          </p:cNvPr>
          <p:cNvSpPr/>
          <p:nvPr/>
        </p:nvSpPr>
        <p:spPr>
          <a:xfrm>
            <a:off x="3108960" y="3621024"/>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Ankeet</a:t>
            </a:r>
            <a:endParaRPr lang="en-US" sz="1200"/>
          </a:p>
        </p:txBody>
      </p:sp>
      <p:sp>
        <p:nvSpPr>
          <p:cNvPr id="24" name="Text 22">
            <a:extLst>
              <a:ext uri="{FF2B5EF4-FFF2-40B4-BE49-F238E27FC236}">
                <a16:creationId xmlns:a16="http://schemas.microsoft.com/office/drawing/2014/main" id="{FA756092-4894-0B9B-892E-87DF2587D423}"/>
              </a:ext>
            </a:extLst>
          </p:cNvPr>
          <p:cNvSpPr/>
          <p:nvPr/>
        </p:nvSpPr>
        <p:spPr>
          <a:xfrm>
            <a:off x="6217920" y="3621024"/>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Ben  ·  Ryan O  ·  Sean  ·  Shaun</a:t>
            </a:r>
            <a:endParaRPr lang="en-US" sz="1200">
              <a:latin typeface="Segoe UI"/>
              <a:cs typeface="Segoe UI"/>
            </a:endParaRPr>
          </a:p>
        </p:txBody>
      </p:sp>
      <p:sp>
        <p:nvSpPr>
          <p:cNvPr id="30" name="Shape 28">
            <a:extLst>
              <a:ext uri="{FF2B5EF4-FFF2-40B4-BE49-F238E27FC236}">
                <a16:creationId xmlns:a16="http://schemas.microsoft.com/office/drawing/2014/main" id="{D881A268-28DA-66DF-EA92-EA1546DA637F}"/>
              </a:ext>
            </a:extLst>
          </p:cNvPr>
          <p:cNvSpPr/>
          <p:nvPr/>
        </p:nvSpPr>
        <p:spPr>
          <a:xfrm>
            <a:off x="457200" y="4159214"/>
            <a:ext cx="11247120" cy="530352"/>
          </a:xfrm>
          <a:prstGeom prst="rect">
            <a:avLst/>
          </a:prstGeom>
          <a:solidFill>
            <a:srgbClr val="FFFFFF"/>
          </a:solidFill>
          <a:ln w="6350">
            <a:solidFill>
              <a:srgbClr val="D1D5DB"/>
            </a:solidFill>
            <a:prstDash val="solid"/>
          </a:ln>
        </p:spPr>
        <p:txBody>
          <a:bodyPr/>
          <a:lstStyle/>
          <a:p>
            <a:endParaRPr lang="en-CA"/>
          </a:p>
        </p:txBody>
      </p:sp>
      <p:sp>
        <p:nvSpPr>
          <p:cNvPr id="31" name="Shape 29">
            <a:extLst>
              <a:ext uri="{FF2B5EF4-FFF2-40B4-BE49-F238E27FC236}">
                <a16:creationId xmlns:a16="http://schemas.microsoft.com/office/drawing/2014/main" id="{6AC04648-D18C-6842-A2AE-89AEB70EFCF7}"/>
              </a:ext>
            </a:extLst>
          </p:cNvPr>
          <p:cNvSpPr/>
          <p:nvPr/>
        </p:nvSpPr>
        <p:spPr>
          <a:xfrm>
            <a:off x="457200" y="4159214"/>
            <a:ext cx="73152" cy="530352"/>
          </a:xfrm>
          <a:prstGeom prst="rect">
            <a:avLst/>
          </a:prstGeom>
          <a:solidFill>
            <a:srgbClr val="0078D4"/>
          </a:solidFill>
          <a:ln/>
        </p:spPr>
        <p:txBody>
          <a:bodyPr/>
          <a:lstStyle/>
          <a:p>
            <a:endParaRPr lang="en-CA"/>
          </a:p>
        </p:txBody>
      </p:sp>
      <p:sp>
        <p:nvSpPr>
          <p:cNvPr id="32" name="Text 30">
            <a:extLst>
              <a:ext uri="{FF2B5EF4-FFF2-40B4-BE49-F238E27FC236}">
                <a16:creationId xmlns:a16="http://schemas.microsoft.com/office/drawing/2014/main" id="{B6F3EC4B-0D50-E35A-4994-7151ADF2628A}"/>
              </a:ext>
            </a:extLst>
          </p:cNvPr>
          <p:cNvSpPr/>
          <p:nvPr/>
        </p:nvSpPr>
        <p:spPr>
          <a:xfrm>
            <a:off x="685800" y="4159214"/>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Payments</a:t>
            </a:r>
            <a:endParaRPr lang="en-US" sz="1400"/>
          </a:p>
        </p:txBody>
      </p:sp>
      <p:sp>
        <p:nvSpPr>
          <p:cNvPr id="33" name="Text 31">
            <a:extLst>
              <a:ext uri="{FF2B5EF4-FFF2-40B4-BE49-F238E27FC236}">
                <a16:creationId xmlns:a16="http://schemas.microsoft.com/office/drawing/2014/main" id="{3B694914-D909-3AE7-186B-0C104ECBC988}"/>
              </a:ext>
            </a:extLst>
          </p:cNvPr>
          <p:cNvSpPr/>
          <p:nvPr/>
        </p:nvSpPr>
        <p:spPr>
          <a:xfrm>
            <a:off x="3108960" y="4159214"/>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Kayal  ·  Andrei</a:t>
            </a:r>
            <a:endParaRPr lang="en-US" sz="1200"/>
          </a:p>
        </p:txBody>
      </p:sp>
      <p:sp>
        <p:nvSpPr>
          <p:cNvPr id="34" name="Text 32">
            <a:extLst>
              <a:ext uri="{FF2B5EF4-FFF2-40B4-BE49-F238E27FC236}">
                <a16:creationId xmlns:a16="http://schemas.microsoft.com/office/drawing/2014/main" id="{6F8EFC30-477D-2F83-CC10-840060DCE75C}"/>
              </a:ext>
            </a:extLst>
          </p:cNvPr>
          <p:cNvSpPr/>
          <p:nvPr/>
        </p:nvSpPr>
        <p:spPr>
          <a:xfrm>
            <a:off x="6217920" y="4159214"/>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Hiren  ·  Naunihal  ·  Enrique  ·  Aakash · Matt</a:t>
            </a:r>
            <a:endParaRPr lang="en-US" sz="1200">
              <a:solidFill>
                <a:srgbClr val="000000"/>
              </a:solidFill>
              <a:latin typeface="Segoe UI"/>
              <a:ea typeface="Segoe UI" pitchFamily="34" charset="-122"/>
              <a:cs typeface="Segoe UI"/>
            </a:endParaRPr>
          </a:p>
        </p:txBody>
      </p:sp>
      <p:sp>
        <p:nvSpPr>
          <p:cNvPr id="35" name="Shape 33">
            <a:extLst>
              <a:ext uri="{FF2B5EF4-FFF2-40B4-BE49-F238E27FC236}">
                <a16:creationId xmlns:a16="http://schemas.microsoft.com/office/drawing/2014/main" id="{C9BFAA2F-5A1C-702C-F334-637E6D759F07}"/>
              </a:ext>
            </a:extLst>
          </p:cNvPr>
          <p:cNvSpPr/>
          <p:nvPr/>
        </p:nvSpPr>
        <p:spPr>
          <a:xfrm>
            <a:off x="457200" y="4689566"/>
            <a:ext cx="11247120" cy="530352"/>
          </a:xfrm>
          <a:prstGeom prst="rect">
            <a:avLst/>
          </a:prstGeom>
          <a:solidFill>
            <a:srgbClr val="F3F4F6"/>
          </a:solidFill>
          <a:ln w="6350">
            <a:solidFill>
              <a:srgbClr val="D1D5DB"/>
            </a:solidFill>
            <a:prstDash val="solid"/>
          </a:ln>
        </p:spPr>
        <p:txBody>
          <a:bodyPr/>
          <a:lstStyle/>
          <a:p>
            <a:endParaRPr lang="en-US"/>
          </a:p>
        </p:txBody>
      </p:sp>
      <p:sp>
        <p:nvSpPr>
          <p:cNvPr id="36" name="Shape 34">
            <a:extLst>
              <a:ext uri="{FF2B5EF4-FFF2-40B4-BE49-F238E27FC236}">
                <a16:creationId xmlns:a16="http://schemas.microsoft.com/office/drawing/2014/main" id="{C9026663-F1CD-F1AD-0770-FA5C61FEB155}"/>
              </a:ext>
            </a:extLst>
          </p:cNvPr>
          <p:cNvSpPr/>
          <p:nvPr/>
        </p:nvSpPr>
        <p:spPr>
          <a:xfrm>
            <a:off x="457200" y="4689566"/>
            <a:ext cx="73152" cy="530352"/>
          </a:xfrm>
          <a:prstGeom prst="rect">
            <a:avLst/>
          </a:prstGeom>
          <a:solidFill>
            <a:srgbClr val="0078D4"/>
          </a:solidFill>
          <a:ln/>
        </p:spPr>
        <p:txBody>
          <a:bodyPr/>
          <a:lstStyle/>
          <a:p>
            <a:endParaRPr lang="en-US"/>
          </a:p>
        </p:txBody>
      </p:sp>
      <p:sp>
        <p:nvSpPr>
          <p:cNvPr id="37" name="Text 35">
            <a:extLst>
              <a:ext uri="{FF2B5EF4-FFF2-40B4-BE49-F238E27FC236}">
                <a16:creationId xmlns:a16="http://schemas.microsoft.com/office/drawing/2014/main" id="{EB62F58F-DF54-9D5F-B330-2E64E57A0F82}"/>
              </a:ext>
            </a:extLst>
          </p:cNvPr>
          <p:cNvSpPr/>
          <p:nvPr/>
        </p:nvSpPr>
        <p:spPr>
          <a:xfrm>
            <a:off x="685800" y="4689566"/>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Data Providers</a:t>
            </a:r>
            <a:endParaRPr lang="en-US" sz="1400"/>
          </a:p>
        </p:txBody>
      </p:sp>
      <p:sp>
        <p:nvSpPr>
          <p:cNvPr id="38" name="Text 36">
            <a:extLst>
              <a:ext uri="{FF2B5EF4-FFF2-40B4-BE49-F238E27FC236}">
                <a16:creationId xmlns:a16="http://schemas.microsoft.com/office/drawing/2014/main" id="{B682B018-5773-DABE-3AC4-7843718C2AE8}"/>
              </a:ext>
            </a:extLst>
          </p:cNvPr>
          <p:cNvSpPr/>
          <p:nvPr/>
        </p:nvSpPr>
        <p:spPr>
          <a:xfrm>
            <a:off x="3108960" y="4689566"/>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Haris</a:t>
            </a:r>
            <a:endParaRPr lang="en-US" sz="1200"/>
          </a:p>
        </p:txBody>
      </p:sp>
      <p:sp>
        <p:nvSpPr>
          <p:cNvPr id="39" name="Text 37">
            <a:extLst>
              <a:ext uri="{FF2B5EF4-FFF2-40B4-BE49-F238E27FC236}">
                <a16:creationId xmlns:a16="http://schemas.microsoft.com/office/drawing/2014/main" id="{D2DF84A7-2030-47EE-0D1F-ECEB33A01CB2}"/>
              </a:ext>
            </a:extLst>
          </p:cNvPr>
          <p:cNvSpPr/>
          <p:nvPr/>
        </p:nvSpPr>
        <p:spPr>
          <a:xfrm>
            <a:off x="6217920" y="4689566"/>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Bahadir  ·  Petar  ·  Naveen  ·  Pratik</a:t>
            </a:r>
            <a:endParaRPr lang="en-US" sz="1200"/>
          </a:p>
        </p:txBody>
      </p:sp>
      <p:sp>
        <p:nvSpPr>
          <p:cNvPr id="40" name="Shape 38">
            <a:extLst>
              <a:ext uri="{FF2B5EF4-FFF2-40B4-BE49-F238E27FC236}">
                <a16:creationId xmlns:a16="http://schemas.microsoft.com/office/drawing/2014/main" id="{B0E119D5-ABDD-99A5-5126-BF7EE451C73C}"/>
              </a:ext>
            </a:extLst>
          </p:cNvPr>
          <p:cNvSpPr/>
          <p:nvPr/>
        </p:nvSpPr>
        <p:spPr>
          <a:xfrm>
            <a:off x="457200" y="5219918"/>
            <a:ext cx="11247120" cy="530352"/>
          </a:xfrm>
          <a:prstGeom prst="rect">
            <a:avLst/>
          </a:prstGeom>
          <a:solidFill>
            <a:srgbClr val="FFFFFF"/>
          </a:solidFill>
          <a:ln w="6350">
            <a:solidFill>
              <a:srgbClr val="D1D5DB"/>
            </a:solidFill>
            <a:prstDash val="solid"/>
          </a:ln>
        </p:spPr>
        <p:txBody>
          <a:bodyPr/>
          <a:lstStyle/>
          <a:p>
            <a:endParaRPr lang="en-CA"/>
          </a:p>
        </p:txBody>
      </p:sp>
      <p:sp>
        <p:nvSpPr>
          <p:cNvPr id="41" name="Shape 39">
            <a:extLst>
              <a:ext uri="{FF2B5EF4-FFF2-40B4-BE49-F238E27FC236}">
                <a16:creationId xmlns:a16="http://schemas.microsoft.com/office/drawing/2014/main" id="{2E0F1607-E7F8-2F0A-1411-6ECB2D32786E}"/>
              </a:ext>
            </a:extLst>
          </p:cNvPr>
          <p:cNvSpPr/>
          <p:nvPr/>
        </p:nvSpPr>
        <p:spPr>
          <a:xfrm>
            <a:off x="457200" y="5219918"/>
            <a:ext cx="73152" cy="530352"/>
          </a:xfrm>
          <a:prstGeom prst="rect">
            <a:avLst/>
          </a:prstGeom>
          <a:solidFill>
            <a:srgbClr val="0078D4"/>
          </a:solidFill>
          <a:ln/>
        </p:spPr>
        <p:txBody>
          <a:bodyPr/>
          <a:lstStyle/>
          <a:p>
            <a:endParaRPr lang="en-CA"/>
          </a:p>
        </p:txBody>
      </p:sp>
      <p:sp>
        <p:nvSpPr>
          <p:cNvPr id="42" name="Text 40">
            <a:extLst>
              <a:ext uri="{FF2B5EF4-FFF2-40B4-BE49-F238E27FC236}">
                <a16:creationId xmlns:a16="http://schemas.microsoft.com/office/drawing/2014/main" id="{34978588-C99A-8018-4004-D59E7F0159E2}"/>
              </a:ext>
            </a:extLst>
          </p:cNvPr>
          <p:cNvSpPr/>
          <p:nvPr/>
        </p:nvSpPr>
        <p:spPr>
          <a:xfrm>
            <a:off x="685800" y="5219918"/>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Private Equity</a:t>
            </a:r>
            <a:endParaRPr lang="en-US" sz="1400"/>
          </a:p>
        </p:txBody>
      </p:sp>
      <p:sp>
        <p:nvSpPr>
          <p:cNvPr id="43" name="Text 41">
            <a:extLst>
              <a:ext uri="{FF2B5EF4-FFF2-40B4-BE49-F238E27FC236}">
                <a16:creationId xmlns:a16="http://schemas.microsoft.com/office/drawing/2014/main" id="{1DDF188B-83DF-E114-CAF6-2BD9480AFF0A}"/>
              </a:ext>
            </a:extLst>
          </p:cNvPr>
          <p:cNvSpPr/>
          <p:nvPr/>
        </p:nvSpPr>
        <p:spPr>
          <a:xfrm>
            <a:off x="3108960" y="5219918"/>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Tanya</a:t>
            </a:r>
            <a:endParaRPr lang="en-US" sz="1200"/>
          </a:p>
        </p:txBody>
      </p:sp>
      <p:sp>
        <p:nvSpPr>
          <p:cNvPr id="44" name="Text 42">
            <a:extLst>
              <a:ext uri="{FF2B5EF4-FFF2-40B4-BE49-F238E27FC236}">
                <a16:creationId xmlns:a16="http://schemas.microsoft.com/office/drawing/2014/main" id="{A753B4F4-49EB-5C34-A9A0-B50A52420BE5}"/>
              </a:ext>
            </a:extLst>
          </p:cNvPr>
          <p:cNvSpPr/>
          <p:nvPr/>
        </p:nvSpPr>
        <p:spPr>
          <a:xfrm>
            <a:off x="6217920" y="5219918"/>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a:ea typeface="Segoe UI" pitchFamily="34" charset="-122"/>
                <a:cs typeface="Segoe UI"/>
              </a:rPr>
              <a:t>Leroy  ·  Ana  ·  Ni  ·  Amit</a:t>
            </a:r>
            <a:endParaRPr lang="en-US" sz="1200"/>
          </a:p>
        </p:txBody>
      </p:sp>
      <p:sp>
        <p:nvSpPr>
          <p:cNvPr id="45" name="Text 43">
            <a:extLst>
              <a:ext uri="{FF2B5EF4-FFF2-40B4-BE49-F238E27FC236}">
                <a16:creationId xmlns:a16="http://schemas.microsoft.com/office/drawing/2014/main" id="{E5DBC5EF-6933-A396-739B-7DA40B909BD6}"/>
              </a:ext>
            </a:extLst>
          </p:cNvPr>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46" name="Text 44">
            <a:extLst>
              <a:ext uri="{FF2B5EF4-FFF2-40B4-BE49-F238E27FC236}">
                <a16:creationId xmlns:a16="http://schemas.microsoft.com/office/drawing/2014/main" id="{D8CF0B01-4B57-CA44-9952-E6353612C04A}"/>
              </a:ext>
            </a:extLst>
          </p:cNvPr>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4</a:t>
            </a:r>
            <a:endParaRPr lang="en-US" sz="900"/>
          </a:p>
        </p:txBody>
      </p:sp>
    </p:spTree>
    <p:extLst>
      <p:ext uri="{BB962C8B-B14F-4D97-AF65-F5344CB8AC3E}">
        <p14:creationId xmlns:p14="http://schemas.microsoft.com/office/powerpoint/2010/main" val="606990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THE MODEL</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How the hackathon works</a:t>
            </a:r>
            <a:endParaRPr lang="en-US" sz="2800"/>
          </a:p>
        </p:txBody>
      </p:sp>
      <p:sp>
        <p:nvSpPr>
          <p:cNvPr id="4" name="Text 2"/>
          <p:cNvSpPr/>
          <p:nvPr/>
        </p:nvSpPr>
        <p:spPr>
          <a:xfrm>
            <a:off x="457200" y="1371600"/>
            <a:ext cx="11247120" cy="365760"/>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Prework gets pods ready before kickoff; two weeks of focused build follow, closing with the leadership readout.</a:t>
            </a:r>
            <a:endParaRPr lang="en-US" sz="1400"/>
          </a:p>
        </p:txBody>
      </p:sp>
      <p:sp>
        <p:nvSpPr>
          <p:cNvPr id="5" name="Shape 3"/>
          <p:cNvSpPr/>
          <p:nvPr/>
        </p:nvSpPr>
        <p:spPr>
          <a:xfrm>
            <a:off x="457200" y="1965960"/>
            <a:ext cx="3535680" cy="3931920"/>
          </a:xfrm>
          <a:prstGeom prst="rect">
            <a:avLst/>
          </a:prstGeom>
          <a:solidFill>
            <a:srgbClr val="FFFFFF"/>
          </a:solidFill>
          <a:ln w="9525">
            <a:solidFill>
              <a:srgbClr val="D1D5DB"/>
            </a:solidFill>
            <a:prstDash val="solid"/>
          </a:ln>
        </p:spPr>
        <p:txBody>
          <a:bodyPr/>
          <a:lstStyle/>
          <a:p>
            <a:endParaRPr lang="en-CA"/>
          </a:p>
        </p:txBody>
      </p:sp>
      <p:sp>
        <p:nvSpPr>
          <p:cNvPr id="6" name="Shape 4"/>
          <p:cNvSpPr/>
          <p:nvPr/>
        </p:nvSpPr>
        <p:spPr>
          <a:xfrm>
            <a:off x="457200" y="1965960"/>
            <a:ext cx="3535680" cy="128016"/>
          </a:xfrm>
          <a:prstGeom prst="rect">
            <a:avLst/>
          </a:prstGeom>
          <a:solidFill>
            <a:srgbClr val="00BCF2"/>
          </a:solidFill>
          <a:ln/>
        </p:spPr>
        <p:txBody>
          <a:bodyPr/>
          <a:lstStyle/>
          <a:p>
            <a:endParaRPr lang="en-CA"/>
          </a:p>
        </p:txBody>
      </p:sp>
      <p:sp>
        <p:nvSpPr>
          <p:cNvPr id="7" name="Shape 5"/>
          <p:cNvSpPr/>
          <p:nvPr/>
        </p:nvSpPr>
        <p:spPr>
          <a:xfrm>
            <a:off x="777240" y="2331720"/>
            <a:ext cx="1371600" cy="365760"/>
          </a:xfrm>
          <a:prstGeom prst="rect">
            <a:avLst/>
          </a:prstGeom>
          <a:solidFill>
            <a:srgbClr val="00BCF2"/>
          </a:solidFill>
          <a:ln/>
        </p:spPr>
        <p:txBody>
          <a:bodyPr/>
          <a:lstStyle/>
          <a:p>
            <a:endParaRPr lang="en-CA"/>
          </a:p>
        </p:txBody>
      </p:sp>
      <p:sp>
        <p:nvSpPr>
          <p:cNvPr id="8" name="Text 6"/>
          <p:cNvSpPr/>
          <p:nvPr/>
        </p:nvSpPr>
        <p:spPr>
          <a:xfrm>
            <a:off x="777240" y="2331720"/>
            <a:ext cx="1371600" cy="365760"/>
          </a:xfrm>
          <a:prstGeom prst="rect">
            <a:avLst/>
          </a:prstGeom>
          <a:noFill/>
          <a:ln/>
        </p:spPr>
        <p:txBody>
          <a:bodyPr wrap="square" lIns="0" tIns="0" rIns="0" bIns="0" rtlCol="0" anchor="ctr"/>
          <a:lstStyle/>
          <a:p>
            <a:pPr marL="0" indent="0" algn="ctr">
              <a:buNone/>
            </a:pPr>
            <a:r>
              <a:rPr lang="en-US" sz="1100" b="1" kern="0" spc="100">
                <a:solidFill>
                  <a:srgbClr val="FFFFFF"/>
                </a:solidFill>
                <a:latin typeface="Segoe UI Semibold" pitchFamily="34" charset="0"/>
                <a:ea typeface="Segoe UI Semibold" pitchFamily="34" charset="-122"/>
                <a:cs typeface="Segoe UI Semibold" pitchFamily="34" charset="-120"/>
              </a:rPr>
              <a:t>PHASE 0</a:t>
            </a:r>
            <a:endParaRPr lang="en-US" sz="1100"/>
          </a:p>
        </p:txBody>
      </p:sp>
      <p:sp>
        <p:nvSpPr>
          <p:cNvPr id="9" name="Text 7"/>
          <p:cNvSpPr/>
          <p:nvPr/>
        </p:nvSpPr>
        <p:spPr>
          <a:xfrm>
            <a:off x="777240" y="2834640"/>
            <a:ext cx="2895600" cy="502920"/>
          </a:xfrm>
          <a:prstGeom prst="rect">
            <a:avLst/>
          </a:prstGeom>
          <a:noFill/>
          <a:ln/>
        </p:spPr>
        <p:txBody>
          <a:bodyPr wrap="square" lIns="0" tIns="0" rIns="0" bIns="0" rtlCol="0" anchor="ctr"/>
          <a:lstStyle/>
          <a:p>
            <a:pPr marL="0" indent="0">
              <a:buNone/>
            </a:pPr>
            <a:r>
              <a:rPr lang="en-US" sz="2400" b="1">
                <a:solidFill>
                  <a:srgbClr val="0B2545"/>
                </a:solidFill>
                <a:latin typeface="Segoe UI Semibold" pitchFamily="34" charset="0"/>
                <a:ea typeface="Segoe UI Semibold" pitchFamily="34" charset="-122"/>
                <a:cs typeface="Segoe UI Semibold" pitchFamily="34" charset="-120"/>
              </a:rPr>
              <a:t>Prework</a:t>
            </a:r>
            <a:endParaRPr lang="en-US" sz="2400"/>
          </a:p>
        </p:txBody>
      </p:sp>
      <p:sp>
        <p:nvSpPr>
          <p:cNvPr id="10" name="Text 8"/>
          <p:cNvSpPr/>
          <p:nvPr/>
        </p:nvSpPr>
        <p:spPr>
          <a:xfrm>
            <a:off x="777240" y="3337560"/>
            <a:ext cx="2895600" cy="320040"/>
          </a:xfrm>
          <a:prstGeom prst="rect">
            <a:avLst/>
          </a:prstGeom>
          <a:noFill/>
          <a:ln/>
        </p:spPr>
        <p:txBody>
          <a:bodyPr wrap="square" lIns="0" tIns="0" rIns="0" bIns="0" rtlCol="0" anchor="ctr"/>
          <a:lstStyle/>
          <a:p>
            <a:pPr marL="0" indent="0">
              <a:buNone/>
            </a:pPr>
            <a:r>
              <a:rPr lang="en-US" sz="1200" i="1">
                <a:solidFill>
                  <a:srgbClr val="0078D4"/>
                </a:solidFill>
                <a:latin typeface="Segoe UI" pitchFamily="34" charset="0"/>
                <a:ea typeface="Segoe UI" pitchFamily="34" charset="-122"/>
                <a:cs typeface="Segoe UI" pitchFamily="34" charset="-120"/>
              </a:rPr>
              <a:t>Before June 25</a:t>
            </a:r>
            <a:endParaRPr lang="en-US" sz="1200"/>
          </a:p>
        </p:txBody>
      </p:sp>
      <p:sp>
        <p:nvSpPr>
          <p:cNvPr id="11" name="Shape 9"/>
          <p:cNvSpPr/>
          <p:nvPr/>
        </p:nvSpPr>
        <p:spPr>
          <a:xfrm>
            <a:off x="777240" y="3749040"/>
            <a:ext cx="365760" cy="27432"/>
          </a:xfrm>
          <a:prstGeom prst="rect">
            <a:avLst/>
          </a:prstGeom>
          <a:solidFill>
            <a:srgbClr val="00BCF2"/>
          </a:solidFill>
          <a:ln/>
        </p:spPr>
        <p:txBody>
          <a:bodyPr/>
          <a:lstStyle/>
          <a:p>
            <a:endParaRPr lang="en-CA"/>
          </a:p>
        </p:txBody>
      </p:sp>
      <p:sp>
        <p:nvSpPr>
          <p:cNvPr id="12" name="Text 10"/>
          <p:cNvSpPr/>
          <p:nvPr/>
        </p:nvSpPr>
        <p:spPr>
          <a:xfrm>
            <a:off x="777240" y="3931920"/>
            <a:ext cx="2895600" cy="1828800"/>
          </a:xfrm>
          <a:prstGeom prst="rect">
            <a:avLst/>
          </a:prstGeom>
          <a:noFill/>
          <a:ln/>
        </p:spPr>
        <p:txBody>
          <a:bodyPr wrap="square" lIns="0" tIns="0" rIns="0" bIns="0" rtlCol="0" anchor="t"/>
          <a:lstStyle/>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“Solution demo with GitHub Copilot” session</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MCAPS subscription setup (self-paced)</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Optional M365 dev tenant (aka.ms/cdx)</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Licensing requests in place</a:t>
            </a:r>
            <a:endParaRPr lang="en-US" sz="1200"/>
          </a:p>
        </p:txBody>
      </p:sp>
      <p:sp>
        <p:nvSpPr>
          <p:cNvPr id="13" name="Shape 11"/>
          <p:cNvSpPr/>
          <p:nvPr/>
        </p:nvSpPr>
        <p:spPr>
          <a:xfrm>
            <a:off x="4312920" y="1965960"/>
            <a:ext cx="3535680" cy="3931920"/>
          </a:xfrm>
          <a:prstGeom prst="rect">
            <a:avLst/>
          </a:prstGeom>
          <a:solidFill>
            <a:srgbClr val="FFFFFF"/>
          </a:solidFill>
          <a:ln w="9525">
            <a:solidFill>
              <a:srgbClr val="D1D5DB"/>
            </a:solidFill>
            <a:prstDash val="solid"/>
          </a:ln>
        </p:spPr>
        <p:txBody>
          <a:bodyPr/>
          <a:lstStyle/>
          <a:p>
            <a:endParaRPr lang="en-CA"/>
          </a:p>
        </p:txBody>
      </p:sp>
      <p:sp>
        <p:nvSpPr>
          <p:cNvPr id="14" name="Shape 12"/>
          <p:cNvSpPr/>
          <p:nvPr/>
        </p:nvSpPr>
        <p:spPr>
          <a:xfrm>
            <a:off x="4312920" y="1965960"/>
            <a:ext cx="3535680" cy="128016"/>
          </a:xfrm>
          <a:prstGeom prst="rect">
            <a:avLst/>
          </a:prstGeom>
          <a:solidFill>
            <a:srgbClr val="0078D4"/>
          </a:solidFill>
          <a:ln/>
        </p:spPr>
        <p:txBody>
          <a:bodyPr/>
          <a:lstStyle/>
          <a:p>
            <a:endParaRPr lang="en-CA"/>
          </a:p>
        </p:txBody>
      </p:sp>
      <p:sp>
        <p:nvSpPr>
          <p:cNvPr id="15" name="Shape 13"/>
          <p:cNvSpPr/>
          <p:nvPr/>
        </p:nvSpPr>
        <p:spPr>
          <a:xfrm>
            <a:off x="4632960" y="2331720"/>
            <a:ext cx="1371600" cy="365760"/>
          </a:xfrm>
          <a:prstGeom prst="rect">
            <a:avLst/>
          </a:prstGeom>
          <a:solidFill>
            <a:srgbClr val="0078D4"/>
          </a:solidFill>
          <a:ln/>
        </p:spPr>
        <p:txBody>
          <a:bodyPr/>
          <a:lstStyle/>
          <a:p>
            <a:endParaRPr lang="en-CA"/>
          </a:p>
        </p:txBody>
      </p:sp>
      <p:sp>
        <p:nvSpPr>
          <p:cNvPr id="16" name="Text 14"/>
          <p:cNvSpPr/>
          <p:nvPr/>
        </p:nvSpPr>
        <p:spPr>
          <a:xfrm>
            <a:off x="4632960" y="2331720"/>
            <a:ext cx="1371600" cy="365760"/>
          </a:xfrm>
          <a:prstGeom prst="rect">
            <a:avLst/>
          </a:prstGeom>
          <a:noFill/>
          <a:ln/>
        </p:spPr>
        <p:txBody>
          <a:bodyPr wrap="square" lIns="0" tIns="0" rIns="0" bIns="0" rtlCol="0" anchor="ctr"/>
          <a:lstStyle/>
          <a:p>
            <a:pPr marL="0" indent="0" algn="ctr">
              <a:buNone/>
            </a:pPr>
            <a:r>
              <a:rPr lang="en-US" sz="1100" b="1" kern="0" spc="100">
                <a:solidFill>
                  <a:srgbClr val="FFFFFF"/>
                </a:solidFill>
                <a:latin typeface="Segoe UI Semibold" pitchFamily="34" charset="0"/>
                <a:ea typeface="Segoe UI Semibold" pitchFamily="34" charset="-122"/>
                <a:cs typeface="Segoe UI Semibold" pitchFamily="34" charset="-120"/>
              </a:rPr>
              <a:t>PHASE 1</a:t>
            </a:r>
            <a:endParaRPr lang="en-US" sz="1100"/>
          </a:p>
        </p:txBody>
      </p:sp>
      <p:sp>
        <p:nvSpPr>
          <p:cNvPr id="17" name="Text 15"/>
          <p:cNvSpPr/>
          <p:nvPr/>
        </p:nvSpPr>
        <p:spPr>
          <a:xfrm>
            <a:off x="4632960" y="2834640"/>
            <a:ext cx="2895600" cy="502920"/>
          </a:xfrm>
          <a:prstGeom prst="rect">
            <a:avLst/>
          </a:prstGeom>
          <a:noFill/>
          <a:ln/>
        </p:spPr>
        <p:txBody>
          <a:bodyPr wrap="square" lIns="0" tIns="0" rIns="0" bIns="0" rtlCol="0" anchor="ctr"/>
          <a:lstStyle/>
          <a:p>
            <a:pPr marL="0" indent="0">
              <a:buNone/>
            </a:pPr>
            <a:r>
              <a:rPr lang="en-US" sz="2400" b="1">
                <a:solidFill>
                  <a:srgbClr val="0B2545"/>
                </a:solidFill>
                <a:latin typeface="Segoe UI Semibold" pitchFamily="34" charset="0"/>
                <a:ea typeface="Segoe UI Semibold" pitchFamily="34" charset="-122"/>
                <a:cs typeface="Segoe UI Semibold" pitchFamily="34" charset="-120"/>
              </a:rPr>
              <a:t>Domain build</a:t>
            </a:r>
            <a:endParaRPr lang="en-US" sz="2400"/>
          </a:p>
        </p:txBody>
      </p:sp>
      <p:sp>
        <p:nvSpPr>
          <p:cNvPr id="18" name="Text 16"/>
          <p:cNvSpPr/>
          <p:nvPr/>
        </p:nvSpPr>
        <p:spPr>
          <a:xfrm>
            <a:off x="4632960" y="3337560"/>
            <a:ext cx="2895600" cy="320040"/>
          </a:xfrm>
          <a:prstGeom prst="rect">
            <a:avLst/>
          </a:prstGeom>
          <a:noFill/>
          <a:ln/>
        </p:spPr>
        <p:txBody>
          <a:bodyPr wrap="square" lIns="0" tIns="0" rIns="0" bIns="0" rtlCol="0" anchor="ctr"/>
          <a:lstStyle/>
          <a:p>
            <a:pPr marL="0" indent="0">
              <a:buNone/>
            </a:pPr>
            <a:r>
              <a:rPr lang="en-US" sz="1200" i="1">
                <a:solidFill>
                  <a:srgbClr val="0078D4"/>
                </a:solidFill>
                <a:latin typeface="Segoe UI" pitchFamily="34" charset="0"/>
                <a:ea typeface="Segoe UI" pitchFamily="34" charset="-122"/>
                <a:cs typeface="Segoe UI" pitchFamily="34" charset="-120"/>
              </a:rPr>
              <a:t>~2 weeks · June 25 – July 9</a:t>
            </a:r>
            <a:endParaRPr lang="en-US" sz="1200"/>
          </a:p>
        </p:txBody>
      </p:sp>
      <p:sp>
        <p:nvSpPr>
          <p:cNvPr id="19" name="Shape 17"/>
          <p:cNvSpPr/>
          <p:nvPr/>
        </p:nvSpPr>
        <p:spPr>
          <a:xfrm>
            <a:off x="4632960" y="3749040"/>
            <a:ext cx="365760" cy="27432"/>
          </a:xfrm>
          <a:prstGeom prst="rect">
            <a:avLst/>
          </a:prstGeom>
          <a:solidFill>
            <a:srgbClr val="0078D4"/>
          </a:solidFill>
          <a:ln/>
        </p:spPr>
        <p:txBody>
          <a:bodyPr/>
          <a:lstStyle/>
          <a:p>
            <a:endParaRPr lang="en-CA"/>
          </a:p>
        </p:txBody>
      </p:sp>
      <p:sp>
        <p:nvSpPr>
          <p:cNvPr id="20" name="Text 18"/>
          <p:cNvSpPr/>
          <p:nvPr/>
        </p:nvSpPr>
        <p:spPr>
          <a:xfrm>
            <a:off x="4632960" y="3931920"/>
            <a:ext cx="2895600" cy="1828800"/>
          </a:xfrm>
          <a:prstGeom prst="rect">
            <a:avLst/>
          </a:prstGeom>
          <a:noFill/>
          <a:ln/>
        </p:spPr>
        <p:txBody>
          <a:bodyPr wrap="square" lIns="0" tIns="0" rIns="0" bIns="0" rtlCol="0" anchor="t"/>
          <a:lstStyle/>
          <a:p>
            <a:pPr marL="342900" indent="-342900">
              <a:spcAft>
                <a:spcPts val="600"/>
              </a:spcAft>
              <a:buSzPct val="100000"/>
              <a:buChar char="■"/>
            </a:pPr>
            <a:r>
              <a:rPr lang="en-US" sz="1200">
                <a:solidFill>
                  <a:srgbClr val="4B5563"/>
                </a:solidFill>
                <a:latin typeface="Segoe UI"/>
                <a:ea typeface="Segoe UI" pitchFamily="34" charset="-122"/>
                <a:cs typeface="Segoe UI"/>
              </a:rPr>
              <a:t>Pods build an agentic workflow for their subdivision w/ minimal UI</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Cross-functional — SE, IA, and Data + AI partners</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Beyond level 100 — push the bar</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Iterate the UI / interaction model</a:t>
            </a:r>
            <a:endParaRPr lang="en-US" sz="1200"/>
          </a:p>
        </p:txBody>
      </p:sp>
      <p:sp>
        <p:nvSpPr>
          <p:cNvPr id="21" name="Shape 19"/>
          <p:cNvSpPr/>
          <p:nvPr/>
        </p:nvSpPr>
        <p:spPr>
          <a:xfrm>
            <a:off x="8168640" y="1965960"/>
            <a:ext cx="3535680" cy="3931920"/>
          </a:xfrm>
          <a:prstGeom prst="rect">
            <a:avLst/>
          </a:prstGeom>
          <a:solidFill>
            <a:srgbClr val="FFFFFF"/>
          </a:solidFill>
          <a:ln w="9525">
            <a:solidFill>
              <a:srgbClr val="D1D5DB"/>
            </a:solidFill>
            <a:prstDash val="solid"/>
          </a:ln>
        </p:spPr>
        <p:txBody>
          <a:bodyPr/>
          <a:lstStyle/>
          <a:p>
            <a:endParaRPr lang="en-CA"/>
          </a:p>
        </p:txBody>
      </p:sp>
      <p:sp>
        <p:nvSpPr>
          <p:cNvPr id="22" name="Shape 20"/>
          <p:cNvSpPr/>
          <p:nvPr/>
        </p:nvSpPr>
        <p:spPr>
          <a:xfrm>
            <a:off x="8168640" y="1965960"/>
            <a:ext cx="3535680" cy="128016"/>
          </a:xfrm>
          <a:prstGeom prst="rect">
            <a:avLst/>
          </a:prstGeom>
          <a:solidFill>
            <a:srgbClr val="008272"/>
          </a:solidFill>
          <a:ln/>
        </p:spPr>
        <p:txBody>
          <a:bodyPr/>
          <a:lstStyle/>
          <a:p>
            <a:endParaRPr lang="en-CA"/>
          </a:p>
        </p:txBody>
      </p:sp>
      <p:sp>
        <p:nvSpPr>
          <p:cNvPr id="23" name="Shape 21"/>
          <p:cNvSpPr/>
          <p:nvPr/>
        </p:nvSpPr>
        <p:spPr>
          <a:xfrm>
            <a:off x="8488680" y="2331720"/>
            <a:ext cx="1371600" cy="365760"/>
          </a:xfrm>
          <a:prstGeom prst="rect">
            <a:avLst/>
          </a:prstGeom>
          <a:solidFill>
            <a:srgbClr val="008272"/>
          </a:solidFill>
          <a:ln/>
        </p:spPr>
        <p:txBody>
          <a:bodyPr/>
          <a:lstStyle/>
          <a:p>
            <a:endParaRPr lang="en-CA"/>
          </a:p>
        </p:txBody>
      </p:sp>
      <p:sp>
        <p:nvSpPr>
          <p:cNvPr id="24" name="Text 22"/>
          <p:cNvSpPr/>
          <p:nvPr/>
        </p:nvSpPr>
        <p:spPr>
          <a:xfrm>
            <a:off x="8488680" y="2331720"/>
            <a:ext cx="1371600" cy="365760"/>
          </a:xfrm>
          <a:prstGeom prst="rect">
            <a:avLst/>
          </a:prstGeom>
          <a:noFill/>
          <a:ln/>
        </p:spPr>
        <p:txBody>
          <a:bodyPr wrap="square" lIns="0" tIns="0" rIns="0" bIns="0" rtlCol="0" anchor="ctr"/>
          <a:lstStyle/>
          <a:p>
            <a:pPr marL="0" indent="0" algn="ctr">
              <a:buNone/>
            </a:pPr>
            <a:r>
              <a:rPr lang="en-US" sz="1100" b="1" kern="0" spc="100">
                <a:solidFill>
                  <a:srgbClr val="FFFFFF"/>
                </a:solidFill>
                <a:latin typeface="Segoe UI Semibold" pitchFamily="34" charset="0"/>
                <a:ea typeface="Segoe UI Semibold" pitchFamily="34" charset="-122"/>
                <a:cs typeface="Segoe UI Semibold" pitchFamily="34" charset="-120"/>
              </a:rPr>
              <a:t>READOUT</a:t>
            </a:r>
            <a:endParaRPr lang="en-US" sz="1100"/>
          </a:p>
        </p:txBody>
      </p:sp>
      <p:sp>
        <p:nvSpPr>
          <p:cNvPr id="25" name="Text 23"/>
          <p:cNvSpPr/>
          <p:nvPr/>
        </p:nvSpPr>
        <p:spPr>
          <a:xfrm>
            <a:off x="8488680" y="2834640"/>
            <a:ext cx="2895600" cy="502920"/>
          </a:xfrm>
          <a:prstGeom prst="rect">
            <a:avLst/>
          </a:prstGeom>
          <a:noFill/>
          <a:ln/>
        </p:spPr>
        <p:txBody>
          <a:bodyPr wrap="square" lIns="0" tIns="0" rIns="0" bIns="0" rtlCol="0" anchor="ctr"/>
          <a:lstStyle/>
          <a:p>
            <a:pPr marL="0" indent="0">
              <a:buNone/>
            </a:pPr>
            <a:r>
              <a:rPr lang="en-US" sz="2400" b="1">
                <a:solidFill>
                  <a:srgbClr val="0B2545"/>
                </a:solidFill>
                <a:latin typeface="Segoe UI Semibold" pitchFamily="34" charset="0"/>
                <a:ea typeface="Segoe UI Semibold" pitchFamily="34" charset="-122"/>
                <a:cs typeface="Segoe UI Semibold" pitchFamily="34" charset="-120"/>
              </a:rPr>
              <a:t>Showcase</a:t>
            </a:r>
            <a:endParaRPr lang="en-US" sz="2400"/>
          </a:p>
        </p:txBody>
      </p:sp>
      <p:sp>
        <p:nvSpPr>
          <p:cNvPr id="26" name="Text 24"/>
          <p:cNvSpPr/>
          <p:nvPr/>
        </p:nvSpPr>
        <p:spPr>
          <a:xfrm>
            <a:off x="8488680" y="3337560"/>
            <a:ext cx="2895600" cy="320040"/>
          </a:xfrm>
          <a:prstGeom prst="rect">
            <a:avLst/>
          </a:prstGeom>
          <a:noFill/>
          <a:ln/>
        </p:spPr>
        <p:txBody>
          <a:bodyPr wrap="square" lIns="0" tIns="0" rIns="0" bIns="0" rtlCol="0" anchor="ctr"/>
          <a:lstStyle/>
          <a:p>
            <a:pPr marL="0" indent="0">
              <a:buNone/>
            </a:pPr>
            <a:r>
              <a:rPr lang="en-US" sz="1200" i="1">
                <a:solidFill>
                  <a:srgbClr val="0078D4"/>
                </a:solidFill>
                <a:latin typeface="Segoe UI" pitchFamily="34" charset="0"/>
                <a:ea typeface="Segoe UI" pitchFamily="34" charset="-122"/>
                <a:cs typeface="Segoe UI" pitchFamily="34" charset="-120"/>
              </a:rPr>
              <a:t>July 9</a:t>
            </a:r>
            <a:endParaRPr lang="en-US" sz="1200"/>
          </a:p>
        </p:txBody>
      </p:sp>
      <p:sp>
        <p:nvSpPr>
          <p:cNvPr id="27" name="Shape 25"/>
          <p:cNvSpPr/>
          <p:nvPr/>
        </p:nvSpPr>
        <p:spPr>
          <a:xfrm>
            <a:off x="8488680" y="3749040"/>
            <a:ext cx="365760" cy="27432"/>
          </a:xfrm>
          <a:prstGeom prst="rect">
            <a:avLst/>
          </a:prstGeom>
          <a:solidFill>
            <a:srgbClr val="008272"/>
          </a:solidFill>
          <a:ln/>
        </p:spPr>
        <p:txBody>
          <a:bodyPr/>
          <a:lstStyle/>
          <a:p>
            <a:endParaRPr lang="en-CA"/>
          </a:p>
        </p:txBody>
      </p:sp>
      <p:sp>
        <p:nvSpPr>
          <p:cNvPr id="28" name="Text 26"/>
          <p:cNvSpPr/>
          <p:nvPr/>
        </p:nvSpPr>
        <p:spPr>
          <a:xfrm>
            <a:off x="8488680" y="3931920"/>
            <a:ext cx="2895600" cy="1828800"/>
          </a:xfrm>
          <a:prstGeom prst="rect">
            <a:avLst/>
          </a:prstGeom>
          <a:noFill/>
          <a:ln/>
        </p:spPr>
        <p:txBody>
          <a:bodyPr wrap="square" lIns="0" tIns="0" rIns="0" bIns="0" rtlCol="0" anchor="t"/>
          <a:lstStyle/>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30-min storytelling + live demo per pod</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Judged on a common rubric</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Leaders select best in subdivision</a:t>
            </a:r>
            <a:endParaRPr lang="en-US" sz="1200"/>
          </a:p>
          <a:p>
            <a:pPr marL="342900" indent="-342900">
              <a:spcAft>
                <a:spcPts val="600"/>
              </a:spcAft>
              <a:buSzPct val="100000"/>
              <a:buChar char="■"/>
            </a:pPr>
            <a:r>
              <a:rPr lang="en-US" sz="1200">
                <a:solidFill>
                  <a:srgbClr val="4B5563"/>
                </a:solidFill>
                <a:latin typeface="Segoe UI" pitchFamily="34" charset="0"/>
                <a:ea typeface="Segoe UI" pitchFamily="34" charset="-122"/>
                <a:cs typeface="Segoe UI" pitchFamily="34" charset="-120"/>
              </a:rPr>
              <a:t>Capture reusable assets for FY27</a:t>
            </a:r>
            <a:endParaRPr lang="en-US" sz="1200"/>
          </a:p>
        </p:txBody>
      </p:sp>
      <p:sp>
        <p:nvSpPr>
          <p:cNvPr id="29" name="Text 27"/>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30" name="Text 28"/>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WHAT “GREAT” LOOKS LIKE</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What each pod will deliver</a:t>
            </a:r>
            <a:endParaRPr lang="en-US" sz="2800"/>
          </a:p>
        </p:txBody>
      </p:sp>
      <p:sp>
        <p:nvSpPr>
          <p:cNvPr id="4" name="Text 2"/>
          <p:cNvSpPr/>
          <p:nvPr/>
        </p:nvSpPr>
        <p:spPr>
          <a:xfrm>
            <a:off x="457200" y="1371600"/>
            <a:ext cx="11247120" cy="365760"/>
          </a:xfrm>
          <a:prstGeom prst="rect">
            <a:avLst/>
          </a:prstGeom>
          <a:noFill/>
          <a:ln/>
        </p:spPr>
        <p:txBody>
          <a:bodyPr wrap="square" lIns="0" tIns="0" rIns="0" bIns="0" rtlCol="0" anchor="ctr"/>
          <a:lstStyle/>
          <a:p>
            <a:r>
              <a:rPr lang="en-US" sz="1400" i="1">
                <a:solidFill>
                  <a:srgbClr val="4B5563"/>
                </a:solidFill>
                <a:latin typeface="Segoe UI"/>
                <a:ea typeface="Segoe UI" pitchFamily="34" charset="-122"/>
                <a:cs typeface="Segoe UI"/>
              </a:rPr>
              <a:t>A complete, customer-ready package for the assigned subdivision — workflow, interaction, story, and architecture. Recommend 3-5 content slides with Business Challenge, Proposed Solution w/ Value, and Architecture Overview.</a:t>
            </a:r>
            <a:endParaRPr lang="en-US" sz="1400"/>
          </a:p>
        </p:txBody>
      </p:sp>
      <p:sp>
        <p:nvSpPr>
          <p:cNvPr id="5" name="Shape 3"/>
          <p:cNvSpPr/>
          <p:nvPr/>
        </p:nvSpPr>
        <p:spPr>
          <a:xfrm>
            <a:off x="457200" y="1965960"/>
            <a:ext cx="2117750" cy="3931920"/>
          </a:xfrm>
          <a:prstGeom prst="rect">
            <a:avLst/>
          </a:prstGeom>
          <a:solidFill>
            <a:srgbClr val="FFFFFF"/>
          </a:solidFill>
          <a:ln w="9525">
            <a:solidFill>
              <a:srgbClr val="D1D5DB"/>
            </a:solidFill>
            <a:prstDash val="solid"/>
          </a:ln>
        </p:spPr>
        <p:txBody>
          <a:bodyPr/>
          <a:lstStyle/>
          <a:p>
            <a:endParaRPr lang="en-CA"/>
          </a:p>
        </p:txBody>
      </p:sp>
      <p:sp>
        <p:nvSpPr>
          <p:cNvPr id="6" name="Text 4"/>
          <p:cNvSpPr/>
          <p:nvPr/>
        </p:nvSpPr>
        <p:spPr>
          <a:xfrm>
            <a:off x="640080" y="2194560"/>
            <a:ext cx="1751990" cy="914400"/>
          </a:xfrm>
          <a:prstGeom prst="rect">
            <a:avLst/>
          </a:prstGeom>
          <a:noFill/>
          <a:ln/>
        </p:spPr>
        <p:txBody>
          <a:bodyPr wrap="square" lIns="0" tIns="0" rIns="0" bIns="0" rtlCol="0" anchor="ctr"/>
          <a:lstStyle/>
          <a:p>
            <a:pPr marL="0" indent="0">
              <a:buNone/>
            </a:pPr>
            <a:r>
              <a:rPr lang="en-US" sz="4400" b="1">
                <a:solidFill>
                  <a:srgbClr val="50B0F0"/>
                </a:solidFill>
                <a:latin typeface="Segoe UI Semibold" pitchFamily="34" charset="0"/>
                <a:ea typeface="Segoe UI Semibold" pitchFamily="34" charset="-122"/>
                <a:cs typeface="Segoe UI Semibold" pitchFamily="34" charset="-120"/>
              </a:rPr>
              <a:t>01</a:t>
            </a:r>
            <a:endParaRPr lang="en-US" sz="4400"/>
          </a:p>
        </p:txBody>
      </p:sp>
      <p:sp>
        <p:nvSpPr>
          <p:cNvPr id="7" name="Text 5"/>
          <p:cNvSpPr/>
          <p:nvPr/>
        </p:nvSpPr>
        <p:spPr>
          <a:xfrm>
            <a:off x="685800" y="3200400"/>
            <a:ext cx="1706270" cy="77724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Agentic workflow</a:t>
            </a:r>
            <a:endParaRPr lang="en-US" sz="1600"/>
          </a:p>
        </p:txBody>
      </p:sp>
      <p:sp>
        <p:nvSpPr>
          <p:cNvPr id="8" name="Shape 6"/>
          <p:cNvSpPr/>
          <p:nvPr/>
        </p:nvSpPr>
        <p:spPr>
          <a:xfrm>
            <a:off x="685800" y="4023360"/>
            <a:ext cx="365760" cy="27432"/>
          </a:xfrm>
          <a:prstGeom prst="rect">
            <a:avLst/>
          </a:prstGeom>
          <a:solidFill>
            <a:srgbClr val="0078D4"/>
          </a:solidFill>
          <a:ln/>
        </p:spPr>
        <p:txBody>
          <a:bodyPr/>
          <a:lstStyle/>
          <a:p>
            <a:endParaRPr lang="en-CA"/>
          </a:p>
        </p:txBody>
      </p:sp>
      <p:sp>
        <p:nvSpPr>
          <p:cNvPr id="9" name="Text 7"/>
          <p:cNvSpPr/>
          <p:nvPr/>
        </p:nvSpPr>
        <p:spPr>
          <a:xfrm>
            <a:off x="685800" y="4160520"/>
            <a:ext cx="1706270" cy="1554480"/>
          </a:xfrm>
          <a:prstGeom prst="rect">
            <a:avLst/>
          </a:prstGeom>
          <a:noFill/>
          <a:ln/>
        </p:spPr>
        <p:txBody>
          <a:bodyPr wrap="square" lIns="0" tIns="0" rIns="0" bIns="0" rtlCol="0" anchor="t"/>
          <a:lstStyle/>
          <a:p>
            <a:pPr marL="0" indent="0">
              <a:buNone/>
            </a:pPr>
            <a:r>
              <a:rPr lang="en-US" sz="1150">
                <a:solidFill>
                  <a:srgbClr val="4B5563"/>
                </a:solidFill>
                <a:latin typeface="Segoe UI" pitchFamily="34" charset="0"/>
                <a:ea typeface="Segoe UI" pitchFamily="34" charset="-122"/>
                <a:cs typeface="Segoe UI" pitchFamily="34" charset="-120"/>
              </a:rPr>
              <a:t>End-to-end agent-driven workflow for the subdivision, with a GitHub repo.</a:t>
            </a:r>
            <a:endParaRPr lang="en-US" sz="1150"/>
          </a:p>
        </p:txBody>
      </p:sp>
      <p:sp>
        <p:nvSpPr>
          <p:cNvPr id="10" name="Shape 8"/>
          <p:cNvSpPr/>
          <p:nvPr/>
        </p:nvSpPr>
        <p:spPr>
          <a:xfrm>
            <a:off x="2739542" y="1965960"/>
            <a:ext cx="2117750" cy="3931920"/>
          </a:xfrm>
          <a:prstGeom prst="rect">
            <a:avLst/>
          </a:prstGeom>
          <a:solidFill>
            <a:srgbClr val="FFFFFF"/>
          </a:solidFill>
          <a:ln w="9525">
            <a:solidFill>
              <a:srgbClr val="D1D5DB"/>
            </a:solidFill>
            <a:prstDash val="solid"/>
          </a:ln>
        </p:spPr>
        <p:txBody>
          <a:bodyPr/>
          <a:lstStyle/>
          <a:p>
            <a:endParaRPr lang="en-CA"/>
          </a:p>
        </p:txBody>
      </p:sp>
      <p:sp>
        <p:nvSpPr>
          <p:cNvPr id="11" name="Text 9"/>
          <p:cNvSpPr/>
          <p:nvPr/>
        </p:nvSpPr>
        <p:spPr>
          <a:xfrm>
            <a:off x="2922422" y="2194560"/>
            <a:ext cx="1751990" cy="914400"/>
          </a:xfrm>
          <a:prstGeom prst="rect">
            <a:avLst/>
          </a:prstGeom>
          <a:noFill/>
          <a:ln/>
        </p:spPr>
        <p:txBody>
          <a:bodyPr wrap="square" lIns="0" tIns="0" rIns="0" bIns="0" rtlCol="0" anchor="ctr"/>
          <a:lstStyle/>
          <a:p>
            <a:pPr marL="0" indent="0">
              <a:buNone/>
            </a:pPr>
            <a:r>
              <a:rPr lang="en-US" sz="4400" b="1">
                <a:solidFill>
                  <a:srgbClr val="50B0F0"/>
                </a:solidFill>
                <a:latin typeface="Segoe UI Semibold" pitchFamily="34" charset="0"/>
                <a:ea typeface="Segoe UI Semibold" pitchFamily="34" charset="-122"/>
                <a:cs typeface="Segoe UI Semibold" pitchFamily="34" charset="-120"/>
              </a:rPr>
              <a:t>02</a:t>
            </a:r>
            <a:endParaRPr lang="en-US" sz="4400"/>
          </a:p>
        </p:txBody>
      </p:sp>
      <p:sp>
        <p:nvSpPr>
          <p:cNvPr id="12" name="Text 10"/>
          <p:cNvSpPr/>
          <p:nvPr/>
        </p:nvSpPr>
        <p:spPr>
          <a:xfrm>
            <a:off x="2968142" y="3200400"/>
            <a:ext cx="1706270" cy="77724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Minimal UI / interaction</a:t>
            </a:r>
            <a:endParaRPr lang="en-US" sz="1600"/>
          </a:p>
        </p:txBody>
      </p:sp>
      <p:sp>
        <p:nvSpPr>
          <p:cNvPr id="13" name="Shape 11"/>
          <p:cNvSpPr/>
          <p:nvPr/>
        </p:nvSpPr>
        <p:spPr>
          <a:xfrm>
            <a:off x="2968142" y="4023360"/>
            <a:ext cx="365760" cy="27432"/>
          </a:xfrm>
          <a:prstGeom prst="rect">
            <a:avLst/>
          </a:prstGeom>
          <a:solidFill>
            <a:srgbClr val="0078D4"/>
          </a:solidFill>
          <a:ln/>
        </p:spPr>
        <p:txBody>
          <a:bodyPr/>
          <a:lstStyle/>
          <a:p>
            <a:endParaRPr lang="en-CA"/>
          </a:p>
        </p:txBody>
      </p:sp>
      <p:sp>
        <p:nvSpPr>
          <p:cNvPr id="14" name="Text 12"/>
          <p:cNvSpPr/>
          <p:nvPr/>
        </p:nvSpPr>
        <p:spPr>
          <a:xfrm>
            <a:off x="2968142" y="4160520"/>
            <a:ext cx="1706270" cy="1554480"/>
          </a:xfrm>
          <a:prstGeom prst="rect">
            <a:avLst/>
          </a:prstGeom>
          <a:noFill/>
          <a:ln/>
        </p:spPr>
        <p:txBody>
          <a:bodyPr wrap="square" lIns="0" tIns="0" rIns="0" bIns="0" rtlCol="0" anchor="t"/>
          <a:lstStyle/>
          <a:p>
            <a:r>
              <a:rPr lang="en-US" sz="1150">
                <a:solidFill>
                  <a:srgbClr val="4B5563"/>
                </a:solidFill>
                <a:latin typeface="Segoe UI"/>
                <a:ea typeface="Segoe UI" pitchFamily="34" charset="-122"/>
                <a:cs typeface="Segoe UI"/>
              </a:rPr>
              <a:t>Working interaction model — Copilot chat, app shell, or Fabric / </a:t>
            </a:r>
            <a:r>
              <a:rPr lang="en-US" sz="1150" err="1">
                <a:solidFill>
                  <a:srgbClr val="4B5563"/>
                </a:solidFill>
                <a:latin typeface="Segoe UI"/>
                <a:ea typeface="Segoe UI" pitchFamily="34" charset="-122"/>
                <a:cs typeface="Segoe UI"/>
              </a:rPr>
              <a:t>Rayfin</a:t>
            </a:r>
            <a:r>
              <a:rPr lang="en-US" sz="1150">
                <a:solidFill>
                  <a:srgbClr val="4B5563"/>
                </a:solidFill>
                <a:latin typeface="Segoe UI"/>
                <a:ea typeface="Segoe UI" pitchFamily="34" charset="-122"/>
                <a:cs typeface="Segoe UI"/>
              </a:rPr>
              <a:t> app.</a:t>
            </a:r>
            <a:endParaRPr lang="en-US" sz="1150">
              <a:latin typeface="Segoe UI"/>
              <a:cs typeface="Segoe UI"/>
            </a:endParaRPr>
          </a:p>
        </p:txBody>
      </p:sp>
      <p:sp>
        <p:nvSpPr>
          <p:cNvPr id="15" name="Shape 13"/>
          <p:cNvSpPr/>
          <p:nvPr/>
        </p:nvSpPr>
        <p:spPr>
          <a:xfrm>
            <a:off x="5021885" y="1965960"/>
            <a:ext cx="2117750" cy="3931920"/>
          </a:xfrm>
          <a:prstGeom prst="rect">
            <a:avLst/>
          </a:prstGeom>
          <a:solidFill>
            <a:srgbClr val="FFFFFF"/>
          </a:solidFill>
          <a:ln w="9525">
            <a:solidFill>
              <a:srgbClr val="D1D5DB"/>
            </a:solidFill>
            <a:prstDash val="solid"/>
          </a:ln>
        </p:spPr>
        <p:txBody>
          <a:bodyPr/>
          <a:lstStyle/>
          <a:p>
            <a:endParaRPr lang="en-CA"/>
          </a:p>
        </p:txBody>
      </p:sp>
      <p:sp>
        <p:nvSpPr>
          <p:cNvPr id="16" name="Text 14"/>
          <p:cNvSpPr/>
          <p:nvPr/>
        </p:nvSpPr>
        <p:spPr>
          <a:xfrm>
            <a:off x="5204765" y="2194560"/>
            <a:ext cx="1751990" cy="914400"/>
          </a:xfrm>
          <a:prstGeom prst="rect">
            <a:avLst/>
          </a:prstGeom>
          <a:noFill/>
          <a:ln/>
        </p:spPr>
        <p:txBody>
          <a:bodyPr wrap="square" lIns="0" tIns="0" rIns="0" bIns="0" rtlCol="0" anchor="ctr"/>
          <a:lstStyle/>
          <a:p>
            <a:pPr marL="0" indent="0">
              <a:buNone/>
            </a:pPr>
            <a:r>
              <a:rPr lang="en-US" sz="4400" b="1">
                <a:solidFill>
                  <a:srgbClr val="50B0F0"/>
                </a:solidFill>
                <a:latin typeface="Segoe UI Semibold" pitchFamily="34" charset="0"/>
                <a:ea typeface="Segoe UI Semibold" pitchFamily="34" charset="-122"/>
                <a:cs typeface="Segoe UI Semibold" pitchFamily="34" charset="-120"/>
              </a:rPr>
              <a:t>03</a:t>
            </a:r>
            <a:endParaRPr lang="en-US" sz="4400"/>
          </a:p>
        </p:txBody>
      </p:sp>
      <p:sp>
        <p:nvSpPr>
          <p:cNvPr id="17" name="Text 15"/>
          <p:cNvSpPr/>
          <p:nvPr/>
        </p:nvSpPr>
        <p:spPr>
          <a:xfrm>
            <a:off x="5250485" y="3200400"/>
            <a:ext cx="1706270" cy="77724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Live demo + story</a:t>
            </a:r>
            <a:endParaRPr lang="en-US" sz="1600"/>
          </a:p>
        </p:txBody>
      </p:sp>
      <p:sp>
        <p:nvSpPr>
          <p:cNvPr id="18" name="Shape 16"/>
          <p:cNvSpPr/>
          <p:nvPr/>
        </p:nvSpPr>
        <p:spPr>
          <a:xfrm>
            <a:off x="5250485" y="4023360"/>
            <a:ext cx="365760" cy="27432"/>
          </a:xfrm>
          <a:prstGeom prst="rect">
            <a:avLst/>
          </a:prstGeom>
          <a:solidFill>
            <a:srgbClr val="0078D4"/>
          </a:solidFill>
          <a:ln/>
        </p:spPr>
        <p:txBody>
          <a:bodyPr/>
          <a:lstStyle/>
          <a:p>
            <a:endParaRPr lang="en-CA"/>
          </a:p>
        </p:txBody>
      </p:sp>
      <p:sp>
        <p:nvSpPr>
          <p:cNvPr id="19" name="Text 17"/>
          <p:cNvSpPr/>
          <p:nvPr/>
        </p:nvSpPr>
        <p:spPr>
          <a:xfrm>
            <a:off x="5250485" y="4160520"/>
            <a:ext cx="1706270" cy="1554480"/>
          </a:xfrm>
          <a:prstGeom prst="rect">
            <a:avLst/>
          </a:prstGeom>
          <a:noFill/>
          <a:ln/>
        </p:spPr>
        <p:txBody>
          <a:bodyPr wrap="square" lIns="0" tIns="0" rIns="0" bIns="0" rtlCol="0" anchor="t"/>
          <a:lstStyle/>
          <a:p>
            <a:r>
              <a:rPr lang="en-US" sz="1150" b="1">
                <a:solidFill>
                  <a:srgbClr val="4B5563"/>
                </a:solidFill>
                <a:latin typeface="Segoe UI"/>
                <a:ea typeface="Segoe UI" pitchFamily="34" charset="-122"/>
                <a:cs typeface="Segoe UI"/>
              </a:rPr>
              <a:t>30-minute storytelling session</a:t>
            </a:r>
            <a:r>
              <a:rPr lang="en-US" sz="1150">
                <a:solidFill>
                  <a:srgbClr val="4B5563"/>
                </a:solidFill>
                <a:latin typeface="Segoe UI"/>
                <a:ea typeface="Segoe UI" pitchFamily="34" charset="-122"/>
                <a:cs typeface="Segoe UI"/>
              </a:rPr>
              <a:t> and a recorded demo; PPT and code repo included.</a:t>
            </a:r>
            <a:endParaRPr lang="en-US" sz="1150">
              <a:latin typeface="Segoe UI"/>
              <a:cs typeface="Segoe UI"/>
            </a:endParaRPr>
          </a:p>
        </p:txBody>
      </p:sp>
      <p:sp>
        <p:nvSpPr>
          <p:cNvPr id="20" name="Shape 18"/>
          <p:cNvSpPr/>
          <p:nvPr/>
        </p:nvSpPr>
        <p:spPr>
          <a:xfrm>
            <a:off x="7304227" y="1965960"/>
            <a:ext cx="2117750" cy="3931920"/>
          </a:xfrm>
          <a:prstGeom prst="rect">
            <a:avLst/>
          </a:prstGeom>
          <a:solidFill>
            <a:srgbClr val="FFFFFF"/>
          </a:solidFill>
          <a:ln w="9525">
            <a:solidFill>
              <a:srgbClr val="D1D5DB"/>
            </a:solidFill>
            <a:prstDash val="solid"/>
          </a:ln>
        </p:spPr>
        <p:txBody>
          <a:bodyPr/>
          <a:lstStyle/>
          <a:p>
            <a:endParaRPr lang="en-CA"/>
          </a:p>
        </p:txBody>
      </p:sp>
      <p:sp>
        <p:nvSpPr>
          <p:cNvPr id="21" name="Text 19"/>
          <p:cNvSpPr/>
          <p:nvPr/>
        </p:nvSpPr>
        <p:spPr>
          <a:xfrm>
            <a:off x="7487107" y="2194560"/>
            <a:ext cx="1751990" cy="914400"/>
          </a:xfrm>
          <a:prstGeom prst="rect">
            <a:avLst/>
          </a:prstGeom>
          <a:noFill/>
          <a:ln/>
        </p:spPr>
        <p:txBody>
          <a:bodyPr wrap="square" lIns="0" tIns="0" rIns="0" bIns="0" rtlCol="0" anchor="ctr"/>
          <a:lstStyle/>
          <a:p>
            <a:pPr marL="0" indent="0">
              <a:buNone/>
            </a:pPr>
            <a:r>
              <a:rPr lang="en-US" sz="4400" b="1">
                <a:solidFill>
                  <a:srgbClr val="50B0F0"/>
                </a:solidFill>
                <a:latin typeface="Segoe UI Semibold" pitchFamily="34" charset="0"/>
                <a:ea typeface="Segoe UI Semibold" pitchFamily="34" charset="-122"/>
                <a:cs typeface="Segoe UI Semibold" pitchFamily="34" charset="-120"/>
              </a:rPr>
              <a:t>04</a:t>
            </a:r>
            <a:endParaRPr lang="en-US" sz="4400"/>
          </a:p>
        </p:txBody>
      </p:sp>
      <p:sp>
        <p:nvSpPr>
          <p:cNvPr id="22" name="Text 20"/>
          <p:cNvSpPr/>
          <p:nvPr/>
        </p:nvSpPr>
        <p:spPr>
          <a:xfrm>
            <a:off x="7532827" y="3200400"/>
            <a:ext cx="1706270" cy="77724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Architecture one-pager</a:t>
            </a:r>
            <a:endParaRPr lang="en-US" sz="1600"/>
          </a:p>
        </p:txBody>
      </p:sp>
      <p:sp>
        <p:nvSpPr>
          <p:cNvPr id="23" name="Shape 21"/>
          <p:cNvSpPr/>
          <p:nvPr/>
        </p:nvSpPr>
        <p:spPr>
          <a:xfrm>
            <a:off x="7532827" y="4023360"/>
            <a:ext cx="365760" cy="27432"/>
          </a:xfrm>
          <a:prstGeom prst="rect">
            <a:avLst/>
          </a:prstGeom>
          <a:solidFill>
            <a:srgbClr val="0078D4"/>
          </a:solidFill>
          <a:ln/>
        </p:spPr>
        <p:txBody>
          <a:bodyPr/>
          <a:lstStyle/>
          <a:p>
            <a:endParaRPr lang="en-CA"/>
          </a:p>
        </p:txBody>
      </p:sp>
      <p:sp>
        <p:nvSpPr>
          <p:cNvPr id="24" name="Text 22"/>
          <p:cNvSpPr/>
          <p:nvPr/>
        </p:nvSpPr>
        <p:spPr>
          <a:xfrm>
            <a:off x="7532827" y="4160520"/>
            <a:ext cx="1706270" cy="1554480"/>
          </a:xfrm>
          <a:prstGeom prst="rect">
            <a:avLst/>
          </a:prstGeom>
          <a:noFill/>
          <a:ln/>
        </p:spPr>
        <p:txBody>
          <a:bodyPr wrap="square" lIns="0" tIns="0" rIns="0" bIns="0" rtlCol="0" anchor="t"/>
          <a:lstStyle/>
          <a:p>
            <a:r>
              <a:rPr lang="en-US" sz="1150">
                <a:solidFill>
                  <a:srgbClr val="4B5563"/>
                </a:solidFill>
                <a:latin typeface="Segoe UI"/>
                <a:ea typeface="Segoe UI" pitchFamily="34" charset="-122"/>
                <a:cs typeface="Segoe UI"/>
              </a:rPr>
              <a:t>Brief approach doc with Architecture for future production-grade deployments.</a:t>
            </a:r>
            <a:endParaRPr lang="en-US" sz="1150">
              <a:latin typeface="Segoe UI"/>
              <a:cs typeface="Segoe UI"/>
            </a:endParaRPr>
          </a:p>
        </p:txBody>
      </p:sp>
      <p:sp>
        <p:nvSpPr>
          <p:cNvPr id="25" name="Shape 23"/>
          <p:cNvSpPr/>
          <p:nvPr/>
        </p:nvSpPr>
        <p:spPr>
          <a:xfrm>
            <a:off x="9586570" y="1965960"/>
            <a:ext cx="2117750" cy="3931920"/>
          </a:xfrm>
          <a:prstGeom prst="rect">
            <a:avLst/>
          </a:prstGeom>
          <a:solidFill>
            <a:srgbClr val="FFFFFF"/>
          </a:solidFill>
          <a:ln w="9525">
            <a:solidFill>
              <a:srgbClr val="D1D5DB"/>
            </a:solidFill>
            <a:prstDash val="solid"/>
          </a:ln>
        </p:spPr>
        <p:txBody>
          <a:bodyPr/>
          <a:lstStyle/>
          <a:p>
            <a:endParaRPr lang="en-CA"/>
          </a:p>
        </p:txBody>
      </p:sp>
      <p:sp>
        <p:nvSpPr>
          <p:cNvPr id="26" name="Text 24"/>
          <p:cNvSpPr/>
          <p:nvPr/>
        </p:nvSpPr>
        <p:spPr>
          <a:xfrm>
            <a:off x="9769450" y="2194560"/>
            <a:ext cx="1751990" cy="914400"/>
          </a:xfrm>
          <a:prstGeom prst="rect">
            <a:avLst/>
          </a:prstGeom>
          <a:noFill/>
          <a:ln/>
        </p:spPr>
        <p:txBody>
          <a:bodyPr wrap="square" lIns="0" tIns="0" rIns="0" bIns="0" rtlCol="0" anchor="ctr"/>
          <a:lstStyle/>
          <a:p>
            <a:pPr marL="0" indent="0">
              <a:buNone/>
            </a:pPr>
            <a:r>
              <a:rPr lang="en-US" sz="4400" b="1">
                <a:solidFill>
                  <a:srgbClr val="50B0F0"/>
                </a:solidFill>
                <a:latin typeface="Segoe UI Semibold" pitchFamily="34" charset="0"/>
                <a:ea typeface="Segoe UI Semibold" pitchFamily="34" charset="-122"/>
                <a:cs typeface="Segoe UI Semibold" pitchFamily="34" charset="-120"/>
              </a:rPr>
              <a:t>05</a:t>
            </a:r>
            <a:endParaRPr lang="en-US" sz="4400"/>
          </a:p>
        </p:txBody>
      </p:sp>
      <p:sp>
        <p:nvSpPr>
          <p:cNvPr id="27" name="Text 25"/>
          <p:cNvSpPr/>
          <p:nvPr/>
        </p:nvSpPr>
        <p:spPr>
          <a:xfrm>
            <a:off x="9815170" y="3200400"/>
            <a:ext cx="1706270" cy="777240"/>
          </a:xfrm>
          <a:prstGeom prst="rect">
            <a:avLst/>
          </a:prstGeom>
          <a:noFill/>
          <a:ln/>
        </p:spPr>
        <p:txBody>
          <a:bodyPr wrap="square" lIns="0" tIns="0" rIns="0" bIns="0" rtlCol="0" anchor="t"/>
          <a:lstStyle/>
          <a:p>
            <a:pPr marL="0" indent="0">
              <a:buNone/>
            </a:pPr>
            <a:r>
              <a:rPr lang="en-US" sz="1600" b="1">
                <a:solidFill>
                  <a:srgbClr val="0B2545"/>
                </a:solidFill>
                <a:latin typeface="Segoe UI Semibold" pitchFamily="34" charset="0"/>
                <a:ea typeface="Segoe UI Semibold" pitchFamily="34" charset="-122"/>
                <a:cs typeface="Segoe UI Semibold" pitchFamily="34" charset="-120"/>
              </a:rPr>
              <a:t>Reflection</a:t>
            </a:r>
            <a:endParaRPr lang="en-US" sz="1600"/>
          </a:p>
        </p:txBody>
      </p:sp>
      <p:sp>
        <p:nvSpPr>
          <p:cNvPr id="28" name="Shape 26"/>
          <p:cNvSpPr/>
          <p:nvPr/>
        </p:nvSpPr>
        <p:spPr>
          <a:xfrm>
            <a:off x="9815170" y="4023360"/>
            <a:ext cx="365760" cy="27432"/>
          </a:xfrm>
          <a:prstGeom prst="rect">
            <a:avLst/>
          </a:prstGeom>
          <a:solidFill>
            <a:srgbClr val="0078D4"/>
          </a:solidFill>
          <a:ln/>
        </p:spPr>
        <p:txBody>
          <a:bodyPr/>
          <a:lstStyle/>
          <a:p>
            <a:endParaRPr lang="en-CA"/>
          </a:p>
        </p:txBody>
      </p:sp>
      <p:sp>
        <p:nvSpPr>
          <p:cNvPr id="29" name="Text 27"/>
          <p:cNvSpPr/>
          <p:nvPr/>
        </p:nvSpPr>
        <p:spPr>
          <a:xfrm>
            <a:off x="9815170" y="4160520"/>
            <a:ext cx="1706270" cy="1554480"/>
          </a:xfrm>
          <a:prstGeom prst="rect">
            <a:avLst/>
          </a:prstGeom>
          <a:noFill/>
          <a:ln/>
        </p:spPr>
        <p:txBody>
          <a:bodyPr wrap="square" lIns="0" tIns="0" rIns="0" bIns="0" rtlCol="0" anchor="t"/>
          <a:lstStyle/>
          <a:p>
            <a:r>
              <a:rPr lang="en-US" sz="1150">
                <a:solidFill>
                  <a:srgbClr val="4B5563"/>
                </a:solidFill>
                <a:latin typeface="Segoe UI"/>
                <a:ea typeface="Segoe UI" pitchFamily="34" charset="-122"/>
                <a:cs typeface="Segoe UI"/>
              </a:rPr>
              <a:t>Short reflection — partnership, teamwork, innovation, reuse. Can be verbal and does not require a slide.</a:t>
            </a:r>
            <a:endParaRPr lang="en-US" sz="1150"/>
          </a:p>
        </p:txBody>
      </p:sp>
      <p:sp>
        <p:nvSpPr>
          <p:cNvPr id="30" name="Text 28"/>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31" name="Text 29"/>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7</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WHAT “GREAT” LOOKS LIKE</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How entries are judged</a:t>
            </a:r>
            <a:endParaRPr lang="en-US" sz="2800"/>
          </a:p>
        </p:txBody>
      </p:sp>
      <p:sp>
        <p:nvSpPr>
          <p:cNvPr id="4" name="Text 2"/>
          <p:cNvSpPr/>
          <p:nvPr/>
        </p:nvSpPr>
        <p:spPr>
          <a:xfrm>
            <a:off x="457200" y="1371600"/>
            <a:ext cx="11247120" cy="365760"/>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Leaders select a best-in-subdivision entry per topic area, judged against a common rubric across all pods.</a:t>
            </a:r>
            <a:endParaRPr lang="en-US" sz="1400"/>
          </a:p>
        </p:txBody>
      </p:sp>
      <p:sp>
        <p:nvSpPr>
          <p:cNvPr id="5" name="Shape 3"/>
          <p:cNvSpPr/>
          <p:nvPr/>
        </p:nvSpPr>
        <p:spPr>
          <a:xfrm>
            <a:off x="457200" y="1965960"/>
            <a:ext cx="3627120" cy="1874520"/>
          </a:xfrm>
          <a:prstGeom prst="rect">
            <a:avLst/>
          </a:prstGeom>
          <a:solidFill>
            <a:srgbClr val="FFFFFF"/>
          </a:solidFill>
          <a:ln w="9525">
            <a:solidFill>
              <a:srgbClr val="D1D5DB"/>
            </a:solidFill>
            <a:prstDash val="solid"/>
          </a:ln>
        </p:spPr>
        <p:txBody>
          <a:bodyPr/>
          <a:lstStyle/>
          <a:p>
            <a:endParaRPr lang="en-CA"/>
          </a:p>
        </p:txBody>
      </p:sp>
      <p:sp>
        <p:nvSpPr>
          <p:cNvPr id="6" name="Shape 4"/>
          <p:cNvSpPr/>
          <p:nvPr/>
        </p:nvSpPr>
        <p:spPr>
          <a:xfrm>
            <a:off x="457200" y="1965960"/>
            <a:ext cx="73152" cy="1874520"/>
          </a:xfrm>
          <a:prstGeom prst="rect">
            <a:avLst/>
          </a:prstGeom>
          <a:solidFill>
            <a:srgbClr val="0078D4"/>
          </a:solidFill>
          <a:ln/>
        </p:spPr>
        <p:txBody>
          <a:bodyPr/>
          <a:lstStyle/>
          <a:p>
            <a:endParaRPr lang="en-CA"/>
          </a:p>
        </p:txBody>
      </p:sp>
      <p:sp>
        <p:nvSpPr>
          <p:cNvPr id="7" name="Text 5"/>
          <p:cNvSpPr/>
          <p:nvPr/>
        </p:nvSpPr>
        <p:spPr>
          <a:xfrm>
            <a:off x="731520" y="21945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01</a:t>
            </a:r>
            <a:endParaRPr lang="en-US" sz="1200"/>
          </a:p>
        </p:txBody>
      </p:sp>
      <p:sp>
        <p:nvSpPr>
          <p:cNvPr id="8" name="Text 6"/>
          <p:cNvSpPr/>
          <p:nvPr/>
        </p:nvSpPr>
        <p:spPr>
          <a:xfrm>
            <a:off x="731520" y="25603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Storytelling</a:t>
            </a:r>
            <a:endParaRPr lang="en-US" sz="1800"/>
          </a:p>
        </p:txBody>
      </p:sp>
      <p:sp>
        <p:nvSpPr>
          <p:cNvPr id="9" name="Text 7"/>
          <p:cNvSpPr/>
          <p:nvPr/>
        </p:nvSpPr>
        <p:spPr>
          <a:xfrm>
            <a:off x="731520" y="30175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Clear, compelling narrative</a:t>
            </a:r>
            <a:endParaRPr lang="en-US" sz="1250"/>
          </a:p>
        </p:txBody>
      </p:sp>
      <p:sp>
        <p:nvSpPr>
          <p:cNvPr id="10" name="Shape 8"/>
          <p:cNvSpPr/>
          <p:nvPr/>
        </p:nvSpPr>
        <p:spPr>
          <a:xfrm>
            <a:off x="4267200" y="1965960"/>
            <a:ext cx="3627120" cy="1874520"/>
          </a:xfrm>
          <a:prstGeom prst="rect">
            <a:avLst/>
          </a:prstGeom>
          <a:solidFill>
            <a:srgbClr val="FFFFFF"/>
          </a:solidFill>
          <a:ln w="9525">
            <a:solidFill>
              <a:srgbClr val="D1D5DB"/>
            </a:solidFill>
            <a:prstDash val="solid"/>
          </a:ln>
        </p:spPr>
        <p:txBody>
          <a:bodyPr/>
          <a:lstStyle/>
          <a:p>
            <a:endParaRPr lang="en-CA"/>
          </a:p>
        </p:txBody>
      </p:sp>
      <p:sp>
        <p:nvSpPr>
          <p:cNvPr id="11" name="Shape 9"/>
          <p:cNvSpPr/>
          <p:nvPr/>
        </p:nvSpPr>
        <p:spPr>
          <a:xfrm>
            <a:off x="4267200" y="1965960"/>
            <a:ext cx="73152" cy="1874520"/>
          </a:xfrm>
          <a:prstGeom prst="rect">
            <a:avLst/>
          </a:prstGeom>
          <a:solidFill>
            <a:srgbClr val="0078D4"/>
          </a:solidFill>
          <a:ln/>
        </p:spPr>
        <p:txBody>
          <a:bodyPr/>
          <a:lstStyle/>
          <a:p>
            <a:endParaRPr lang="en-CA"/>
          </a:p>
        </p:txBody>
      </p:sp>
      <p:sp>
        <p:nvSpPr>
          <p:cNvPr id="12" name="Text 10"/>
          <p:cNvSpPr/>
          <p:nvPr/>
        </p:nvSpPr>
        <p:spPr>
          <a:xfrm>
            <a:off x="4541520" y="21945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02</a:t>
            </a:r>
            <a:endParaRPr lang="en-US" sz="1200"/>
          </a:p>
        </p:txBody>
      </p:sp>
      <p:sp>
        <p:nvSpPr>
          <p:cNvPr id="13" name="Text 11"/>
          <p:cNvSpPr/>
          <p:nvPr/>
        </p:nvSpPr>
        <p:spPr>
          <a:xfrm>
            <a:off x="4541520" y="25603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Business accuracy</a:t>
            </a:r>
            <a:endParaRPr lang="en-US" sz="1800"/>
          </a:p>
        </p:txBody>
      </p:sp>
      <p:sp>
        <p:nvSpPr>
          <p:cNvPr id="14" name="Text 12"/>
          <p:cNvSpPr/>
          <p:nvPr/>
        </p:nvSpPr>
        <p:spPr>
          <a:xfrm>
            <a:off x="4541520" y="30175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Real, recognizable domain framing</a:t>
            </a:r>
            <a:endParaRPr lang="en-US" sz="1250"/>
          </a:p>
        </p:txBody>
      </p:sp>
      <p:sp>
        <p:nvSpPr>
          <p:cNvPr id="15" name="Shape 13"/>
          <p:cNvSpPr/>
          <p:nvPr/>
        </p:nvSpPr>
        <p:spPr>
          <a:xfrm>
            <a:off x="8077200" y="1965960"/>
            <a:ext cx="3627120" cy="1874520"/>
          </a:xfrm>
          <a:prstGeom prst="rect">
            <a:avLst/>
          </a:prstGeom>
          <a:solidFill>
            <a:srgbClr val="FFFFFF"/>
          </a:solidFill>
          <a:ln w="9525">
            <a:solidFill>
              <a:srgbClr val="D1D5DB"/>
            </a:solidFill>
            <a:prstDash val="solid"/>
          </a:ln>
        </p:spPr>
        <p:txBody>
          <a:bodyPr/>
          <a:lstStyle/>
          <a:p>
            <a:endParaRPr lang="en-CA"/>
          </a:p>
        </p:txBody>
      </p:sp>
      <p:sp>
        <p:nvSpPr>
          <p:cNvPr id="16" name="Shape 14"/>
          <p:cNvSpPr/>
          <p:nvPr/>
        </p:nvSpPr>
        <p:spPr>
          <a:xfrm>
            <a:off x="8077200" y="1965960"/>
            <a:ext cx="73152" cy="1874520"/>
          </a:xfrm>
          <a:prstGeom prst="rect">
            <a:avLst/>
          </a:prstGeom>
          <a:solidFill>
            <a:srgbClr val="0078D4"/>
          </a:solidFill>
          <a:ln/>
        </p:spPr>
        <p:txBody>
          <a:bodyPr/>
          <a:lstStyle/>
          <a:p>
            <a:endParaRPr lang="en-CA"/>
          </a:p>
        </p:txBody>
      </p:sp>
      <p:sp>
        <p:nvSpPr>
          <p:cNvPr id="17" name="Text 15"/>
          <p:cNvSpPr/>
          <p:nvPr/>
        </p:nvSpPr>
        <p:spPr>
          <a:xfrm>
            <a:off x="8351520" y="21945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03</a:t>
            </a:r>
            <a:endParaRPr lang="en-US" sz="1200"/>
          </a:p>
        </p:txBody>
      </p:sp>
      <p:sp>
        <p:nvSpPr>
          <p:cNvPr id="18" name="Text 16"/>
          <p:cNvSpPr/>
          <p:nvPr/>
        </p:nvSpPr>
        <p:spPr>
          <a:xfrm>
            <a:off x="8351520" y="25603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Agentic design</a:t>
            </a:r>
            <a:endParaRPr lang="en-US" sz="1800"/>
          </a:p>
        </p:txBody>
      </p:sp>
      <p:sp>
        <p:nvSpPr>
          <p:cNvPr id="19" name="Text 17"/>
          <p:cNvSpPr/>
          <p:nvPr/>
        </p:nvSpPr>
        <p:spPr>
          <a:xfrm>
            <a:off x="8351520" y="30175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Well-formed agent workflow quality</a:t>
            </a:r>
            <a:endParaRPr lang="en-US" sz="1250"/>
          </a:p>
        </p:txBody>
      </p:sp>
      <p:sp>
        <p:nvSpPr>
          <p:cNvPr id="20" name="Shape 18"/>
          <p:cNvSpPr/>
          <p:nvPr/>
        </p:nvSpPr>
        <p:spPr>
          <a:xfrm>
            <a:off x="457200" y="4023360"/>
            <a:ext cx="3627120" cy="1874520"/>
          </a:xfrm>
          <a:prstGeom prst="rect">
            <a:avLst/>
          </a:prstGeom>
          <a:solidFill>
            <a:srgbClr val="FFFFFF"/>
          </a:solidFill>
          <a:ln w="9525">
            <a:solidFill>
              <a:srgbClr val="D1D5DB"/>
            </a:solidFill>
            <a:prstDash val="solid"/>
          </a:ln>
        </p:spPr>
        <p:txBody>
          <a:bodyPr/>
          <a:lstStyle/>
          <a:p>
            <a:endParaRPr lang="en-CA"/>
          </a:p>
        </p:txBody>
      </p:sp>
      <p:sp>
        <p:nvSpPr>
          <p:cNvPr id="21" name="Shape 19"/>
          <p:cNvSpPr/>
          <p:nvPr/>
        </p:nvSpPr>
        <p:spPr>
          <a:xfrm>
            <a:off x="457200" y="4023360"/>
            <a:ext cx="73152" cy="1874520"/>
          </a:xfrm>
          <a:prstGeom prst="rect">
            <a:avLst/>
          </a:prstGeom>
          <a:solidFill>
            <a:srgbClr val="0078D4"/>
          </a:solidFill>
          <a:ln/>
        </p:spPr>
        <p:txBody>
          <a:bodyPr/>
          <a:lstStyle/>
          <a:p>
            <a:endParaRPr lang="en-CA"/>
          </a:p>
        </p:txBody>
      </p:sp>
      <p:sp>
        <p:nvSpPr>
          <p:cNvPr id="22" name="Text 20"/>
          <p:cNvSpPr/>
          <p:nvPr/>
        </p:nvSpPr>
        <p:spPr>
          <a:xfrm>
            <a:off x="731520" y="42519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04</a:t>
            </a:r>
            <a:endParaRPr lang="en-US" sz="1200"/>
          </a:p>
        </p:txBody>
      </p:sp>
      <p:sp>
        <p:nvSpPr>
          <p:cNvPr id="23" name="Text 21"/>
          <p:cNvSpPr/>
          <p:nvPr/>
        </p:nvSpPr>
        <p:spPr>
          <a:xfrm>
            <a:off x="731520" y="46177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Technical feasibility</a:t>
            </a:r>
            <a:endParaRPr lang="en-US" sz="1800"/>
          </a:p>
        </p:txBody>
      </p:sp>
      <p:sp>
        <p:nvSpPr>
          <p:cNvPr id="24" name="Text 22"/>
          <p:cNvSpPr/>
          <p:nvPr/>
        </p:nvSpPr>
        <p:spPr>
          <a:xfrm>
            <a:off x="731520" y="50749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Plausible path to a customer build</a:t>
            </a:r>
            <a:endParaRPr lang="en-US" sz="1250"/>
          </a:p>
        </p:txBody>
      </p:sp>
      <p:sp>
        <p:nvSpPr>
          <p:cNvPr id="25" name="Shape 23"/>
          <p:cNvSpPr/>
          <p:nvPr/>
        </p:nvSpPr>
        <p:spPr>
          <a:xfrm>
            <a:off x="4267200" y="4023360"/>
            <a:ext cx="3627120" cy="1874520"/>
          </a:xfrm>
          <a:prstGeom prst="rect">
            <a:avLst/>
          </a:prstGeom>
          <a:solidFill>
            <a:srgbClr val="FFFFFF"/>
          </a:solidFill>
          <a:ln w="9525">
            <a:solidFill>
              <a:srgbClr val="D1D5DB"/>
            </a:solidFill>
            <a:prstDash val="solid"/>
          </a:ln>
        </p:spPr>
        <p:txBody>
          <a:bodyPr/>
          <a:lstStyle/>
          <a:p>
            <a:endParaRPr lang="en-CA"/>
          </a:p>
        </p:txBody>
      </p:sp>
      <p:sp>
        <p:nvSpPr>
          <p:cNvPr id="26" name="Shape 24"/>
          <p:cNvSpPr/>
          <p:nvPr/>
        </p:nvSpPr>
        <p:spPr>
          <a:xfrm>
            <a:off x="4267200" y="4023360"/>
            <a:ext cx="73152" cy="1874520"/>
          </a:xfrm>
          <a:prstGeom prst="rect">
            <a:avLst/>
          </a:prstGeom>
          <a:solidFill>
            <a:srgbClr val="0078D4"/>
          </a:solidFill>
          <a:ln/>
        </p:spPr>
        <p:txBody>
          <a:bodyPr/>
          <a:lstStyle/>
          <a:p>
            <a:endParaRPr lang="en-CA"/>
          </a:p>
        </p:txBody>
      </p:sp>
      <p:sp>
        <p:nvSpPr>
          <p:cNvPr id="27" name="Text 25"/>
          <p:cNvSpPr/>
          <p:nvPr/>
        </p:nvSpPr>
        <p:spPr>
          <a:xfrm>
            <a:off x="4541520" y="42519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05</a:t>
            </a:r>
            <a:endParaRPr lang="en-US" sz="1200"/>
          </a:p>
        </p:txBody>
      </p:sp>
      <p:sp>
        <p:nvSpPr>
          <p:cNvPr id="28" name="Text 26"/>
          <p:cNvSpPr/>
          <p:nvPr/>
        </p:nvSpPr>
        <p:spPr>
          <a:xfrm>
            <a:off x="4541520" y="46177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Creativity &amp; reuse</a:t>
            </a:r>
            <a:endParaRPr lang="en-US" sz="1800"/>
          </a:p>
        </p:txBody>
      </p:sp>
      <p:sp>
        <p:nvSpPr>
          <p:cNvPr id="29" name="Text 27"/>
          <p:cNvSpPr/>
          <p:nvPr/>
        </p:nvSpPr>
        <p:spPr>
          <a:xfrm>
            <a:off x="4541520" y="50749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Builds on accelerators; novel framing</a:t>
            </a:r>
            <a:endParaRPr lang="en-US" sz="1250"/>
          </a:p>
        </p:txBody>
      </p:sp>
      <p:sp>
        <p:nvSpPr>
          <p:cNvPr id="30" name="Shape 28"/>
          <p:cNvSpPr/>
          <p:nvPr/>
        </p:nvSpPr>
        <p:spPr>
          <a:xfrm>
            <a:off x="8077200" y="4023360"/>
            <a:ext cx="3627120" cy="1874520"/>
          </a:xfrm>
          <a:prstGeom prst="rect">
            <a:avLst/>
          </a:prstGeom>
          <a:solidFill>
            <a:srgbClr val="FFFFFF"/>
          </a:solidFill>
          <a:ln w="9525">
            <a:solidFill>
              <a:srgbClr val="D1D5DB"/>
            </a:solidFill>
            <a:prstDash val="solid"/>
          </a:ln>
        </p:spPr>
        <p:txBody>
          <a:bodyPr/>
          <a:lstStyle/>
          <a:p>
            <a:endParaRPr lang="en-CA"/>
          </a:p>
        </p:txBody>
      </p:sp>
      <p:sp>
        <p:nvSpPr>
          <p:cNvPr id="31" name="Shape 29"/>
          <p:cNvSpPr/>
          <p:nvPr/>
        </p:nvSpPr>
        <p:spPr>
          <a:xfrm>
            <a:off x="8077200" y="4023360"/>
            <a:ext cx="73152" cy="1874520"/>
          </a:xfrm>
          <a:prstGeom prst="rect">
            <a:avLst/>
          </a:prstGeom>
          <a:solidFill>
            <a:srgbClr val="0078D4"/>
          </a:solidFill>
          <a:ln/>
        </p:spPr>
        <p:txBody>
          <a:bodyPr/>
          <a:lstStyle/>
          <a:p>
            <a:endParaRPr lang="en-CA"/>
          </a:p>
        </p:txBody>
      </p:sp>
      <p:sp>
        <p:nvSpPr>
          <p:cNvPr id="32" name="Text 30"/>
          <p:cNvSpPr/>
          <p:nvPr/>
        </p:nvSpPr>
        <p:spPr>
          <a:xfrm>
            <a:off x="8351520" y="4251960"/>
            <a:ext cx="914400" cy="365760"/>
          </a:xfrm>
          <a:prstGeom prst="rect">
            <a:avLst/>
          </a:prstGeom>
          <a:noFill/>
          <a:ln/>
        </p:spPr>
        <p:txBody>
          <a:bodyPr wrap="square" lIns="0" tIns="0" rIns="0" bIns="0" rtlCol="0" anchor="ctr"/>
          <a:lstStyle/>
          <a:p>
            <a:pPr marL="0" indent="0">
              <a:buNone/>
            </a:pPr>
            <a:r>
              <a:rPr lang="en-US" sz="1200" b="1" kern="0" spc="100">
                <a:solidFill>
                  <a:srgbClr val="0078D4"/>
                </a:solidFill>
                <a:latin typeface="Segoe UI Semibold" pitchFamily="34" charset="0"/>
                <a:ea typeface="Segoe UI Semibold" pitchFamily="34" charset="-122"/>
                <a:cs typeface="Segoe UI Semibold" pitchFamily="34" charset="-120"/>
              </a:rPr>
              <a:t>06</a:t>
            </a:r>
            <a:endParaRPr lang="en-US" sz="1200"/>
          </a:p>
        </p:txBody>
      </p:sp>
      <p:sp>
        <p:nvSpPr>
          <p:cNvPr id="33" name="Text 31"/>
          <p:cNvSpPr/>
          <p:nvPr/>
        </p:nvSpPr>
        <p:spPr>
          <a:xfrm>
            <a:off x="8351520" y="4617720"/>
            <a:ext cx="3124200" cy="457200"/>
          </a:xfrm>
          <a:prstGeom prst="rect">
            <a:avLst/>
          </a:prstGeom>
          <a:noFill/>
          <a:ln/>
        </p:spPr>
        <p:txBody>
          <a:bodyPr wrap="square" lIns="0" tIns="0" rIns="0" bIns="0" rtlCol="0" anchor="ctr"/>
          <a:lstStyle/>
          <a:p>
            <a:pPr marL="0" indent="0">
              <a:buNone/>
            </a:pPr>
            <a:r>
              <a:rPr lang="en-US" sz="1800" b="1">
                <a:solidFill>
                  <a:srgbClr val="0B2545"/>
                </a:solidFill>
                <a:latin typeface="Segoe UI Semibold" pitchFamily="34" charset="0"/>
                <a:ea typeface="Segoe UI Semibold" pitchFamily="34" charset="-122"/>
                <a:cs typeface="Segoe UI Semibold" pitchFamily="34" charset="-120"/>
              </a:rPr>
              <a:t>Teamwork</a:t>
            </a:r>
            <a:endParaRPr lang="en-US" sz="1800"/>
          </a:p>
        </p:txBody>
      </p:sp>
      <p:sp>
        <p:nvSpPr>
          <p:cNvPr id="34" name="Text 32"/>
          <p:cNvSpPr/>
          <p:nvPr/>
        </p:nvSpPr>
        <p:spPr>
          <a:xfrm>
            <a:off x="8351520" y="5074920"/>
            <a:ext cx="3124200" cy="548640"/>
          </a:xfrm>
          <a:prstGeom prst="rect">
            <a:avLst/>
          </a:prstGeom>
          <a:noFill/>
          <a:ln/>
        </p:spPr>
        <p:txBody>
          <a:bodyPr wrap="square" lIns="0" tIns="0" rIns="0" bIns="0" rtlCol="0" anchor="t"/>
          <a:lstStyle/>
          <a:p>
            <a:pPr marL="0" indent="0">
              <a:buNone/>
            </a:pPr>
            <a:r>
              <a:rPr lang="en-US" sz="1250">
                <a:solidFill>
                  <a:srgbClr val="4B5563"/>
                </a:solidFill>
                <a:latin typeface="Segoe UI" pitchFamily="34" charset="0"/>
                <a:ea typeface="Segoe UI" pitchFamily="34" charset="-122"/>
                <a:cs typeface="Segoe UI" pitchFamily="34" charset="-120"/>
              </a:rPr>
              <a:t>Demonstrated cross-functional collaboration</a:t>
            </a:r>
            <a:endParaRPr lang="en-US" sz="1250"/>
          </a:p>
        </p:txBody>
      </p:sp>
      <p:sp>
        <p:nvSpPr>
          <p:cNvPr id="35" name="Text 33"/>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36" name="Text 34"/>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8</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THE CHALLENGE</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r>
              <a:rPr lang="en-US" sz="2800" b="1">
                <a:solidFill>
                  <a:srgbClr val="0B2545"/>
                </a:solidFill>
                <a:latin typeface="Segoe UI Semibold"/>
                <a:ea typeface="Segoe UI Semibold" pitchFamily="34" charset="-122"/>
                <a:cs typeface="Segoe UI Semibold"/>
              </a:rPr>
              <a:t>The challenge for Capital Markets today</a:t>
            </a:r>
            <a:endParaRPr lang="en-US" sz="2800"/>
          </a:p>
        </p:txBody>
      </p:sp>
      <p:sp>
        <p:nvSpPr>
          <p:cNvPr id="4" name="Shape 2"/>
          <p:cNvSpPr/>
          <p:nvPr/>
        </p:nvSpPr>
        <p:spPr>
          <a:xfrm>
            <a:off x="457200" y="1554480"/>
            <a:ext cx="11247120" cy="4297680"/>
          </a:xfrm>
          <a:prstGeom prst="rect">
            <a:avLst/>
          </a:prstGeom>
          <a:solidFill>
            <a:srgbClr val="FFFFFF"/>
          </a:solidFill>
          <a:ln w="9525">
            <a:solidFill>
              <a:srgbClr val="D1D5DB"/>
            </a:solidFill>
            <a:prstDash val="solid"/>
          </a:ln>
        </p:spPr>
        <p:txBody>
          <a:bodyPr/>
          <a:lstStyle/>
          <a:p>
            <a:endParaRPr lang="en-CA"/>
          </a:p>
        </p:txBody>
      </p:sp>
      <p:sp>
        <p:nvSpPr>
          <p:cNvPr id="5" name="Shape 3"/>
          <p:cNvSpPr/>
          <p:nvPr/>
        </p:nvSpPr>
        <p:spPr>
          <a:xfrm>
            <a:off x="457200" y="1554480"/>
            <a:ext cx="109728" cy="4297680"/>
          </a:xfrm>
          <a:prstGeom prst="rect">
            <a:avLst/>
          </a:prstGeom>
          <a:solidFill>
            <a:schemeClr val="accent6">
              <a:lumMod val="75000"/>
            </a:schemeClr>
          </a:solidFill>
          <a:ln/>
        </p:spPr>
        <p:txBody>
          <a:bodyPr/>
          <a:lstStyle/>
          <a:p>
            <a:endParaRPr lang="en-CA"/>
          </a:p>
        </p:txBody>
      </p:sp>
      <p:sp>
        <p:nvSpPr>
          <p:cNvPr id="6" name="Text 4"/>
          <p:cNvSpPr/>
          <p:nvPr/>
        </p:nvSpPr>
        <p:spPr>
          <a:xfrm>
            <a:off x="914400" y="2011680"/>
            <a:ext cx="10332720" cy="274320"/>
          </a:xfrm>
          <a:prstGeom prst="rect">
            <a:avLst/>
          </a:prstGeom>
          <a:noFill/>
          <a:ln/>
        </p:spPr>
        <p:txBody>
          <a:bodyPr wrap="square" lIns="0" tIns="0" rIns="0" bIns="0" rtlCol="0" anchor="ctr"/>
          <a:lstStyle/>
          <a:p>
            <a:pPr marL="0" indent="0">
              <a:buNone/>
            </a:pPr>
            <a:endParaRPr lang="en-US" sz="1000"/>
          </a:p>
        </p:txBody>
      </p:sp>
      <p:sp>
        <p:nvSpPr>
          <p:cNvPr id="7" name="Text 5"/>
          <p:cNvSpPr/>
          <p:nvPr/>
        </p:nvSpPr>
        <p:spPr>
          <a:xfrm>
            <a:off x="914400" y="1900646"/>
            <a:ext cx="10354490" cy="548640"/>
          </a:xfrm>
          <a:prstGeom prst="rect">
            <a:avLst/>
          </a:prstGeom>
          <a:noFill/>
          <a:ln/>
        </p:spPr>
        <p:txBody>
          <a:bodyPr wrap="square" lIns="0" tIns="0" rIns="0" bIns="0" rtlCol="0" anchor="t">
            <a:normAutofit fontScale="92500" lnSpcReduction="10000"/>
          </a:bodyPr>
          <a:lstStyle/>
          <a:p>
            <a:pPr marL="0" indent="0">
              <a:lnSpc>
                <a:spcPct val="120000"/>
              </a:lnSpc>
              <a:buNone/>
            </a:pPr>
            <a:r>
              <a:rPr lang="en-US" b="1">
                <a:solidFill>
                  <a:srgbClr val="0B2545"/>
                </a:solidFill>
                <a:latin typeface="Segoe UI"/>
                <a:ea typeface="Segoe UI" pitchFamily="34" charset="-122"/>
                <a:cs typeface="Segoe UI"/>
              </a:rPr>
              <a:t>Capital Markets is shifting across three value modes — trust </a:t>
            </a:r>
            <a:r>
              <a:rPr lang="en-US">
                <a:solidFill>
                  <a:srgbClr val="0B2545"/>
                </a:solidFill>
                <a:latin typeface="Segoe UI"/>
                <a:ea typeface="Segoe UI" pitchFamily="34" charset="-122"/>
                <a:cs typeface="Segoe UI"/>
              </a:rPr>
              <a:t>(brand &amp; fiduciary)</a:t>
            </a:r>
            <a:r>
              <a:rPr lang="en-US" b="1">
                <a:solidFill>
                  <a:srgbClr val="0B2545"/>
                </a:solidFill>
                <a:latin typeface="Segoe UI"/>
                <a:ea typeface="Segoe UI" pitchFamily="34" charset="-122"/>
                <a:cs typeface="Segoe UI"/>
              </a:rPr>
              <a:t>, alpha</a:t>
            </a:r>
            <a:r>
              <a:rPr lang="en-US">
                <a:solidFill>
                  <a:srgbClr val="0B2545"/>
                </a:solidFill>
                <a:latin typeface="Segoe UI"/>
                <a:ea typeface="Segoe UI" pitchFamily="34" charset="-122"/>
                <a:cs typeface="Segoe UI"/>
              </a:rPr>
              <a:t> (proprietary data &amp; judgment), and </a:t>
            </a:r>
            <a:r>
              <a:rPr lang="en-US" b="1">
                <a:solidFill>
                  <a:srgbClr val="0B2545"/>
                </a:solidFill>
                <a:latin typeface="Segoe UI"/>
                <a:ea typeface="Segoe UI" pitchFamily="34" charset="-122"/>
                <a:cs typeface="Segoe UI"/>
              </a:rPr>
              <a:t>distribution</a:t>
            </a:r>
            <a:r>
              <a:rPr lang="en-US">
                <a:solidFill>
                  <a:srgbClr val="0B2545"/>
                </a:solidFill>
                <a:latin typeface="Segoe UI"/>
                <a:ea typeface="Segoe UI" pitchFamily="34" charset="-122"/>
                <a:cs typeface="Segoe UI"/>
              </a:rPr>
              <a:t> (hyper‑personalized client engagement)</a:t>
            </a:r>
            <a:r>
              <a:rPr lang="en-US" b="1">
                <a:solidFill>
                  <a:srgbClr val="0B2545"/>
                </a:solidFill>
                <a:latin typeface="Segoe UI"/>
                <a:ea typeface="Segoe UI" pitchFamily="34" charset="-122"/>
                <a:cs typeface="Segoe UI"/>
              </a:rPr>
              <a:t>.</a:t>
            </a:r>
            <a:endParaRPr lang="en-US">
              <a:latin typeface="Segoe UI"/>
              <a:cs typeface="Segoe UI"/>
            </a:endParaRPr>
          </a:p>
        </p:txBody>
      </p:sp>
      <p:sp>
        <p:nvSpPr>
          <p:cNvPr id="8" name="Text 6"/>
          <p:cNvSpPr/>
          <p:nvPr/>
        </p:nvSpPr>
        <p:spPr>
          <a:xfrm>
            <a:off x="914400" y="2796903"/>
            <a:ext cx="10354491" cy="2506617"/>
          </a:xfrm>
          <a:prstGeom prst="rect">
            <a:avLst/>
          </a:prstGeom>
          <a:noFill/>
          <a:ln/>
        </p:spPr>
        <p:txBody>
          <a:bodyPr wrap="square" lIns="0" tIns="0" rIns="0" bIns="0" rtlCol="0" anchor="t">
            <a:normAutofit lnSpcReduction="10000"/>
          </a:bodyPr>
          <a:lstStyle/>
          <a:p>
            <a:pPr marL="0" indent="0">
              <a:spcBef>
                <a:spcPts val="200"/>
              </a:spcBef>
              <a:buNone/>
            </a:pPr>
            <a:r>
              <a:rPr lang="en-US" sz="1600" b="1">
                <a:solidFill>
                  <a:srgbClr val="4B5563"/>
                </a:solidFill>
                <a:latin typeface="Segoe UI" pitchFamily="34" charset="0"/>
                <a:ea typeface="Segoe UI" pitchFamily="34" charset="-122"/>
                <a:cs typeface="Segoe UI" pitchFamily="34" charset="-120"/>
              </a:rPr>
              <a:t>Massive structural pressures are accelerating this shift:</a:t>
            </a:r>
            <a:endParaRPr lang="en-US" sz="1600"/>
          </a:p>
          <a:p>
            <a:pPr marL="342900">
              <a:lnSpc>
                <a:spcPct val="120000"/>
              </a:lnSpc>
            </a:pPr>
            <a:r>
              <a:rPr lang="en-US" sz="1600">
                <a:solidFill>
                  <a:srgbClr val="4B5563"/>
                </a:solidFill>
                <a:latin typeface="Segoe UI"/>
                <a:ea typeface="Segoe UI" pitchFamily="34" charset="-122"/>
                <a:cs typeface="Segoe UI"/>
              </a:rPr>
              <a:t>–  Intergenerational wealth transfer ($84T over the next two decades per UBS)</a:t>
            </a:r>
            <a:endParaRPr lang="en-US" sz="1600"/>
          </a:p>
          <a:p>
            <a:pPr marL="342900" indent="0">
              <a:lnSpc>
                <a:spcPct val="120000"/>
              </a:lnSpc>
              <a:buNone/>
            </a:pPr>
            <a:r>
              <a:rPr lang="en-US" sz="1600">
                <a:solidFill>
                  <a:srgbClr val="4B5563"/>
                </a:solidFill>
                <a:latin typeface="Segoe UI" pitchFamily="34" charset="0"/>
                <a:ea typeface="Segoe UI" pitchFamily="34" charset="-122"/>
                <a:cs typeface="Segoe UI" pitchFamily="34" charset="-120"/>
              </a:rPr>
              <a:t>–  Rising regulatory complexity + cost pressure</a:t>
            </a:r>
            <a:endParaRPr lang="en-US" sz="1600"/>
          </a:p>
          <a:p>
            <a:pPr marL="342900">
              <a:lnSpc>
                <a:spcPct val="120000"/>
              </a:lnSpc>
            </a:pPr>
            <a:r>
              <a:rPr lang="en-US" sz="1600">
                <a:solidFill>
                  <a:srgbClr val="4B5563"/>
                </a:solidFill>
                <a:latin typeface="Segoe UI"/>
                <a:ea typeface="Segoe UI" pitchFamily="34" charset="-122"/>
                <a:cs typeface="Segoe UI"/>
              </a:rPr>
              <a:t>– AI reshaping productivity and workflows</a:t>
            </a:r>
            <a:br>
              <a:rPr lang="en-US" sz="1600">
                <a:latin typeface="Segoe UI"/>
                <a:ea typeface="Segoe UI" pitchFamily="34" charset="-122"/>
                <a:cs typeface="Segoe UI"/>
              </a:rPr>
            </a:br>
            <a:endParaRPr lang="en-US" sz="1600"/>
          </a:p>
          <a:p>
            <a:pPr>
              <a:spcBef>
                <a:spcPts val="300"/>
              </a:spcBef>
            </a:pPr>
            <a:r>
              <a:rPr lang="en-US" sz="1600" b="1">
                <a:solidFill>
                  <a:srgbClr val="4B5563"/>
                </a:solidFill>
                <a:latin typeface="Segoe UI"/>
                <a:ea typeface="Segoe UI" pitchFamily="34" charset="-122"/>
                <a:cs typeface="Segoe UI"/>
              </a:rPr>
              <a:t>“Industry IQ” becomes the differentiator </a:t>
            </a:r>
            <a:r>
              <a:rPr lang="en-US" sz="1600">
                <a:solidFill>
                  <a:srgbClr val="4B5563"/>
                </a:solidFill>
                <a:latin typeface="Segoe UI"/>
                <a:ea typeface="Segoe UI" pitchFamily="34" charset="-122"/>
                <a:cs typeface="Segoe UI"/>
              </a:rPr>
              <a:t>— combining firm data, ecosystem intelligence, and secure interoperability into an integrated model.</a:t>
            </a:r>
            <a:br>
              <a:rPr lang="en-US" sz="1600">
                <a:latin typeface="Segoe UI"/>
                <a:ea typeface="Segoe UI" pitchFamily="34" charset="-122"/>
                <a:cs typeface="Segoe UI"/>
              </a:rPr>
            </a:br>
            <a:endParaRPr lang="en-US" sz="1600">
              <a:latin typeface="Segoe UI"/>
              <a:cs typeface="Segoe UI"/>
            </a:endParaRPr>
          </a:p>
          <a:p>
            <a:pPr marL="0" indent="0">
              <a:spcBef>
                <a:spcPts val="300"/>
              </a:spcBef>
              <a:buNone/>
            </a:pPr>
            <a:r>
              <a:rPr lang="en-US" sz="1600" b="1">
                <a:solidFill>
                  <a:srgbClr val="4B5563"/>
                </a:solidFill>
                <a:latin typeface="Segoe UI"/>
                <a:ea typeface="Segoe UI" pitchFamily="34" charset="-122"/>
                <a:cs typeface="Segoe UI"/>
              </a:rPr>
              <a:t>Winning firms evolve into ecosystem platforms </a:t>
            </a:r>
            <a:r>
              <a:rPr lang="en-US" sz="1600">
                <a:solidFill>
                  <a:srgbClr val="4B5563"/>
                </a:solidFill>
                <a:latin typeface="Segoe UI"/>
                <a:ea typeface="Segoe UI" pitchFamily="34" charset="-122"/>
                <a:cs typeface="Segoe UI"/>
              </a:rPr>
              <a:t>— redefining value chains and extending their “integrated firm” through partners, agents, and AI, with Microsoft enabling that transition.</a:t>
            </a:r>
            <a:endParaRPr lang="en-US" sz="1600">
              <a:latin typeface="Segoe UI"/>
              <a:cs typeface="Segoe UI"/>
            </a:endParaRPr>
          </a:p>
        </p:txBody>
      </p:sp>
      <p:sp>
        <p:nvSpPr>
          <p:cNvPr id="9" name="Text 7"/>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10" name="Text 8"/>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3</a:t>
            </a:r>
            <a:endParaRPr lang="en-US" sz="900"/>
          </a:p>
        </p:txBody>
      </p:sp>
    </p:spTree>
    <p:extLst>
      <p:ext uri="{BB962C8B-B14F-4D97-AF65-F5344CB8AC3E}">
        <p14:creationId xmlns:p14="http://schemas.microsoft.com/office/powerpoint/2010/main" val="106211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 · POD 1 OF 2</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AWM</a:t>
            </a:r>
            <a:endParaRPr lang="en-US" sz="2800"/>
          </a:p>
        </p:txBody>
      </p:sp>
      <p:sp>
        <p:nvSpPr>
          <p:cNvPr id="5" name="Text 3"/>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Primary</a:t>
            </a:r>
            <a:endParaRPr lang="en-US" sz="1100"/>
          </a:p>
        </p:txBody>
      </p:sp>
      <p:sp>
        <p:nvSpPr>
          <p:cNvPr id="6" name="Text 4"/>
          <p:cNvSpPr/>
          <p:nvPr/>
        </p:nvSpPr>
        <p:spPr>
          <a:xfrm>
            <a:off x="455023" y="1371600"/>
            <a:ext cx="9875520" cy="310896"/>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Asset &amp; Wealth Management</a:t>
            </a:r>
            <a:endParaRPr lang="en-US" sz="1400"/>
          </a:p>
        </p:txBody>
      </p:sp>
      <p:grpSp>
        <p:nvGrpSpPr>
          <p:cNvPr id="16" name="Group 15">
            <a:extLst>
              <a:ext uri="{FF2B5EF4-FFF2-40B4-BE49-F238E27FC236}">
                <a16:creationId xmlns:a16="http://schemas.microsoft.com/office/drawing/2014/main" id="{A1FAAD1E-AEDC-479E-2AE6-D3ECD669AD3A}"/>
              </a:ext>
            </a:extLst>
          </p:cNvPr>
          <p:cNvGrpSpPr/>
          <p:nvPr/>
        </p:nvGrpSpPr>
        <p:grpSpPr>
          <a:xfrm>
            <a:off x="457200" y="2011680"/>
            <a:ext cx="5638800" cy="3840480"/>
            <a:chOff x="457200" y="2011680"/>
            <a:chExt cx="3840480" cy="3840480"/>
          </a:xfrm>
        </p:grpSpPr>
        <p:sp>
          <p:nvSpPr>
            <p:cNvPr id="7" name="Shape 5"/>
            <p:cNvSpPr/>
            <p:nvPr/>
          </p:nvSpPr>
          <p:spPr>
            <a:xfrm>
              <a:off x="457200" y="2011680"/>
              <a:ext cx="3840480" cy="3840480"/>
            </a:xfrm>
            <a:prstGeom prst="rect">
              <a:avLst/>
            </a:prstGeom>
            <a:solidFill>
              <a:srgbClr val="FFFFFF"/>
            </a:solidFill>
            <a:ln w="9525">
              <a:solidFill>
                <a:srgbClr val="D1D5DB"/>
              </a:solidFill>
              <a:prstDash val="solid"/>
            </a:ln>
          </p:spPr>
          <p:txBody>
            <a:bodyPr/>
            <a:lstStyle/>
            <a:p>
              <a:endParaRPr lang="en-US"/>
            </a:p>
          </p:txBody>
        </p:sp>
        <p:sp>
          <p:nvSpPr>
            <p:cNvPr id="8" name="Shape 6"/>
            <p:cNvSpPr/>
            <p:nvPr/>
          </p:nvSpPr>
          <p:spPr>
            <a:xfrm>
              <a:off x="457200" y="2011680"/>
              <a:ext cx="3840480" cy="109728"/>
            </a:xfrm>
            <a:prstGeom prst="rect">
              <a:avLst/>
            </a:prstGeom>
            <a:solidFill>
              <a:srgbClr val="0078D4"/>
            </a:solidFill>
            <a:ln/>
          </p:spPr>
          <p:txBody>
            <a:bodyPr/>
            <a:lstStyle/>
            <a:p>
              <a:endParaRPr lang="en-US"/>
            </a:p>
          </p:txBody>
        </p:sp>
        <p:sp>
          <p:nvSpPr>
            <p:cNvPr id="9" name="Text 7"/>
            <p:cNvSpPr/>
            <p:nvPr/>
          </p:nvSpPr>
          <p:spPr>
            <a:xfrm>
              <a:off x="777240" y="2331720"/>
              <a:ext cx="3200400" cy="274320"/>
            </a:xfrm>
            <a:prstGeom prst="rect">
              <a:avLst/>
            </a:prstGeom>
            <a:noFill/>
            <a:ln/>
          </p:spPr>
          <p:txBody>
            <a:bodyPr wrap="square" lIns="0" tIns="0" rIns="0" bIns="0" rtlCol="0" anchor="ctr"/>
            <a:lstStyle/>
            <a:p>
              <a:r>
                <a:rPr lang="en-US" sz="1100" b="1" kern="0" spc="200">
                  <a:solidFill>
                    <a:srgbClr val="0078D4"/>
                  </a:solidFill>
                  <a:latin typeface="Segoe UI Semibold"/>
                  <a:cs typeface="Segoe UI Semibold"/>
                </a:rPr>
                <a:t>Industry Advisor</a:t>
              </a:r>
            </a:p>
          </p:txBody>
        </p:sp>
        <p:sp>
          <p:nvSpPr>
            <p:cNvPr id="10" name="Text 8"/>
            <p:cNvSpPr/>
            <p:nvPr/>
          </p:nvSpPr>
          <p:spPr>
            <a:xfrm>
              <a:off x="777240" y="2606040"/>
              <a:ext cx="3200400" cy="411480"/>
            </a:xfrm>
            <a:prstGeom prst="rect">
              <a:avLst/>
            </a:prstGeom>
            <a:noFill/>
            <a:ln/>
          </p:spPr>
          <p:txBody>
            <a:bodyPr wrap="square" lIns="0" tIns="0" rIns="0" bIns="0" rtlCol="0" anchor="ctr"/>
            <a:lstStyle/>
            <a:p>
              <a:r>
                <a:rPr lang="en-US" sz="1600" i="1">
                  <a:solidFill>
                    <a:srgbClr val="6B7280"/>
                  </a:solidFill>
                  <a:latin typeface="Segoe UI Semibold" pitchFamily="34" charset="0"/>
                  <a:ea typeface="Segoe UI Semibold" pitchFamily="34" charset="-122"/>
                  <a:cs typeface="Segoe UI Semibold" pitchFamily="34" charset="-120"/>
                </a:rPr>
                <a:t>Mona</a:t>
              </a:r>
              <a:r>
                <a:rPr lang="en-US" sz="1600" i="1">
                  <a:solidFill>
                    <a:srgbClr val="6B7280"/>
                  </a:solidFill>
                  <a:latin typeface="Segoe UI Semibold"/>
                  <a:ea typeface="Segoe UI Semibold" pitchFamily="34" charset="-122"/>
                  <a:cs typeface="Segoe UI Semibold"/>
                </a:rPr>
                <a:t> · Symon</a:t>
              </a:r>
              <a:endParaRPr lang="en-US" sz="1600"/>
            </a:p>
          </p:txBody>
        </p:sp>
        <p:sp>
          <p:nvSpPr>
            <p:cNvPr id="11" name="Shape 9"/>
            <p:cNvSpPr/>
            <p:nvPr/>
          </p:nvSpPr>
          <p:spPr>
            <a:xfrm>
              <a:off x="777240" y="3154680"/>
              <a:ext cx="3200400" cy="18288"/>
            </a:xfrm>
            <a:prstGeom prst="rect">
              <a:avLst/>
            </a:prstGeom>
            <a:solidFill>
              <a:srgbClr val="D1D5DB"/>
            </a:solidFill>
            <a:ln/>
          </p:spPr>
          <p:txBody>
            <a:bodyPr/>
            <a:lstStyle/>
            <a:p>
              <a:endParaRPr lang="en-US"/>
            </a:p>
          </p:txBody>
        </p:sp>
        <p:sp>
          <p:nvSpPr>
            <p:cNvPr id="12" name="Text 10"/>
            <p:cNvSpPr/>
            <p:nvPr/>
          </p:nvSpPr>
          <p:spPr>
            <a:xfrm>
              <a:off x="777240" y="3200400"/>
              <a:ext cx="3200400" cy="274320"/>
            </a:xfrm>
            <a:prstGeom prst="rect">
              <a:avLst/>
            </a:prstGeom>
            <a:noFill/>
            <a:ln/>
          </p:spPr>
          <p:txBody>
            <a:bodyPr wrap="square" lIns="0" tIns="0" rIns="0" bIns="0" rtlCol="0" anchor="ctr"/>
            <a:lstStyle/>
            <a:p>
              <a:pPr marL="0" indent="0">
                <a:buNone/>
              </a:pPr>
              <a:r>
                <a:rPr lang="en-US" sz="1100" b="1" kern="0" spc="200">
                  <a:solidFill>
                    <a:srgbClr val="0078D4"/>
                  </a:solidFill>
                  <a:latin typeface="Segoe UI Semibold" pitchFamily="34" charset="0"/>
                  <a:ea typeface="Segoe UI Semibold" pitchFamily="34" charset="-122"/>
                  <a:cs typeface="Segoe UI Semibold" pitchFamily="34" charset="-120"/>
                </a:rPr>
                <a:t>BUSINESS CONTEXT</a:t>
              </a:r>
              <a:endParaRPr lang="en-US" sz="1100"/>
            </a:p>
          </p:txBody>
        </p:sp>
        <p:sp>
          <p:nvSpPr>
            <p:cNvPr id="13" name="Text 11"/>
            <p:cNvSpPr/>
            <p:nvPr/>
          </p:nvSpPr>
          <p:spPr>
            <a:xfrm>
              <a:off x="777240" y="3474720"/>
              <a:ext cx="3200400" cy="274320"/>
            </a:xfrm>
            <a:prstGeom prst="rect">
              <a:avLst/>
            </a:prstGeom>
            <a:noFill/>
            <a:ln/>
          </p:spPr>
          <p:txBody>
            <a:bodyPr wrap="square" lIns="0" tIns="0" rIns="0" bIns="0" rtlCol="0" anchor="ctr"/>
            <a:lstStyle/>
            <a:p>
              <a:pPr marL="0" indent="0">
                <a:buNone/>
              </a:pPr>
              <a:r>
                <a:rPr lang="en-US" sz="1000" b="1" kern="0" spc="100">
                  <a:solidFill>
                    <a:srgbClr val="F2C811"/>
                  </a:solidFill>
                  <a:latin typeface="Segoe UI Semibold" pitchFamily="34" charset="0"/>
                  <a:ea typeface="Segoe UI Semibold" pitchFamily="34" charset="-122"/>
                  <a:cs typeface="Segoe UI Semibold" pitchFamily="34" charset="-120"/>
                </a:rPr>
                <a:t>Why it matters:</a:t>
              </a:r>
              <a:endParaRPr lang="en-US" sz="1000"/>
            </a:p>
          </p:txBody>
        </p:sp>
        <p:sp>
          <p:nvSpPr>
            <p:cNvPr id="14" name="Text 12"/>
            <p:cNvSpPr/>
            <p:nvPr/>
          </p:nvSpPr>
          <p:spPr>
            <a:xfrm>
              <a:off x="777240" y="3749040"/>
              <a:ext cx="3434538" cy="16459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dirty="0">
                  <a:solidFill>
                    <a:srgbClr val="4B5563"/>
                  </a:solidFill>
                  <a:latin typeface="Segoe UI"/>
                  <a:ea typeface="Segoe UI" pitchFamily="34" charset="-122"/>
                  <a:cs typeface="Segoe UI"/>
                </a:rPr>
                <a:t>Financial advisors provide an explanation about portfolio performance to the client. That is, they share the underlying reasons for the financial change. Eg holdings drove it, comparison to benchmark, if management change and potential implications (without violating regulatory requirements about commitments and language. Creating portfolio commentary is labor intensive and highly repetitive</a:t>
              </a:r>
            </a:p>
            <a:p>
              <a:pPr marL="171450" indent="-171450">
                <a:buFont typeface="Arial" panose="020B0604020202020204" pitchFamily="34" charset="0"/>
                <a:buChar char="•"/>
              </a:pPr>
              <a:r>
                <a:rPr lang="en-US" sz="1100" dirty="0">
                  <a:solidFill>
                    <a:srgbClr val="4B5563"/>
                  </a:solidFill>
                  <a:latin typeface="Segoe UI" pitchFamily="34" charset="0"/>
                  <a:ea typeface="Segoe UI" pitchFamily="34" charset="-122"/>
                  <a:cs typeface="Segoe UI" pitchFamily="34" charset="-120"/>
                </a:rPr>
                <a:t>Advisors spend 40 - 60% of time on non-client facing activities including meeting prep and reporting.</a:t>
              </a:r>
              <a:endParaRPr lang="en-US" sz="1100" dirty="0"/>
            </a:p>
            <a:p>
              <a:pPr marL="171450" indent="-171450">
                <a:spcBef>
                  <a:spcPts val="300"/>
                </a:spcBef>
                <a:buFont typeface="Arial" panose="020B0604020202020204" pitchFamily="34" charset="0"/>
                <a:buChar char="•"/>
              </a:pPr>
              <a:r>
                <a:rPr lang="en-US" sz="1100" dirty="0">
                  <a:solidFill>
                    <a:srgbClr val="4B5563"/>
                  </a:solidFill>
                  <a:latin typeface="Segoe UI" pitchFamily="34" charset="0"/>
                  <a:ea typeface="Segoe UI" pitchFamily="34" charset="-122"/>
                  <a:cs typeface="Segoe UI" pitchFamily="34" charset="-120"/>
                </a:rPr>
                <a:t>Quality and brand voice may vary across an org and geos, creating potential compliance risk</a:t>
              </a:r>
              <a:endParaRPr lang="en-US" sz="1100" dirty="0"/>
            </a:p>
            <a:p>
              <a:pPr marL="171450" indent="-171450">
                <a:spcBef>
                  <a:spcPts val="300"/>
                </a:spcBef>
                <a:buFont typeface="Arial" panose="020B0604020202020204" pitchFamily="34" charset="0"/>
                <a:buChar char="•"/>
              </a:pPr>
              <a:r>
                <a:rPr lang="en-US" sz="1100" dirty="0">
                  <a:solidFill>
                    <a:srgbClr val="4B5563"/>
                  </a:solidFill>
                  <a:latin typeface="Segoe UI" pitchFamily="34" charset="0"/>
                  <a:ea typeface="Segoe UI" pitchFamily="34" charset="-122"/>
                  <a:cs typeface="Segoe UI" pitchFamily="34" charset="-120"/>
                </a:rPr>
                <a:t>Agentic AI compresses this to seconds by reading portfolio analytics, applying firm-specific templates, and generating </a:t>
              </a:r>
              <a:r>
                <a:rPr lang="en-US" sz="1100" b="1" u="sng" dirty="0">
                  <a:solidFill>
                    <a:srgbClr val="4B5563"/>
                  </a:solidFill>
                  <a:latin typeface="Segoe UI" pitchFamily="34" charset="0"/>
                  <a:ea typeface="Segoe UI" pitchFamily="34" charset="-122"/>
                  <a:cs typeface="Segoe UI" pitchFamily="34" charset="-120"/>
                </a:rPr>
                <a:t>compliant</a:t>
              </a:r>
              <a:r>
                <a:rPr lang="en-US" sz="1100" dirty="0">
                  <a:solidFill>
                    <a:srgbClr val="4B5563"/>
                  </a:solidFill>
                  <a:latin typeface="Segoe UI" pitchFamily="34" charset="0"/>
                  <a:ea typeface="Segoe UI" pitchFamily="34" charset="-122"/>
                  <a:cs typeface="Segoe UI" pitchFamily="34" charset="-120"/>
                </a:rPr>
                <a:t> narratives at scale</a:t>
              </a:r>
              <a:endParaRPr lang="en-US" sz="1100" dirty="0"/>
            </a:p>
          </p:txBody>
        </p:sp>
      </p:grpSp>
      <p:grpSp>
        <p:nvGrpSpPr>
          <p:cNvPr id="4" name="Group 3">
            <a:extLst>
              <a:ext uri="{FF2B5EF4-FFF2-40B4-BE49-F238E27FC236}">
                <a16:creationId xmlns:a16="http://schemas.microsoft.com/office/drawing/2014/main" id="{FAAF6458-E99B-5A26-472E-7DF1297F02D3}"/>
              </a:ext>
            </a:extLst>
          </p:cNvPr>
          <p:cNvGrpSpPr/>
          <p:nvPr/>
        </p:nvGrpSpPr>
        <p:grpSpPr>
          <a:xfrm>
            <a:off x="6286500" y="2011680"/>
            <a:ext cx="5417820" cy="3840480"/>
            <a:chOff x="4663440" y="2011680"/>
            <a:chExt cx="7040880" cy="3840480"/>
          </a:xfrm>
        </p:grpSpPr>
        <p:sp>
          <p:nvSpPr>
            <p:cNvPr id="15" name="Shape 13"/>
            <p:cNvSpPr/>
            <p:nvPr/>
          </p:nvSpPr>
          <p:spPr>
            <a:xfrm>
              <a:off x="4663440" y="2011680"/>
              <a:ext cx="7040880" cy="3840480"/>
            </a:xfrm>
            <a:prstGeom prst="rect">
              <a:avLst/>
            </a:prstGeom>
            <a:solidFill>
              <a:srgbClr val="0B2545"/>
            </a:solidFill>
            <a:ln/>
          </p:spPr>
          <p:txBody>
            <a:bodyPr/>
            <a:lstStyle/>
            <a:p>
              <a:endParaRPr lang="en-US"/>
            </a:p>
          </p:txBody>
        </p:sp>
        <p:sp>
          <p:nvSpPr>
            <p:cNvPr id="17" name="Text 15"/>
            <p:cNvSpPr/>
            <p:nvPr/>
          </p:nvSpPr>
          <p:spPr>
            <a:xfrm>
              <a:off x="5074920" y="2377440"/>
              <a:ext cx="6217920" cy="274320"/>
            </a:xfrm>
            <a:prstGeom prst="rect">
              <a:avLst/>
            </a:prstGeom>
            <a:noFill/>
            <a:ln/>
          </p:spPr>
          <p:txBody>
            <a:bodyPr wrap="square" lIns="0" tIns="0" rIns="0" bIns="0" rtlCol="0" anchor="ctr"/>
            <a:lstStyle/>
            <a:p>
              <a:pPr marL="0" indent="0">
                <a:buNone/>
              </a:pPr>
              <a:r>
                <a:rPr lang="en-US" sz="1200" b="1" kern="0" spc="200">
                  <a:solidFill>
                    <a:srgbClr val="00BCF2"/>
                  </a:solidFill>
                  <a:latin typeface="Segoe UI Semibold" pitchFamily="34" charset="0"/>
                  <a:ea typeface="Segoe UI Semibold" pitchFamily="34" charset="-122"/>
                  <a:cs typeface="Segoe UI Semibold" pitchFamily="34" charset="-120"/>
                </a:rPr>
                <a:t>THE CHALLENGE</a:t>
              </a:r>
              <a:endParaRPr lang="en-US" sz="1200"/>
            </a:p>
          </p:txBody>
        </p:sp>
        <p:sp>
          <p:nvSpPr>
            <p:cNvPr id="18" name="Text 16"/>
            <p:cNvSpPr/>
            <p:nvPr/>
          </p:nvSpPr>
          <p:spPr>
            <a:xfrm>
              <a:off x="5074920" y="2697480"/>
              <a:ext cx="6217920" cy="457200"/>
            </a:xfrm>
            <a:prstGeom prst="rect">
              <a:avLst/>
            </a:prstGeom>
            <a:noFill/>
            <a:ln/>
          </p:spPr>
          <p:txBody>
            <a:bodyPr wrap="square" lIns="0" tIns="0" rIns="0" bIns="0" rtlCol="0" anchor="ctr"/>
            <a:lstStyle/>
            <a:p>
              <a:pPr marL="0" indent="0">
                <a:buNone/>
              </a:pPr>
              <a:r>
                <a:rPr lang="en-US" sz="2200" b="1">
                  <a:solidFill>
                    <a:srgbClr val="FFFFFF"/>
                  </a:solidFill>
                  <a:latin typeface="Segoe UI Semibold" pitchFamily="34" charset="0"/>
                  <a:ea typeface="Segoe UI Semibold" pitchFamily="34" charset="-122"/>
                  <a:cs typeface="Segoe UI Semibold" pitchFamily="34" charset="-120"/>
                </a:rPr>
                <a:t>Portfolio Narrative Generator</a:t>
              </a:r>
              <a:endParaRPr lang="en-US" sz="2200"/>
            </a:p>
          </p:txBody>
        </p:sp>
        <p:sp>
          <p:nvSpPr>
            <p:cNvPr id="19" name="Shape 17"/>
            <p:cNvSpPr/>
            <p:nvPr/>
          </p:nvSpPr>
          <p:spPr>
            <a:xfrm>
              <a:off x="5093208" y="3246120"/>
              <a:ext cx="457200" cy="36576"/>
            </a:xfrm>
            <a:prstGeom prst="rect">
              <a:avLst/>
            </a:prstGeom>
            <a:solidFill>
              <a:srgbClr val="00BCF2"/>
            </a:solidFill>
            <a:ln/>
          </p:spPr>
          <p:txBody>
            <a:bodyPr/>
            <a:lstStyle/>
            <a:p>
              <a:endParaRPr lang="en-US"/>
            </a:p>
          </p:txBody>
        </p:sp>
        <p:sp>
          <p:nvSpPr>
            <p:cNvPr id="20" name="Text 18"/>
            <p:cNvSpPr/>
            <p:nvPr/>
          </p:nvSpPr>
          <p:spPr>
            <a:xfrm>
              <a:off x="5074920" y="3474720"/>
              <a:ext cx="6217920" cy="274320"/>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What to build:</a:t>
              </a:r>
              <a:endParaRPr lang="en-US" sz="1100"/>
            </a:p>
          </p:txBody>
        </p:sp>
        <p:sp>
          <p:nvSpPr>
            <p:cNvPr id="21" name="Text 19"/>
            <p:cNvSpPr/>
            <p:nvPr/>
          </p:nvSpPr>
          <p:spPr>
            <a:xfrm>
              <a:off x="5074920" y="3840480"/>
              <a:ext cx="6217920" cy="173736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Segoe UI" pitchFamily="34" charset="0"/>
                  <a:ea typeface="Segoe UI" pitchFamily="34" charset="-122"/>
                  <a:cs typeface="Segoe UI" pitchFamily="34" charset="-120"/>
                </a:rPr>
                <a:t>– Financial Advisors spend hours each quarter interpreting performance data and writing bespoke client commentary</a:t>
              </a:r>
              <a:endParaRPr lang="en-US" sz="1200" dirty="0"/>
            </a:p>
            <a:p>
              <a:pPr marL="0" indent="0">
                <a:spcBef>
                  <a:spcPts val="300"/>
                </a:spcBef>
                <a:buNone/>
              </a:pPr>
              <a:r>
                <a:rPr lang="en-US" sz="1200" dirty="0">
                  <a:solidFill>
                    <a:srgbClr val="FFFFFF"/>
                  </a:solidFill>
                  <a:latin typeface="Segoe UI" pitchFamily="34" charset="0"/>
                  <a:ea typeface="Segoe UI" pitchFamily="34" charset="-122"/>
                  <a:cs typeface="Segoe UI" pitchFamily="34" charset="-120"/>
                </a:rPr>
                <a:t>– Build an agentic workflow that ingests client portfolio data — e.g., attribution, sector weights, positioning changes, external factors that impact (eg War, Pandemic, etc.) — and generates draft narrative in the firm’s voice, at scale</a:t>
              </a:r>
              <a:endParaRPr lang="en-US" sz="1200" dirty="0"/>
            </a:p>
          </p:txBody>
        </p:sp>
      </p:grpSp>
      <p:sp>
        <p:nvSpPr>
          <p:cNvPr id="22" name="Text 20"/>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9</a:t>
            </a:r>
            <a:endParaRPr lang="en-US" sz="900"/>
          </a:p>
        </p:txBody>
      </p:sp>
      <p:sp>
        <p:nvSpPr>
          <p:cNvPr id="25" name="TextBox 24">
            <a:extLst>
              <a:ext uri="{FF2B5EF4-FFF2-40B4-BE49-F238E27FC236}">
                <a16:creationId xmlns:a16="http://schemas.microsoft.com/office/drawing/2014/main" id="{4BB26841-2A52-B826-7079-361FB62F4926}"/>
              </a:ext>
            </a:extLst>
          </p:cNvPr>
          <p:cNvSpPr txBox="1"/>
          <p:nvPr/>
        </p:nvSpPr>
        <p:spPr>
          <a:xfrm>
            <a:off x="405183" y="6089904"/>
            <a:ext cx="5908156" cy="276999"/>
          </a:xfrm>
          <a:prstGeom prst="rect">
            <a:avLst/>
          </a:prstGeom>
          <a:noFill/>
        </p:spPr>
        <p:txBody>
          <a:bodyPr wrap="none" rtlCol="0">
            <a:spAutoFit/>
          </a:bodyPr>
          <a:lstStyle/>
          <a:p>
            <a:r>
              <a:rPr lang="en-US" sz="1200" dirty="0"/>
              <a:t>Suggestion: Augment the Financial Advisor view in this demo: </a:t>
            </a:r>
            <a:r>
              <a:rPr lang="en-CA" sz="1200" dirty="0">
                <a:hlinkClick r:id="rId3"/>
              </a:rPr>
              <a:t>Sage - AI Retirement Planning</a:t>
            </a:r>
            <a:endParaRPr lang="en-CA" sz="1200" dirty="0"/>
          </a:p>
        </p:txBody>
      </p:sp>
    </p:spTree>
    <p:extLst>
      <p:ext uri="{BB962C8B-B14F-4D97-AF65-F5344CB8AC3E}">
        <p14:creationId xmlns:p14="http://schemas.microsoft.com/office/powerpoint/2010/main" val="15542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 · POD 2 OF 2</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AWM</a:t>
            </a:r>
            <a:endParaRPr lang="en-US" sz="2800"/>
          </a:p>
        </p:txBody>
      </p:sp>
      <p:sp>
        <p:nvSpPr>
          <p:cNvPr id="5" name="Text 3"/>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Primary</a:t>
            </a:r>
            <a:endParaRPr lang="en-US" sz="1100"/>
          </a:p>
        </p:txBody>
      </p:sp>
      <p:sp>
        <p:nvSpPr>
          <p:cNvPr id="6" name="Text 4"/>
          <p:cNvSpPr/>
          <p:nvPr/>
        </p:nvSpPr>
        <p:spPr>
          <a:xfrm>
            <a:off x="455023" y="1371600"/>
            <a:ext cx="9875520" cy="310896"/>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Asset &amp; Wealth Management</a:t>
            </a:r>
            <a:endParaRPr lang="en-US" sz="1400"/>
          </a:p>
        </p:txBody>
      </p:sp>
      <p:grpSp>
        <p:nvGrpSpPr>
          <p:cNvPr id="16" name="Group 15">
            <a:extLst>
              <a:ext uri="{FF2B5EF4-FFF2-40B4-BE49-F238E27FC236}">
                <a16:creationId xmlns:a16="http://schemas.microsoft.com/office/drawing/2014/main" id="{5714FEEB-A6A3-2239-2560-31D6E63A18E9}"/>
              </a:ext>
            </a:extLst>
          </p:cNvPr>
          <p:cNvGrpSpPr/>
          <p:nvPr/>
        </p:nvGrpSpPr>
        <p:grpSpPr>
          <a:xfrm>
            <a:off x="457200" y="2011680"/>
            <a:ext cx="5638800" cy="3840480"/>
            <a:chOff x="457200" y="2011680"/>
            <a:chExt cx="3840480" cy="3840480"/>
          </a:xfrm>
        </p:grpSpPr>
        <p:sp>
          <p:nvSpPr>
            <p:cNvPr id="7" name="Shape 5"/>
            <p:cNvSpPr/>
            <p:nvPr/>
          </p:nvSpPr>
          <p:spPr>
            <a:xfrm>
              <a:off x="457200" y="2011680"/>
              <a:ext cx="3840480" cy="3840480"/>
            </a:xfrm>
            <a:prstGeom prst="rect">
              <a:avLst/>
            </a:prstGeom>
            <a:solidFill>
              <a:srgbClr val="FFFFFF"/>
            </a:solidFill>
            <a:ln w="9525">
              <a:solidFill>
                <a:srgbClr val="D1D5DB"/>
              </a:solidFill>
              <a:prstDash val="solid"/>
            </a:ln>
          </p:spPr>
          <p:txBody>
            <a:bodyPr/>
            <a:lstStyle/>
            <a:p>
              <a:endParaRPr lang="en-US"/>
            </a:p>
          </p:txBody>
        </p:sp>
        <p:sp>
          <p:nvSpPr>
            <p:cNvPr id="8" name="Shape 6"/>
            <p:cNvSpPr/>
            <p:nvPr/>
          </p:nvSpPr>
          <p:spPr>
            <a:xfrm>
              <a:off x="457200" y="2011680"/>
              <a:ext cx="3840480" cy="109728"/>
            </a:xfrm>
            <a:prstGeom prst="rect">
              <a:avLst/>
            </a:prstGeom>
            <a:solidFill>
              <a:srgbClr val="0078D4"/>
            </a:solidFill>
            <a:ln/>
          </p:spPr>
          <p:txBody>
            <a:bodyPr/>
            <a:lstStyle/>
            <a:p>
              <a:endParaRPr lang="en-US"/>
            </a:p>
          </p:txBody>
        </p:sp>
        <p:sp>
          <p:nvSpPr>
            <p:cNvPr id="9" name="Text 7"/>
            <p:cNvSpPr/>
            <p:nvPr/>
          </p:nvSpPr>
          <p:spPr>
            <a:xfrm>
              <a:off x="777240" y="2331720"/>
              <a:ext cx="3200400" cy="274320"/>
            </a:xfrm>
            <a:prstGeom prst="rect">
              <a:avLst/>
            </a:prstGeom>
            <a:noFill/>
            <a:ln/>
          </p:spPr>
          <p:txBody>
            <a:bodyPr wrap="square" lIns="0" tIns="0" rIns="0" bIns="0" rtlCol="0" anchor="ctr"/>
            <a:lstStyle/>
            <a:p>
              <a:r>
                <a:rPr lang="en-US" sz="1100" b="1" kern="0" spc="200">
                  <a:solidFill>
                    <a:srgbClr val="0078D4"/>
                  </a:solidFill>
                  <a:latin typeface="Segoe UI Semibold"/>
                  <a:cs typeface="Segoe UI Semibold"/>
                </a:rPr>
                <a:t>Industry Advisor</a:t>
              </a:r>
              <a:endParaRPr lang="en-US"/>
            </a:p>
          </p:txBody>
        </p:sp>
        <p:sp>
          <p:nvSpPr>
            <p:cNvPr id="10" name="Text 8"/>
            <p:cNvSpPr/>
            <p:nvPr/>
          </p:nvSpPr>
          <p:spPr>
            <a:xfrm>
              <a:off x="777240" y="2606040"/>
              <a:ext cx="3200400" cy="411480"/>
            </a:xfrm>
            <a:prstGeom prst="rect">
              <a:avLst/>
            </a:prstGeom>
            <a:noFill/>
            <a:ln/>
          </p:spPr>
          <p:txBody>
            <a:bodyPr wrap="square" lIns="0" tIns="0" rIns="0" bIns="0" rtlCol="0" anchor="ctr"/>
            <a:lstStyle/>
            <a:p>
              <a:r>
                <a:rPr lang="en-US" sz="1600" i="1">
                  <a:solidFill>
                    <a:srgbClr val="6B7280"/>
                  </a:solidFill>
                  <a:latin typeface="Segoe UI Semibold" pitchFamily="34" charset="0"/>
                  <a:ea typeface="Segoe UI Semibold" pitchFamily="34" charset="-122"/>
                  <a:cs typeface="Segoe UI Semibold" pitchFamily="34" charset="-120"/>
                </a:rPr>
                <a:t>Cheryl</a:t>
              </a:r>
              <a:r>
                <a:rPr lang="en-US" sz="1600" i="1">
                  <a:solidFill>
                    <a:srgbClr val="6B7280"/>
                  </a:solidFill>
                  <a:latin typeface="Segoe UI Semibold"/>
                  <a:ea typeface="Segoe UI Semibold" pitchFamily="34" charset="-122"/>
                  <a:cs typeface="Segoe UI Semibold"/>
                </a:rPr>
                <a:t> · Kevin</a:t>
              </a:r>
              <a:endParaRPr lang="en-US" sz="1600"/>
            </a:p>
          </p:txBody>
        </p:sp>
        <p:sp>
          <p:nvSpPr>
            <p:cNvPr id="11" name="Shape 9"/>
            <p:cNvSpPr/>
            <p:nvPr/>
          </p:nvSpPr>
          <p:spPr>
            <a:xfrm>
              <a:off x="777240" y="3154680"/>
              <a:ext cx="3200400" cy="18288"/>
            </a:xfrm>
            <a:prstGeom prst="rect">
              <a:avLst/>
            </a:prstGeom>
            <a:solidFill>
              <a:srgbClr val="D1D5DB"/>
            </a:solidFill>
            <a:ln/>
          </p:spPr>
          <p:txBody>
            <a:bodyPr/>
            <a:lstStyle/>
            <a:p>
              <a:endParaRPr lang="en-US"/>
            </a:p>
          </p:txBody>
        </p:sp>
        <p:sp>
          <p:nvSpPr>
            <p:cNvPr id="12" name="Text 10"/>
            <p:cNvSpPr/>
            <p:nvPr/>
          </p:nvSpPr>
          <p:spPr>
            <a:xfrm>
              <a:off x="777240" y="3337560"/>
              <a:ext cx="3200400" cy="274320"/>
            </a:xfrm>
            <a:prstGeom prst="rect">
              <a:avLst/>
            </a:prstGeom>
            <a:noFill/>
            <a:ln/>
          </p:spPr>
          <p:txBody>
            <a:bodyPr wrap="square" lIns="0" tIns="0" rIns="0" bIns="0" rtlCol="0" anchor="ctr"/>
            <a:lstStyle/>
            <a:p>
              <a:pPr marL="0" indent="0">
                <a:buNone/>
              </a:pPr>
              <a:r>
                <a:rPr lang="en-US" sz="1100" b="1" kern="0" spc="200">
                  <a:solidFill>
                    <a:srgbClr val="0078D4"/>
                  </a:solidFill>
                  <a:latin typeface="Segoe UI Semibold" pitchFamily="34" charset="0"/>
                  <a:ea typeface="Segoe UI Semibold" pitchFamily="34" charset="-122"/>
                  <a:cs typeface="Segoe UI Semibold" pitchFamily="34" charset="-120"/>
                </a:rPr>
                <a:t>BUSINESS CONTEXT</a:t>
              </a:r>
              <a:endParaRPr lang="en-US" sz="1100"/>
            </a:p>
          </p:txBody>
        </p:sp>
        <p:sp>
          <p:nvSpPr>
            <p:cNvPr id="13" name="Text 11"/>
            <p:cNvSpPr/>
            <p:nvPr/>
          </p:nvSpPr>
          <p:spPr>
            <a:xfrm>
              <a:off x="777240" y="3639312"/>
              <a:ext cx="3200400" cy="274320"/>
            </a:xfrm>
            <a:prstGeom prst="rect">
              <a:avLst/>
            </a:prstGeom>
            <a:noFill/>
            <a:ln/>
          </p:spPr>
          <p:txBody>
            <a:bodyPr wrap="square" lIns="0" tIns="0" rIns="0" bIns="0" rtlCol="0" anchor="ctr"/>
            <a:lstStyle/>
            <a:p>
              <a:pPr marL="0" indent="0">
                <a:buNone/>
              </a:pPr>
              <a:r>
                <a:rPr lang="en-US" sz="1000" b="1" kern="0" spc="100">
                  <a:solidFill>
                    <a:srgbClr val="F2C811"/>
                  </a:solidFill>
                  <a:latin typeface="Segoe UI Semibold" pitchFamily="34" charset="0"/>
                  <a:ea typeface="Segoe UI Semibold" pitchFamily="34" charset="-122"/>
                  <a:cs typeface="Segoe UI Semibold" pitchFamily="34" charset="-120"/>
                </a:rPr>
                <a:t>Why it matters:</a:t>
              </a:r>
              <a:endParaRPr lang="en-US" sz="1000"/>
            </a:p>
          </p:txBody>
        </p:sp>
        <p:sp>
          <p:nvSpPr>
            <p:cNvPr id="14" name="Text 12"/>
            <p:cNvSpPr/>
            <p:nvPr/>
          </p:nvSpPr>
          <p:spPr>
            <a:xfrm>
              <a:off x="777240" y="3977640"/>
              <a:ext cx="3200400" cy="1645920"/>
            </a:xfrm>
            <a:prstGeom prst="rect">
              <a:avLst/>
            </a:prstGeom>
            <a:noFill/>
            <a:ln/>
          </p:spPr>
          <p:txBody>
            <a:bodyPr wrap="square" lIns="0" tIns="0" rIns="0" bIns="0" rtlCol="0" anchor="t"/>
            <a:lstStyle/>
            <a:p>
              <a:pPr marL="0" indent="0">
                <a:buNone/>
              </a:pPr>
              <a:r>
                <a:rPr lang="en-US" sz="1100">
                  <a:solidFill>
                    <a:srgbClr val="4B5563"/>
                  </a:solidFill>
                  <a:latin typeface="Segoe UI" pitchFamily="34" charset="0"/>
                  <a:ea typeface="Segoe UI" pitchFamily="34" charset="-122"/>
                  <a:cs typeface="Segoe UI" pitchFamily="34" charset="-120"/>
                </a:rPr>
                <a:t>– Filing complexity has grown dramatically: SEC marketing rule, Form PF, and fund reporting requirements demand coordinated data from 5–10 internal teams and external providers</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Manual processes introduce version-control errors and missed deadlines — each with significant regulatory and reputational consequences</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Agentic AI orchestrates multi-source data collection, auto-populates filing templates, flags inconsistencies, and routes for approval — reducing cycle time and error risk</a:t>
              </a:r>
              <a:endParaRPr lang="en-US" sz="1100"/>
            </a:p>
          </p:txBody>
        </p:sp>
      </p:grpSp>
      <p:grpSp>
        <p:nvGrpSpPr>
          <p:cNvPr id="4" name="Group 3">
            <a:extLst>
              <a:ext uri="{FF2B5EF4-FFF2-40B4-BE49-F238E27FC236}">
                <a16:creationId xmlns:a16="http://schemas.microsoft.com/office/drawing/2014/main" id="{C730377C-8880-99EF-3881-EF1DE50A693F}"/>
              </a:ext>
            </a:extLst>
          </p:cNvPr>
          <p:cNvGrpSpPr/>
          <p:nvPr/>
        </p:nvGrpSpPr>
        <p:grpSpPr>
          <a:xfrm>
            <a:off x="6286500" y="2011680"/>
            <a:ext cx="5417820" cy="3840480"/>
            <a:chOff x="4663440" y="2011680"/>
            <a:chExt cx="7040880" cy="3840480"/>
          </a:xfrm>
        </p:grpSpPr>
        <p:sp>
          <p:nvSpPr>
            <p:cNvPr id="15" name="Shape 13"/>
            <p:cNvSpPr/>
            <p:nvPr/>
          </p:nvSpPr>
          <p:spPr>
            <a:xfrm>
              <a:off x="4663440" y="2011680"/>
              <a:ext cx="7040880" cy="3840480"/>
            </a:xfrm>
            <a:prstGeom prst="rect">
              <a:avLst/>
            </a:prstGeom>
            <a:solidFill>
              <a:srgbClr val="0B2545"/>
            </a:solidFill>
            <a:ln/>
          </p:spPr>
          <p:txBody>
            <a:bodyPr/>
            <a:lstStyle/>
            <a:p>
              <a:endParaRPr lang="en-US"/>
            </a:p>
          </p:txBody>
        </p:sp>
        <p:sp>
          <p:nvSpPr>
            <p:cNvPr id="17" name="Text 15"/>
            <p:cNvSpPr/>
            <p:nvPr/>
          </p:nvSpPr>
          <p:spPr>
            <a:xfrm>
              <a:off x="5074920" y="2377440"/>
              <a:ext cx="6217920" cy="274320"/>
            </a:xfrm>
            <a:prstGeom prst="rect">
              <a:avLst/>
            </a:prstGeom>
            <a:noFill/>
            <a:ln/>
          </p:spPr>
          <p:txBody>
            <a:bodyPr wrap="square" lIns="0" tIns="0" rIns="0" bIns="0" rtlCol="0" anchor="ctr"/>
            <a:lstStyle/>
            <a:p>
              <a:pPr marL="0" indent="0">
                <a:buNone/>
              </a:pPr>
              <a:r>
                <a:rPr lang="en-US" sz="1200" b="1" kern="0" spc="200">
                  <a:solidFill>
                    <a:srgbClr val="00BCF2"/>
                  </a:solidFill>
                  <a:latin typeface="Segoe UI Semibold" pitchFamily="34" charset="0"/>
                  <a:ea typeface="Segoe UI Semibold" pitchFamily="34" charset="-122"/>
                  <a:cs typeface="Segoe UI Semibold" pitchFamily="34" charset="-120"/>
                </a:rPr>
                <a:t>THE CHALLENGE</a:t>
              </a:r>
              <a:endParaRPr lang="en-US" sz="1200"/>
            </a:p>
          </p:txBody>
        </p:sp>
        <p:sp>
          <p:nvSpPr>
            <p:cNvPr id="18" name="Text 16"/>
            <p:cNvSpPr/>
            <p:nvPr/>
          </p:nvSpPr>
          <p:spPr>
            <a:xfrm>
              <a:off x="5074920" y="2697480"/>
              <a:ext cx="6217920" cy="457200"/>
            </a:xfrm>
            <a:prstGeom prst="rect">
              <a:avLst/>
            </a:prstGeom>
            <a:noFill/>
            <a:ln/>
          </p:spPr>
          <p:txBody>
            <a:bodyPr wrap="square" lIns="0" tIns="0" rIns="0" bIns="0" rtlCol="0" anchor="ctr"/>
            <a:lstStyle/>
            <a:p>
              <a:pPr marL="0" indent="0">
                <a:buNone/>
              </a:pPr>
              <a:r>
                <a:rPr lang="en-US" sz="2200" b="1">
                  <a:solidFill>
                    <a:srgbClr val="FFFFFF"/>
                  </a:solidFill>
                  <a:latin typeface="Segoe UI Semibold" pitchFamily="34" charset="0"/>
                  <a:ea typeface="Segoe UI Semibold" pitchFamily="34" charset="-122"/>
                  <a:cs typeface="Segoe UI Semibold" pitchFamily="34" charset="-120"/>
                </a:rPr>
                <a:t>Legal Filings &amp; Regulatory Reporting</a:t>
              </a:r>
              <a:endParaRPr lang="en-US" sz="2200"/>
            </a:p>
          </p:txBody>
        </p:sp>
        <p:sp>
          <p:nvSpPr>
            <p:cNvPr id="19" name="Shape 17"/>
            <p:cNvSpPr/>
            <p:nvPr/>
          </p:nvSpPr>
          <p:spPr>
            <a:xfrm>
              <a:off x="5093208" y="3246120"/>
              <a:ext cx="457200" cy="36576"/>
            </a:xfrm>
            <a:prstGeom prst="rect">
              <a:avLst/>
            </a:prstGeom>
            <a:solidFill>
              <a:srgbClr val="00BCF2"/>
            </a:solidFill>
            <a:ln/>
          </p:spPr>
          <p:txBody>
            <a:bodyPr/>
            <a:lstStyle/>
            <a:p>
              <a:endParaRPr lang="en-US"/>
            </a:p>
          </p:txBody>
        </p:sp>
        <p:sp>
          <p:nvSpPr>
            <p:cNvPr id="20" name="Text 18"/>
            <p:cNvSpPr/>
            <p:nvPr/>
          </p:nvSpPr>
          <p:spPr>
            <a:xfrm>
              <a:off x="5074920" y="3474720"/>
              <a:ext cx="6217920" cy="274320"/>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What to build:</a:t>
              </a:r>
              <a:endParaRPr lang="en-US" sz="1100"/>
            </a:p>
          </p:txBody>
        </p:sp>
        <p:sp>
          <p:nvSpPr>
            <p:cNvPr id="21" name="Text 19"/>
            <p:cNvSpPr/>
            <p:nvPr/>
          </p:nvSpPr>
          <p:spPr>
            <a:xfrm>
              <a:off x="5074920" y="3840480"/>
              <a:ext cx="6217920" cy="1737360"/>
            </a:xfrm>
            <a:prstGeom prst="rect">
              <a:avLst/>
            </a:prstGeom>
            <a:noFill/>
            <a:ln/>
          </p:spPr>
          <p:txBody>
            <a:bodyPr wrap="square" lIns="0" tIns="0" rIns="0" bIns="0" rtlCol="0" anchor="t"/>
            <a:lstStyle/>
            <a:p>
              <a:pPr marL="0" indent="0">
                <a:lnSpc>
                  <a:spcPct val="115000"/>
                </a:lnSpc>
                <a:buNone/>
              </a:pPr>
              <a:r>
                <a:rPr lang="en-US" sz="1200">
                  <a:solidFill>
                    <a:srgbClr val="FFFFFF"/>
                  </a:solidFill>
                  <a:latin typeface="Segoe UI" pitchFamily="34" charset="0"/>
                  <a:ea typeface="Segoe UI" pitchFamily="34" charset="-122"/>
                  <a:cs typeface="Segoe UI" pitchFamily="34" charset="-120"/>
                </a:rPr>
                <a:t>– Fund managers face an ever-expanding web of marketing, compliance, and regulatory filings — SEC, CFTC, FINRA, and beyond</a:t>
              </a:r>
              <a:endParaRPr lang="en-US" sz="1200"/>
            </a:p>
            <a:p>
              <a:pPr marL="0" indent="0">
                <a:spcBef>
                  <a:spcPts val="300"/>
                </a:spcBef>
                <a:buNone/>
              </a:pPr>
              <a:r>
                <a:rPr lang="en-US" sz="1200">
                  <a:solidFill>
                    <a:srgbClr val="FFFFFF"/>
                  </a:solidFill>
                  <a:latin typeface="Segoe UI" pitchFamily="34" charset="0"/>
                  <a:ea typeface="Segoe UI" pitchFamily="34" charset="-122"/>
                  <a:cs typeface="Segoe UI" pitchFamily="34" charset="-120"/>
                </a:rPr>
                <a:t>– Build an integrated agentic workflow that coordinates data gathering across front-office investment teams, back-office reporting, and third-party custodians to produce accurate, timely filings without manual coordination overhead</a:t>
              </a:r>
              <a:endParaRPr lang="en-US" sz="1200"/>
            </a:p>
          </p:txBody>
        </p:sp>
      </p:grpSp>
      <p:sp>
        <p:nvSpPr>
          <p:cNvPr id="22" name="Text 20"/>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10</a:t>
            </a:r>
            <a:endParaRPr lang="en-US" sz="900"/>
          </a:p>
        </p:txBody>
      </p:sp>
    </p:spTree>
    <p:extLst>
      <p:ext uri="{BB962C8B-B14F-4D97-AF65-F5344CB8AC3E}">
        <p14:creationId xmlns:p14="http://schemas.microsoft.com/office/powerpoint/2010/main" val="161872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a:ea typeface="Segoe UI Semibold" pitchFamily="34" charset="-122"/>
                <a:cs typeface="Segoe UI Semibold"/>
              </a:rPr>
              <a:t>SUBDIVISION DEEP-DIVE</a:t>
            </a:r>
            <a:endParaRPr lang="en-US" sz="1200">
              <a:latin typeface="Segoe UI Semibold"/>
              <a:ea typeface="Calibri" panose="020F0502020204030204"/>
              <a:cs typeface="Calibri" panose="020F0502020204030204"/>
            </a:endParaRPr>
          </a:p>
        </p:txBody>
      </p:sp>
      <p:sp>
        <p:nvSpPr>
          <p:cNvPr id="3" name="Text 1"/>
          <p:cNvSpPr/>
          <p:nvPr/>
        </p:nvSpPr>
        <p:spPr>
          <a:xfrm>
            <a:off x="457200" y="658368"/>
            <a:ext cx="11247120" cy="640080"/>
          </a:xfrm>
          <a:prstGeom prst="rect">
            <a:avLst/>
          </a:prstGeom>
          <a:noFill/>
          <a:ln/>
        </p:spPr>
        <p:txBody>
          <a:bodyPr wrap="square" lIns="0" tIns="0" rIns="0" bIns="0" rtlCol="0" anchor="ctr"/>
          <a:lstStyle/>
          <a:p>
            <a:r>
              <a:rPr lang="en-US" sz="2800" b="1">
                <a:solidFill>
                  <a:srgbClr val="0B2545"/>
                </a:solidFill>
                <a:latin typeface="Segoe UI Semibold"/>
                <a:cs typeface="Segoe UI Semibold"/>
              </a:rPr>
              <a:t>Markets</a:t>
            </a:r>
            <a:endParaRPr lang="en-US" sz="2800"/>
          </a:p>
        </p:txBody>
      </p:sp>
      <p:sp>
        <p:nvSpPr>
          <p:cNvPr id="5" name="Text 3"/>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Primary</a:t>
            </a:r>
            <a:endParaRPr lang="en-US" sz="1100"/>
          </a:p>
        </p:txBody>
      </p:sp>
      <p:sp>
        <p:nvSpPr>
          <p:cNvPr id="22" name="Text 20"/>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11</a:t>
            </a:r>
            <a:endParaRPr lang="en-US" sz="900"/>
          </a:p>
        </p:txBody>
      </p:sp>
      <p:sp>
        <p:nvSpPr>
          <p:cNvPr id="25" name="Text 4">
            <a:extLst>
              <a:ext uri="{FF2B5EF4-FFF2-40B4-BE49-F238E27FC236}">
                <a16:creationId xmlns:a16="http://schemas.microsoft.com/office/drawing/2014/main" id="{07E79304-73BD-F8CC-F156-360C4BDF88A0}"/>
              </a:ext>
            </a:extLst>
          </p:cNvPr>
          <p:cNvSpPr/>
          <p:nvPr/>
        </p:nvSpPr>
        <p:spPr>
          <a:xfrm>
            <a:off x="455023" y="1371600"/>
            <a:ext cx="9875520" cy="310896"/>
          </a:xfrm>
          <a:prstGeom prst="rect">
            <a:avLst/>
          </a:prstGeom>
          <a:noFill/>
          <a:ln/>
        </p:spPr>
        <p:txBody>
          <a:bodyPr wrap="square" lIns="0" tIns="0" rIns="0" bIns="0" rtlCol="0" anchor="ctr"/>
          <a:lstStyle/>
          <a:p>
            <a:r>
              <a:rPr lang="en-US" sz="1400" b="1" i="1">
                <a:solidFill>
                  <a:srgbClr val="4B5563"/>
                </a:solidFill>
                <a:latin typeface="Segoe UI"/>
                <a:ea typeface="Segoe UI" pitchFamily="34" charset="-122"/>
                <a:cs typeface="Segoe UI"/>
              </a:rPr>
              <a:t>Trading Lifecycle : Pre-Trade -&gt; Trading -&gt; Post-trade</a:t>
            </a:r>
            <a:br>
              <a:rPr lang="en-US" sz="1400" i="1">
                <a:latin typeface="Segoe UI"/>
                <a:ea typeface="Segoe UI" pitchFamily="34" charset="-122"/>
                <a:cs typeface="Segoe UI"/>
              </a:rPr>
            </a:br>
            <a:br>
              <a:rPr lang="en-US" sz="1400" i="1">
                <a:latin typeface="Segoe UI"/>
                <a:ea typeface="Segoe UI" pitchFamily="34" charset="-122"/>
                <a:cs typeface="Segoe UI"/>
              </a:rPr>
            </a:br>
            <a:r>
              <a:rPr lang="en-US" sz="1400" i="1">
                <a:solidFill>
                  <a:srgbClr val="4B5563"/>
                </a:solidFill>
                <a:latin typeface="Segoe UI"/>
                <a:ea typeface="Segoe UI" pitchFamily="34" charset="-122"/>
                <a:cs typeface="Segoe UI"/>
              </a:rPr>
              <a:t>IA : Ankeet</a:t>
            </a:r>
            <a:endParaRPr lang="en-US" sz="1400">
              <a:latin typeface="Segoe UI"/>
              <a:cs typeface="Segoe UI"/>
            </a:endParaRPr>
          </a:p>
        </p:txBody>
      </p:sp>
      <p:sp>
        <p:nvSpPr>
          <p:cNvPr id="42" name="r108">
            <a:extLst>
              <a:ext uri="{FF2B5EF4-FFF2-40B4-BE49-F238E27FC236}">
                <a16:creationId xmlns:a16="http://schemas.microsoft.com/office/drawing/2014/main" id="{FDB00B75-27CD-B09C-A07C-80336BC011B2}"/>
              </a:ext>
            </a:extLst>
          </p:cNvPr>
          <p:cNvSpPr/>
          <p:nvPr/>
        </p:nvSpPr>
        <p:spPr>
          <a:xfrm>
            <a:off x="457200" y="1900000"/>
            <a:ext cx="64008" cy="320000"/>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t110">
            <a:extLst>
              <a:ext uri="{FF2B5EF4-FFF2-40B4-BE49-F238E27FC236}">
                <a16:creationId xmlns:a16="http://schemas.microsoft.com/office/drawing/2014/main" id="{DEC734BB-DC19-8122-E7D7-70949E65BBC2}"/>
              </a:ext>
            </a:extLst>
          </p:cNvPr>
          <p:cNvSpPr/>
          <p:nvPr/>
        </p:nvSpPr>
        <p:spPr>
          <a:xfrm>
            <a:off x="641208" y="1900000"/>
            <a:ext cx="11000000" cy="32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kern="0">
                <a:solidFill>
                  <a:srgbClr val="0B2545"/>
                </a:solidFill>
                <a:latin typeface="Segoe UI Semibold"/>
                <a:ea typeface="Segoe UI Semibold"/>
                <a:cs typeface="Segoe UI Semibold"/>
              </a:rPr>
              <a:t>Pre-Trade: Multi-Agent Investment Research Desk</a:t>
            </a:r>
          </a:p>
        </p:txBody>
      </p:sp>
      <p:sp>
        <p:nvSpPr>
          <p:cNvPr id="44" name="r112">
            <a:extLst>
              <a:ext uri="{FF2B5EF4-FFF2-40B4-BE49-F238E27FC236}">
                <a16:creationId xmlns:a16="http://schemas.microsoft.com/office/drawing/2014/main" id="{37E01DB1-8855-AC15-0ED0-71B15A4C04FC}"/>
              </a:ext>
            </a:extLst>
          </p:cNvPr>
          <p:cNvSpPr/>
          <p:nvPr/>
        </p:nvSpPr>
        <p:spPr>
          <a:xfrm>
            <a:off x="457200" y="2398926"/>
            <a:ext cx="5520690" cy="1828800"/>
          </a:xfrm>
          <a:prstGeom prst="rect">
            <a:avLst/>
          </a:prstGeom>
          <a:solidFill>
            <a:srgbClr val="FFFFFF"/>
          </a:solidFill>
          <a:ln w="9525">
            <a:solidFill>
              <a:srgbClr val="D1D5D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r114">
            <a:extLst>
              <a:ext uri="{FF2B5EF4-FFF2-40B4-BE49-F238E27FC236}">
                <a16:creationId xmlns:a16="http://schemas.microsoft.com/office/drawing/2014/main" id="{4602A39D-68B5-0093-B5C9-9D9CE78EA0EE}"/>
              </a:ext>
            </a:extLst>
          </p:cNvPr>
          <p:cNvSpPr/>
          <p:nvPr/>
        </p:nvSpPr>
        <p:spPr>
          <a:xfrm>
            <a:off x="457200" y="2398926"/>
            <a:ext cx="5520690" cy="64008"/>
          </a:xfrm>
          <a:prstGeom prst="rect">
            <a:avLst/>
          </a:prstGeom>
          <a:solidFill>
            <a:srgbClr val="0078D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t116">
            <a:extLst>
              <a:ext uri="{FF2B5EF4-FFF2-40B4-BE49-F238E27FC236}">
                <a16:creationId xmlns:a16="http://schemas.microsoft.com/office/drawing/2014/main" id="{69C69863-164C-28D6-1C32-FC9A7CB31E05}"/>
              </a:ext>
            </a:extLst>
          </p:cNvPr>
          <p:cNvSpPr/>
          <p:nvPr/>
        </p:nvSpPr>
        <p:spPr>
          <a:xfrm>
            <a:off x="731520" y="2548926"/>
            <a:ext cx="4972050" cy="250000"/>
          </a:xfrm>
          <a:prstGeom prst="rect">
            <a:avLst/>
          </a:prstGeom>
          <a:noFill/>
          <a:ln>
            <a:solidFill>
              <a:srgbClr val="4472C4"/>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78D4"/>
                </a:solidFill>
                <a:latin typeface="Segoe UI Semibold"/>
                <a:ea typeface="Segoe UI Semibold"/>
                <a:cs typeface="Segoe UI Semibold"/>
              </a:rPr>
              <a:t>BUSINESS CONTEXT  ·  WHY IT MATTERS</a:t>
            </a:r>
          </a:p>
        </p:txBody>
      </p:sp>
      <p:sp>
        <p:nvSpPr>
          <p:cNvPr id="48" name="r120">
            <a:extLst>
              <a:ext uri="{FF2B5EF4-FFF2-40B4-BE49-F238E27FC236}">
                <a16:creationId xmlns:a16="http://schemas.microsoft.com/office/drawing/2014/main" id="{461195E1-5313-AC47-9BA5-71C80C7C81C8}"/>
              </a:ext>
            </a:extLst>
          </p:cNvPr>
          <p:cNvSpPr/>
          <p:nvPr/>
        </p:nvSpPr>
        <p:spPr>
          <a:xfrm>
            <a:off x="6183630" y="2398926"/>
            <a:ext cx="5520690" cy="1828800"/>
          </a:xfrm>
          <a:prstGeom prst="rect">
            <a:avLst/>
          </a:prstGeom>
          <a:solidFill>
            <a:srgbClr val="FFFFFF"/>
          </a:solidFill>
          <a:ln w="9525">
            <a:solidFill>
              <a:srgbClr val="D1D5D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r122">
            <a:extLst>
              <a:ext uri="{FF2B5EF4-FFF2-40B4-BE49-F238E27FC236}">
                <a16:creationId xmlns:a16="http://schemas.microsoft.com/office/drawing/2014/main" id="{703BD2B6-E58C-4CAB-2B7A-9203FB4115DC}"/>
              </a:ext>
            </a:extLst>
          </p:cNvPr>
          <p:cNvSpPr/>
          <p:nvPr/>
        </p:nvSpPr>
        <p:spPr>
          <a:xfrm>
            <a:off x="6183630" y="2398926"/>
            <a:ext cx="5520690" cy="64008"/>
          </a:xfrm>
          <a:prstGeom prst="rect">
            <a:avLst/>
          </a:prstGeom>
          <a:solidFill>
            <a:srgbClr val="0078D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t124">
            <a:extLst>
              <a:ext uri="{FF2B5EF4-FFF2-40B4-BE49-F238E27FC236}">
                <a16:creationId xmlns:a16="http://schemas.microsoft.com/office/drawing/2014/main" id="{094A898B-3303-06EF-93E2-E86284DC68BD}"/>
              </a:ext>
            </a:extLst>
          </p:cNvPr>
          <p:cNvSpPr/>
          <p:nvPr/>
        </p:nvSpPr>
        <p:spPr>
          <a:xfrm>
            <a:off x="6457950" y="254892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78D4"/>
                </a:solidFill>
                <a:latin typeface="Segoe UI Semibold"/>
                <a:ea typeface="Segoe UI Semibold"/>
                <a:cs typeface="Segoe UI Semibold"/>
              </a:rPr>
              <a:t>CUSTOMER LENS  ·  TARGETS &amp; PERSONAS</a:t>
            </a:r>
          </a:p>
        </p:txBody>
      </p:sp>
      <p:sp>
        <p:nvSpPr>
          <p:cNvPr id="52" name="r128">
            <a:extLst>
              <a:ext uri="{FF2B5EF4-FFF2-40B4-BE49-F238E27FC236}">
                <a16:creationId xmlns:a16="http://schemas.microsoft.com/office/drawing/2014/main" id="{C76177E7-C1F7-486A-B61E-EBE3176ACD5E}"/>
              </a:ext>
            </a:extLst>
          </p:cNvPr>
          <p:cNvSpPr/>
          <p:nvPr/>
        </p:nvSpPr>
        <p:spPr>
          <a:xfrm>
            <a:off x="457200" y="4425120"/>
            <a:ext cx="5535204" cy="2046514"/>
          </a:xfrm>
          <a:prstGeom prst="rect">
            <a:avLst/>
          </a:prstGeom>
          <a:solidFill>
            <a:srgbClr val="0B2545"/>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r130">
            <a:extLst>
              <a:ext uri="{FF2B5EF4-FFF2-40B4-BE49-F238E27FC236}">
                <a16:creationId xmlns:a16="http://schemas.microsoft.com/office/drawing/2014/main" id="{94756C7A-695E-4118-0ADA-3F46120185F4}"/>
              </a:ext>
            </a:extLst>
          </p:cNvPr>
          <p:cNvSpPr/>
          <p:nvPr/>
        </p:nvSpPr>
        <p:spPr>
          <a:xfrm>
            <a:off x="457200" y="4410606"/>
            <a:ext cx="5520690" cy="64008"/>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t132">
            <a:extLst>
              <a:ext uri="{FF2B5EF4-FFF2-40B4-BE49-F238E27FC236}">
                <a16:creationId xmlns:a16="http://schemas.microsoft.com/office/drawing/2014/main" id="{A9665EB2-F879-5688-11CA-79EA70A4C77F}"/>
              </a:ext>
            </a:extLst>
          </p:cNvPr>
          <p:cNvSpPr/>
          <p:nvPr/>
        </p:nvSpPr>
        <p:spPr>
          <a:xfrm>
            <a:off x="731520" y="456060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BCF2"/>
                </a:solidFill>
                <a:latin typeface="Segoe UI Semibold"/>
                <a:ea typeface="Segoe UI Semibold"/>
                <a:cs typeface="Segoe UI Semibold"/>
              </a:rPr>
              <a:t>THE CHALLENGE  ·  THE SCALE</a:t>
            </a:r>
          </a:p>
        </p:txBody>
      </p:sp>
      <p:sp>
        <p:nvSpPr>
          <p:cNvPr id="56" name="r136">
            <a:extLst>
              <a:ext uri="{FF2B5EF4-FFF2-40B4-BE49-F238E27FC236}">
                <a16:creationId xmlns:a16="http://schemas.microsoft.com/office/drawing/2014/main" id="{8996882C-762C-8577-EF94-9E9089B2A193}"/>
              </a:ext>
            </a:extLst>
          </p:cNvPr>
          <p:cNvSpPr/>
          <p:nvPr/>
        </p:nvSpPr>
        <p:spPr>
          <a:xfrm>
            <a:off x="6154602" y="4432377"/>
            <a:ext cx="5564232" cy="2046514"/>
          </a:xfrm>
          <a:prstGeom prst="rect">
            <a:avLst/>
          </a:prstGeom>
          <a:solidFill>
            <a:srgbClr val="0B2545"/>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r138">
            <a:extLst>
              <a:ext uri="{FF2B5EF4-FFF2-40B4-BE49-F238E27FC236}">
                <a16:creationId xmlns:a16="http://schemas.microsoft.com/office/drawing/2014/main" id="{C3B6A7FA-BC10-BE07-8819-B313987C4EDE}"/>
              </a:ext>
            </a:extLst>
          </p:cNvPr>
          <p:cNvSpPr/>
          <p:nvPr/>
        </p:nvSpPr>
        <p:spPr>
          <a:xfrm>
            <a:off x="6183630" y="4410606"/>
            <a:ext cx="5520690" cy="64008"/>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t140">
            <a:extLst>
              <a:ext uri="{FF2B5EF4-FFF2-40B4-BE49-F238E27FC236}">
                <a16:creationId xmlns:a16="http://schemas.microsoft.com/office/drawing/2014/main" id="{F61878BA-AA92-3433-A370-83D75AE3CF15}"/>
              </a:ext>
            </a:extLst>
          </p:cNvPr>
          <p:cNvSpPr/>
          <p:nvPr/>
        </p:nvSpPr>
        <p:spPr>
          <a:xfrm>
            <a:off x="6457950" y="456060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BCF2"/>
                </a:solidFill>
                <a:latin typeface="Segoe UI Semibold"/>
                <a:ea typeface="Segoe UI Semibold"/>
                <a:cs typeface="Segoe UI Semibold"/>
              </a:rPr>
              <a:t>MULTI-AGENT PROPOSED SOLUTION</a:t>
            </a:r>
          </a:p>
        </p:txBody>
      </p:sp>
      <p:sp>
        <p:nvSpPr>
          <p:cNvPr id="60" name="TextBox 59">
            <a:extLst>
              <a:ext uri="{FF2B5EF4-FFF2-40B4-BE49-F238E27FC236}">
                <a16:creationId xmlns:a16="http://schemas.microsoft.com/office/drawing/2014/main" id="{466BEDCB-B170-FBBB-1DC4-DFBBD1AB5512}"/>
              </a:ext>
            </a:extLst>
          </p:cNvPr>
          <p:cNvSpPr txBox="1"/>
          <p:nvPr/>
        </p:nvSpPr>
        <p:spPr>
          <a:xfrm>
            <a:off x="654874" y="2916644"/>
            <a:ext cx="534801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ea typeface="Calibri"/>
                <a:cs typeface="Calibri"/>
              </a:rPr>
              <a:t>Analysts drown in inputs — filings, transcripts, news, broker research &amp; market data — but hours go to gathering, not judgment</a:t>
            </a:r>
          </a:p>
          <a:p>
            <a:pPr marL="171450" indent="-171450">
              <a:buFont typeface="Arial"/>
              <a:buChar char="•"/>
            </a:pPr>
            <a:r>
              <a:rPr lang="en-US" sz="1200" b="1">
                <a:ea typeface="Calibri"/>
                <a:cs typeface="Calibri"/>
              </a:rPr>
              <a:t>Research has to be defensible</a:t>
            </a:r>
            <a:r>
              <a:rPr lang="en-US" sz="1200">
                <a:ea typeface="Calibri"/>
                <a:cs typeface="Calibri"/>
              </a:rPr>
              <a:t>: every claim needs a source, an audit trail, and compliance-safe handling of material info</a:t>
            </a:r>
          </a:p>
          <a:p>
            <a:pPr marL="171450" indent="-171450">
              <a:buFont typeface="Arial"/>
              <a:buChar char="•"/>
            </a:pPr>
            <a:r>
              <a:rPr lang="en-US" sz="1200" b="1">
                <a:ea typeface="Calibri"/>
                <a:cs typeface="Calibri"/>
              </a:rPr>
              <a:t>Coverage is uneven</a:t>
            </a:r>
            <a:r>
              <a:rPr lang="en-US" sz="1200">
                <a:ea typeface="Calibri"/>
                <a:cs typeface="Calibri"/>
              </a:rPr>
              <a:t> — long-tail names and breaking events get thin, slow analysis</a:t>
            </a:r>
            <a:endParaRPr lang="en-US"/>
          </a:p>
          <a:p>
            <a:r>
              <a:rPr lang="en-US" sz="1200">
                <a:solidFill>
                  <a:schemeClr val="accent1"/>
                </a:solidFill>
                <a:ea typeface="Calibri" panose="020F0502020204030204"/>
                <a:cs typeface="Calibri" panose="020F0502020204030204"/>
              </a:rPr>
              <a:t>PROJECTED TAM</a:t>
            </a:r>
            <a:r>
              <a:rPr lang="en-US" sz="1200">
                <a:ea typeface="Calibri" panose="020F0502020204030204"/>
                <a:cs typeface="Calibri" panose="020F0502020204030204"/>
              </a:rPr>
              <a:t> - </a:t>
            </a:r>
            <a:r>
              <a:rPr lang="en-US" sz="1200" b="1">
                <a:ea typeface="Calibri" panose="020F0502020204030204"/>
                <a:cs typeface="Calibri" panose="020F0502020204030204"/>
              </a:rPr>
              <a:t>~$10-$12Bn/Yr</a:t>
            </a:r>
            <a:r>
              <a:rPr lang="en-US" sz="1200">
                <a:ea typeface="Calibri" panose="020F0502020204030204"/>
                <a:cs typeface="Calibri" panose="020F0502020204030204"/>
              </a:rPr>
              <a:t> - based on AI-addressable research spend</a:t>
            </a:r>
          </a:p>
        </p:txBody>
      </p:sp>
      <p:sp>
        <p:nvSpPr>
          <p:cNvPr id="61" name="TextBox 60">
            <a:extLst>
              <a:ext uri="{FF2B5EF4-FFF2-40B4-BE49-F238E27FC236}">
                <a16:creationId xmlns:a16="http://schemas.microsoft.com/office/drawing/2014/main" id="{7212C614-B455-5A3A-F99A-E7E7B69FAD94}"/>
              </a:ext>
            </a:extLst>
          </p:cNvPr>
          <p:cNvSpPr txBox="1"/>
          <p:nvPr/>
        </p:nvSpPr>
        <p:spPr>
          <a:xfrm>
            <a:off x="6308187" y="2807786"/>
            <a:ext cx="54205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Calibri"/>
                <a:cs typeface="Calibri"/>
              </a:rPr>
              <a:t>Exec. Buyers </a:t>
            </a:r>
            <a:r>
              <a:rPr lang="en-US" sz="1200">
                <a:ea typeface="Calibri"/>
                <a:cs typeface="Calibri"/>
              </a:rPr>
              <a:t>: CEO, COO, Chief Investment Officers</a:t>
            </a:r>
          </a:p>
          <a:p>
            <a:pPr marL="171450" indent="-171450">
              <a:buFont typeface="Arial"/>
              <a:buChar char="•"/>
            </a:pPr>
            <a:r>
              <a:rPr lang="en-US" sz="1200" b="1">
                <a:ea typeface="Calibri"/>
                <a:cs typeface="Calibri"/>
              </a:rPr>
              <a:t>Champions</a:t>
            </a:r>
            <a:r>
              <a:rPr lang="en-US" sz="1200">
                <a:ea typeface="Calibri"/>
                <a:cs typeface="Calibri"/>
              </a:rPr>
              <a:t>:  Head of Research, Head of Data Science, Portfolio Managers, Investment Leads</a:t>
            </a:r>
          </a:p>
          <a:p>
            <a:pPr marL="171450" indent="-171450">
              <a:buFont typeface="Arial"/>
              <a:buChar char="•"/>
            </a:pPr>
            <a:r>
              <a:rPr lang="en-US" sz="1200" b="1">
                <a:ea typeface="Calibri" panose="020F0502020204030204"/>
                <a:cs typeface="Calibri" panose="020F0502020204030204"/>
              </a:rPr>
              <a:t>ROI</a:t>
            </a:r>
            <a:r>
              <a:rPr lang="en-US" sz="1200">
                <a:ea typeface="Calibri" panose="020F0502020204030204"/>
                <a:cs typeface="Calibri" panose="020F0502020204030204"/>
              </a:rPr>
              <a:t>: Very High ​</a:t>
            </a:r>
          </a:p>
          <a:p>
            <a:pPr marL="171450" indent="-171450">
              <a:buFont typeface="Arial"/>
              <a:buChar char="•"/>
            </a:pPr>
            <a:endParaRPr lang="en-US" sz="1200">
              <a:solidFill>
                <a:srgbClr val="000000"/>
              </a:solidFill>
              <a:ea typeface="Calibri" panose="020F0502020204030204"/>
              <a:cs typeface="Calibri" panose="020F0502020204030204"/>
            </a:endParaRPr>
          </a:p>
          <a:p>
            <a:r>
              <a:rPr lang="en-US" sz="1200">
                <a:solidFill>
                  <a:schemeClr val="accent1"/>
                </a:solidFill>
                <a:ea typeface="Calibri" panose="020F0502020204030204"/>
                <a:cs typeface="Calibri" panose="020F0502020204030204"/>
              </a:rPr>
              <a:t>TARGET CUSTOMERS</a:t>
            </a:r>
            <a:r>
              <a:rPr lang="en-US" sz="1200">
                <a:ea typeface="Calibri" panose="020F0502020204030204"/>
                <a:cs typeface="Calibri" panose="020F0502020204030204"/>
              </a:rPr>
              <a:t> – </a:t>
            </a:r>
            <a:r>
              <a:rPr lang="en-US" sz="1200" b="1">
                <a:ea typeface="Calibri" panose="020F0502020204030204"/>
                <a:cs typeface="Calibri" panose="020F0502020204030204"/>
              </a:rPr>
              <a:t>Hedge Funds, Asset Managers, Sell-side Research,  Wealth and Private Banks, Corporate Strategy, Treasury</a:t>
            </a:r>
          </a:p>
        </p:txBody>
      </p:sp>
      <p:sp>
        <p:nvSpPr>
          <p:cNvPr id="62" name="TextBox 61">
            <a:extLst>
              <a:ext uri="{FF2B5EF4-FFF2-40B4-BE49-F238E27FC236}">
                <a16:creationId xmlns:a16="http://schemas.microsoft.com/office/drawing/2014/main" id="{3E34C616-8B89-9FBF-FCAB-BC69449F9C18}"/>
              </a:ext>
            </a:extLst>
          </p:cNvPr>
          <p:cNvSpPr txBox="1"/>
          <p:nvPr/>
        </p:nvSpPr>
        <p:spPr>
          <a:xfrm>
            <a:off x="6308186" y="4818014"/>
            <a:ext cx="542058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latin typeface="Calibri"/>
                <a:ea typeface="Calibri"/>
                <a:cs typeface="Calibri"/>
              </a:rPr>
              <a:t>A desk of specialist agents, each owning a research lens, independently analyze a name or theme; a senior PM/strategist orchestrator synthesizes, reconciles disagreement, scores conviction and writes a fully-cited thesis. Unlike a single RAG copilot, the agents are allowed to disagree and the orchestrator adjudicates the dissent.</a:t>
            </a:r>
          </a:p>
          <a:p>
            <a:br>
              <a:rPr lang="en-US" sz="1200">
                <a:solidFill>
                  <a:schemeClr val="bg1"/>
                </a:solidFill>
                <a:latin typeface="Aptos"/>
                <a:ea typeface="Calibri"/>
                <a:cs typeface="Calibri"/>
              </a:rPr>
            </a:br>
            <a:r>
              <a:rPr lang="en-US" sz="1200" b="1">
                <a:solidFill>
                  <a:srgbClr val="00B050"/>
                </a:solidFill>
                <a:latin typeface="Calibri"/>
                <a:ea typeface="Calibri"/>
                <a:cs typeface="Calibri"/>
              </a:rPr>
              <a:t>Multi-Agent</a:t>
            </a:r>
            <a:r>
              <a:rPr lang="en-US" sz="1200">
                <a:solidFill>
                  <a:srgbClr val="000000"/>
                </a:solidFill>
                <a:latin typeface="Calibri"/>
                <a:ea typeface="Calibri"/>
                <a:cs typeface="Calibri"/>
              </a:rPr>
              <a:t> </a:t>
            </a:r>
            <a:r>
              <a:rPr lang="en-US" sz="1200">
                <a:solidFill>
                  <a:schemeClr val="bg1"/>
                </a:solidFill>
                <a:latin typeface="Calibri"/>
                <a:ea typeface="Calibri"/>
                <a:cs typeface="Calibri"/>
              </a:rPr>
              <a:t>- </a:t>
            </a:r>
            <a:r>
              <a:rPr lang="en-US" sz="1000">
                <a:solidFill>
                  <a:schemeClr val="bg1"/>
                </a:solidFill>
                <a:latin typeface="Calibri"/>
                <a:ea typeface="Calibri"/>
                <a:cs typeface="Calibri"/>
              </a:rPr>
              <a:t>Fundamentals · Sentiment · Macro/Rates · News · Alt-data · Quant · ESG  →  PM/Strategist orchestrator</a:t>
            </a:r>
            <a:endParaRPr lang="en-US">
              <a:solidFill>
                <a:schemeClr val="bg1"/>
              </a:solidFill>
            </a:endParaRPr>
          </a:p>
          <a:p>
            <a:endParaRPr lang="en-US" sz="1200">
              <a:latin typeface="Aptos"/>
              <a:ea typeface="Calibri"/>
              <a:cs typeface="Calibri"/>
            </a:endParaRPr>
          </a:p>
          <a:p>
            <a:pPr marL="171450" indent="-171450">
              <a:buFont typeface="Arial"/>
              <a:buChar char="•"/>
            </a:pPr>
            <a:endParaRPr lang="en-US" sz="1200">
              <a:solidFill>
                <a:schemeClr val="bg1"/>
              </a:solidFill>
              <a:ea typeface="Calibri"/>
              <a:cs typeface="Calibri"/>
            </a:endParaRPr>
          </a:p>
        </p:txBody>
      </p:sp>
      <p:sp>
        <p:nvSpPr>
          <p:cNvPr id="63" name="TextBox 62">
            <a:extLst>
              <a:ext uri="{FF2B5EF4-FFF2-40B4-BE49-F238E27FC236}">
                <a16:creationId xmlns:a16="http://schemas.microsoft.com/office/drawing/2014/main" id="{0039B46B-CB9A-F0F1-281D-08C5BFD52029}"/>
              </a:ext>
            </a:extLst>
          </p:cNvPr>
          <p:cNvSpPr txBox="1"/>
          <p:nvPr/>
        </p:nvSpPr>
        <p:spPr>
          <a:xfrm>
            <a:off x="618585" y="4810756"/>
            <a:ext cx="542058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solidFill>
                  <a:schemeClr val="bg1"/>
                </a:solidFill>
                <a:ea typeface="Calibri"/>
                <a:cs typeface="Calibri"/>
              </a:rPr>
              <a:t>A single thesis can span hundreds of documents across dozens of sources — too much to read, too slow to synthesize before the market moves</a:t>
            </a:r>
          </a:p>
          <a:p>
            <a:pPr marL="171450" indent="-171450">
              <a:buFont typeface="Arial"/>
              <a:buChar char="•"/>
            </a:pPr>
            <a:endParaRPr lang="en-US" sz="1200">
              <a:solidFill>
                <a:schemeClr val="bg1"/>
              </a:solidFill>
              <a:ea typeface="Calibri"/>
              <a:cs typeface="Calibri"/>
            </a:endParaRPr>
          </a:p>
          <a:p>
            <a:pPr marL="171450" indent="-171450">
              <a:buFont typeface="Arial"/>
              <a:buChar char="•"/>
            </a:pPr>
            <a:r>
              <a:rPr lang="en-US" sz="1200">
                <a:solidFill>
                  <a:schemeClr val="bg1"/>
                </a:solidFill>
                <a:ea typeface="Calibri"/>
                <a:cs typeface="Calibri"/>
              </a:rPr>
              <a:t>The hard problem is synthesis with provenance, not summarization — reconcile conflicting signals, cite every claim, and keep material non-public info walled off, at machine speed and analyst-grade quality</a:t>
            </a:r>
            <a:br>
              <a:rPr lang="en-US" sz="1200">
                <a:solidFill>
                  <a:schemeClr val="bg1"/>
                </a:solidFill>
                <a:latin typeface="Aptos"/>
                <a:ea typeface="Calibri"/>
                <a:cs typeface="Calibri"/>
              </a:rPr>
            </a:br>
            <a:endParaRPr lang="en-US" sz="1200">
              <a:solidFill>
                <a:schemeClr val="bg1"/>
              </a:solidFill>
              <a:ea typeface="Calibri"/>
              <a:cs typeface="Calibri"/>
            </a:endParaRPr>
          </a:p>
          <a:p>
            <a:endParaRPr lang="en-US" sz="1200">
              <a:latin typeface="Aptos"/>
              <a:ea typeface="Calibri"/>
              <a:cs typeface="Calibri"/>
            </a:endParaRPr>
          </a:p>
          <a:p>
            <a:pPr marL="171450" indent="-171450">
              <a:buFont typeface="Arial"/>
              <a:buChar char="•"/>
            </a:pPr>
            <a:endParaRPr lang="en-US" sz="1200">
              <a:solidFill>
                <a:schemeClr val="bg1"/>
              </a:solidFill>
              <a:ea typeface="Calibri"/>
              <a:cs typeface="Calibri"/>
            </a:endParaRPr>
          </a:p>
        </p:txBody>
      </p:sp>
    </p:spTree>
    <p:extLst>
      <p:ext uri="{BB962C8B-B14F-4D97-AF65-F5344CB8AC3E}">
        <p14:creationId xmlns:p14="http://schemas.microsoft.com/office/powerpoint/2010/main" val="1855084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4297B555-DF5D-F71E-6443-D417076199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AA105E-5EB6-B5FB-8E5C-69850F2D9E3E}"/>
              </a:ext>
            </a:extLst>
          </p:cNvPr>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a:ea typeface="Segoe UI Semibold" pitchFamily="34" charset="-122"/>
                <a:cs typeface="Segoe UI Semibold"/>
              </a:rPr>
              <a:t>SUBDIVISION DEEP-DIVE</a:t>
            </a:r>
            <a:endParaRPr lang="en-US" sz="1200">
              <a:latin typeface="Segoe UI Semibold"/>
              <a:ea typeface="Calibri" panose="020F0502020204030204"/>
              <a:cs typeface="Calibri" panose="020F0502020204030204"/>
            </a:endParaRPr>
          </a:p>
        </p:txBody>
      </p:sp>
      <p:sp>
        <p:nvSpPr>
          <p:cNvPr id="3" name="Text 1">
            <a:extLst>
              <a:ext uri="{FF2B5EF4-FFF2-40B4-BE49-F238E27FC236}">
                <a16:creationId xmlns:a16="http://schemas.microsoft.com/office/drawing/2014/main" id="{1DE88F4B-4D66-AD7D-D0EF-719637CE6078}"/>
              </a:ext>
            </a:extLst>
          </p:cNvPr>
          <p:cNvSpPr/>
          <p:nvPr/>
        </p:nvSpPr>
        <p:spPr>
          <a:xfrm>
            <a:off x="457200" y="658368"/>
            <a:ext cx="11247120" cy="640080"/>
          </a:xfrm>
          <a:prstGeom prst="rect">
            <a:avLst/>
          </a:prstGeom>
          <a:noFill/>
          <a:ln/>
        </p:spPr>
        <p:txBody>
          <a:bodyPr wrap="square" lIns="0" tIns="0" rIns="0" bIns="0" rtlCol="0" anchor="ctr"/>
          <a:lstStyle/>
          <a:p>
            <a:r>
              <a:rPr lang="en-US" sz="2800" b="1">
                <a:solidFill>
                  <a:srgbClr val="0B2545"/>
                </a:solidFill>
                <a:latin typeface="Segoe UI Semibold"/>
                <a:cs typeface="Segoe UI Semibold"/>
              </a:rPr>
              <a:t>Markets</a:t>
            </a:r>
            <a:endParaRPr lang="en-US" sz="2800"/>
          </a:p>
        </p:txBody>
      </p:sp>
      <p:sp>
        <p:nvSpPr>
          <p:cNvPr id="5" name="Text 3">
            <a:extLst>
              <a:ext uri="{FF2B5EF4-FFF2-40B4-BE49-F238E27FC236}">
                <a16:creationId xmlns:a16="http://schemas.microsoft.com/office/drawing/2014/main" id="{FC3F99C6-97EB-E508-F485-8BC056D02FCA}"/>
              </a:ext>
            </a:extLst>
          </p:cNvPr>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Primary</a:t>
            </a:r>
            <a:endParaRPr lang="en-US" sz="1100"/>
          </a:p>
        </p:txBody>
      </p:sp>
      <p:sp>
        <p:nvSpPr>
          <p:cNvPr id="22" name="Text 20">
            <a:extLst>
              <a:ext uri="{FF2B5EF4-FFF2-40B4-BE49-F238E27FC236}">
                <a16:creationId xmlns:a16="http://schemas.microsoft.com/office/drawing/2014/main" id="{85250A4A-A560-90FE-87C5-1BDB18FC5FF0}"/>
              </a:ext>
            </a:extLst>
          </p:cNvPr>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a:extLst>
              <a:ext uri="{FF2B5EF4-FFF2-40B4-BE49-F238E27FC236}">
                <a16:creationId xmlns:a16="http://schemas.microsoft.com/office/drawing/2014/main" id="{E4D6A49B-0DAF-6CAA-BB20-AA4C97981BC9}"/>
              </a:ext>
            </a:extLst>
          </p:cNvPr>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11</a:t>
            </a:r>
            <a:endParaRPr lang="en-US" sz="900"/>
          </a:p>
        </p:txBody>
      </p:sp>
      <p:sp>
        <p:nvSpPr>
          <p:cNvPr id="42" name="r108">
            <a:extLst>
              <a:ext uri="{FF2B5EF4-FFF2-40B4-BE49-F238E27FC236}">
                <a16:creationId xmlns:a16="http://schemas.microsoft.com/office/drawing/2014/main" id="{05F97546-7AD2-A610-480B-3BDB466764E3}"/>
              </a:ext>
            </a:extLst>
          </p:cNvPr>
          <p:cNvSpPr/>
          <p:nvPr/>
        </p:nvSpPr>
        <p:spPr>
          <a:xfrm>
            <a:off x="457200" y="1900000"/>
            <a:ext cx="64008" cy="320000"/>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t110">
            <a:extLst>
              <a:ext uri="{FF2B5EF4-FFF2-40B4-BE49-F238E27FC236}">
                <a16:creationId xmlns:a16="http://schemas.microsoft.com/office/drawing/2014/main" id="{BE77262D-856F-B9F9-F3BB-5F9AF5AD92E0}"/>
              </a:ext>
            </a:extLst>
          </p:cNvPr>
          <p:cNvSpPr/>
          <p:nvPr/>
        </p:nvSpPr>
        <p:spPr>
          <a:xfrm>
            <a:off x="641208" y="1900000"/>
            <a:ext cx="11000000" cy="32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kern="0">
                <a:solidFill>
                  <a:srgbClr val="0B2545"/>
                </a:solidFill>
                <a:latin typeface="Segoe UI Semibold"/>
                <a:ea typeface="Segoe UI Semibold"/>
                <a:cs typeface="Segoe UI Semibold"/>
              </a:rPr>
              <a:t>Post-Trade: Settlement Control Tower</a:t>
            </a:r>
          </a:p>
        </p:txBody>
      </p:sp>
      <p:sp>
        <p:nvSpPr>
          <p:cNvPr id="44" name="r112">
            <a:extLst>
              <a:ext uri="{FF2B5EF4-FFF2-40B4-BE49-F238E27FC236}">
                <a16:creationId xmlns:a16="http://schemas.microsoft.com/office/drawing/2014/main" id="{ED4DA467-2495-C2D1-2B69-A24C1AE706D2}"/>
              </a:ext>
            </a:extLst>
          </p:cNvPr>
          <p:cNvSpPr/>
          <p:nvPr/>
        </p:nvSpPr>
        <p:spPr>
          <a:xfrm>
            <a:off x="457200" y="2398926"/>
            <a:ext cx="5520690" cy="1828800"/>
          </a:xfrm>
          <a:prstGeom prst="rect">
            <a:avLst/>
          </a:prstGeom>
          <a:solidFill>
            <a:srgbClr val="FFFFFF"/>
          </a:solidFill>
          <a:ln w="9525">
            <a:solidFill>
              <a:srgbClr val="D1D5D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r114">
            <a:extLst>
              <a:ext uri="{FF2B5EF4-FFF2-40B4-BE49-F238E27FC236}">
                <a16:creationId xmlns:a16="http://schemas.microsoft.com/office/drawing/2014/main" id="{D53CC695-BE18-C9D1-D38A-085F659ED69F}"/>
              </a:ext>
            </a:extLst>
          </p:cNvPr>
          <p:cNvSpPr/>
          <p:nvPr/>
        </p:nvSpPr>
        <p:spPr>
          <a:xfrm>
            <a:off x="457200" y="2398926"/>
            <a:ext cx="5520690" cy="64008"/>
          </a:xfrm>
          <a:prstGeom prst="rect">
            <a:avLst/>
          </a:prstGeom>
          <a:solidFill>
            <a:srgbClr val="0078D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t116">
            <a:extLst>
              <a:ext uri="{FF2B5EF4-FFF2-40B4-BE49-F238E27FC236}">
                <a16:creationId xmlns:a16="http://schemas.microsoft.com/office/drawing/2014/main" id="{8768ECCA-2DB7-F7CB-B6CB-7E94707EF0BE}"/>
              </a:ext>
            </a:extLst>
          </p:cNvPr>
          <p:cNvSpPr/>
          <p:nvPr/>
        </p:nvSpPr>
        <p:spPr>
          <a:xfrm>
            <a:off x="731520" y="2548926"/>
            <a:ext cx="4972050" cy="250000"/>
          </a:xfrm>
          <a:prstGeom prst="rect">
            <a:avLst/>
          </a:prstGeom>
          <a:noFill/>
          <a:ln>
            <a:solidFill>
              <a:srgbClr val="4472C4"/>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78D4"/>
                </a:solidFill>
                <a:latin typeface="Segoe UI Semibold"/>
                <a:ea typeface="Segoe UI Semibold"/>
                <a:cs typeface="Segoe UI Semibold"/>
              </a:rPr>
              <a:t>BUSINESS CONTEXT  ·  WHY IT MATTERS</a:t>
            </a:r>
          </a:p>
        </p:txBody>
      </p:sp>
      <p:sp>
        <p:nvSpPr>
          <p:cNvPr id="48" name="r120">
            <a:extLst>
              <a:ext uri="{FF2B5EF4-FFF2-40B4-BE49-F238E27FC236}">
                <a16:creationId xmlns:a16="http://schemas.microsoft.com/office/drawing/2014/main" id="{3EAD6C55-F329-F1B4-E940-31924F8ED2D2}"/>
              </a:ext>
            </a:extLst>
          </p:cNvPr>
          <p:cNvSpPr/>
          <p:nvPr/>
        </p:nvSpPr>
        <p:spPr>
          <a:xfrm>
            <a:off x="6183630" y="2398926"/>
            <a:ext cx="5520690" cy="1828800"/>
          </a:xfrm>
          <a:prstGeom prst="rect">
            <a:avLst/>
          </a:prstGeom>
          <a:solidFill>
            <a:srgbClr val="FFFFFF"/>
          </a:solidFill>
          <a:ln w="9525">
            <a:solidFill>
              <a:srgbClr val="D1D5D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r122">
            <a:extLst>
              <a:ext uri="{FF2B5EF4-FFF2-40B4-BE49-F238E27FC236}">
                <a16:creationId xmlns:a16="http://schemas.microsoft.com/office/drawing/2014/main" id="{99F7C6F0-130C-D48C-E5DF-E7A90A143A33}"/>
              </a:ext>
            </a:extLst>
          </p:cNvPr>
          <p:cNvSpPr/>
          <p:nvPr/>
        </p:nvSpPr>
        <p:spPr>
          <a:xfrm>
            <a:off x="6183630" y="2398926"/>
            <a:ext cx="5520690" cy="64008"/>
          </a:xfrm>
          <a:prstGeom prst="rect">
            <a:avLst/>
          </a:prstGeom>
          <a:solidFill>
            <a:srgbClr val="0078D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t124">
            <a:extLst>
              <a:ext uri="{FF2B5EF4-FFF2-40B4-BE49-F238E27FC236}">
                <a16:creationId xmlns:a16="http://schemas.microsoft.com/office/drawing/2014/main" id="{A6135581-2A7C-9589-BCD2-85C15F3A339D}"/>
              </a:ext>
            </a:extLst>
          </p:cNvPr>
          <p:cNvSpPr/>
          <p:nvPr/>
        </p:nvSpPr>
        <p:spPr>
          <a:xfrm>
            <a:off x="6457950" y="254892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78D4"/>
                </a:solidFill>
                <a:latin typeface="Segoe UI Semibold"/>
                <a:ea typeface="Segoe UI Semibold"/>
                <a:cs typeface="Segoe UI Semibold"/>
              </a:rPr>
              <a:t>CUSTOMER LENS  ·  TARGETS &amp; PERSONAS</a:t>
            </a:r>
          </a:p>
        </p:txBody>
      </p:sp>
      <p:sp>
        <p:nvSpPr>
          <p:cNvPr id="52" name="r128">
            <a:extLst>
              <a:ext uri="{FF2B5EF4-FFF2-40B4-BE49-F238E27FC236}">
                <a16:creationId xmlns:a16="http://schemas.microsoft.com/office/drawing/2014/main" id="{B5355101-8F1A-B6AD-0400-783ECCB5B339}"/>
              </a:ext>
            </a:extLst>
          </p:cNvPr>
          <p:cNvSpPr/>
          <p:nvPr/>
        </p:nvSpPr>
        <p:spPr>
          <a:xfrm>
            <a:off x="457200" y="4425120"/>
            <a:ext cx="5535204" cy="2046514"/>
          </a:xfrm>
          <a:prstGeom prst="rect">
            <a:avLst/>
          </a:prstGeom>
          <a:solidFill>
            <a:srgbClr val="0B2545"/>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r130">
            <a:extLst>
              <a:ext uri="{FF2B5EF4-FFF2-40B4-BE49-F238E27FC236}">
                <a16:creationId xmlns:a16="http://schemas.microsoft.com/office/drawing/2014/main" id="{28FFE542-280A-D587-FD96-5668B2915C2E}"/>
              </a:ext>
            </a:extLst>
          </p:cNvPr>
          <p:cNvSpPr/>
          <p:nvPr/>
        </p:nvSpPr>
        <p:spPr>
          <a:xfrm>
            <a:off x="457200" y="4410606"/>
            <a:ext cx="5520690" cy="64008"/>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t132">
            <a:extLst>
              <a:ext uri="{FF2B5EF4-FFF2-40B4-BE49-F238E27FC236}">
                <a16:creationId xmlns:a16="http://schemas.microsoft.com/office/drawing/2014/main" id="{00F0FD94-5760-442F-2DB7-83B80E3AD581}"/>
              </a:ext>
            </a:extLst>
          </p:cNvPr>
          <p:cNvSpPr/>
          <p:nvPr/>
        </p:nvSpPr>
        <p:spPr>
          <a:xfrm>
            <a:off x="731520" y="456060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BCF2"/>
                </a:solidFill>
                <a:latin typeface="Segoe UI Semibold"/>
                <a:ea typeface="Segoe UI Semibold"/>
                <a:cs typeface="Segoe UI Semibold"/>
              </a:rPr>
              <a:t>THE CHALLENGE  ·  THE SCALE</a:t>
            </a:r>
          </a:p>
        </p:txBody>
      </p:sp>
      <p:sp>
        <p:nvSpPr>
          <p:cNvPr id="56" name="r136">
            <a:extLst>
              <a:ext uri="{FF2B5EF4-FFF2-40B4-BE49-F238E27FC236}">
                <a16:creationId xmlns:a16="http://schemas.microsoft.com/office/drawing/2014/main" id="{455698E5-2E80-7A0D-87F6-B04FA75FD745}"/>
              </a:ext>
            </a:extLst>
          </p:cNvPr>
          <p:cNvSpPr/>
          <p:nvPr/>
        </p:nvSpPr>
        <p:spPr>
          <a:xfrm>
            <a:off x="6154602" y="4432377"/>
            <a:ext cx="5564232" cy="2046514"/>
          </a:xfrm>
          <a:prstGeom prst="rect">
            <a:avLst/>
          </a:prstGeom>
          <a:solidFill>
            <a:srgbClr val="0B2545"/>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r138">
            <a:extLst>
              <a:ext uri="{FF2B5EF4-FFF2-40B4-BE49-F238E27FC236}">
                <a16:creationId xmlns:a16="http://schemas.microsoft.com/office/drawing/2014/main" id="{5367AF86-067D-2C60-9CC7-D05B57341899}"/>
              </a:ext>
            </a:extLst>
          </p:cNvPr>
          <p:cNvSpPr/>
          <p:nvPr/>
        </p:nvSpPr>
        <p:spPr>
          <a:xfrm>
            <a:off x="6183630" y="4410606"/>
            <a:ext cx="5520690" cy="64008"/>
          </a:xfrm>
          <a:prstGeom prst="rect">
            <a:avLst/>
          </a:prstGeom>
          <a:solidFill>
            <a:srgbClr val="00BCF2"/>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t140">
            <a:extLst>
              <a:ext uri="{FF2B5EF4-FFF2-40B4-BE49-F238E27FC236}">
                <a16:creationId xmlns:a16="http://schemas.microsoft.com/office/drawing/2014/main" id="{EC3B0716-FFF8-6C5D-B053-50F257F8BA11}"/>
              </a:ext>
            </a:extLst>
          </p:cNvPr>
          <p:cNvSpPr/>
          <p:nvPr/>
        </p:nvSpPr>
        <p:spPr>
          <a:xfrm>
            <a:off x="6457950" y="4560606"/>
            <a:ext cx="4972050" cy="250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kern="0" spc="150">
                <a:solidFill>
                  <a:srgbClr val="00BCF2"/>
                </a:solidFill>
                <a:latin typeface="Segoe UI Semibold"/>
                <a:ea typeface="Segoe UI Semibold"/>
                <a:cs typeface="Segoe UI Semibold"/>
              </a:rPr>
              <a:t>MULTI-AGENT PROPOSED SOLUTION</a:t>
            </a:r>
          </a:p>
        </p:txBody>
      </p:sp>
      <p:sp>
        <p:nvSpPr>
          <p:cNvPr id="60" name="TextBox 59">
            <a:extLst>
              <a:ext uri="{FF2B5EF4-FFF2-40B4-BE49-F238E27FC236}">
                <a16:creationId xmlns:a16="http://schemas.microsoft.com/office/drawing/2014/main" id="{D23FCE22-7790-1E5B-0ECD-41123EA766F8}"/>
              </a:ext>
            </a:extLst>
          </p:cNvPr>
          <p:cNvSpPr txBox="1"/>
          <p:nvPr/>
        </p:nvSpPr>
        <p:spPr>
          <a:xfrm>
            <a:off x="654874" y="2916644"/>
            <a:ext cx="534801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a:ea typeface="Calibri"/>
                <a:cs typeface="Calibri"/>
              </a:rPr>
              <a:t>T+1 is live in US/CA/MEX (2024); EU, UK &amp; Switzerland target 2027; T+0 coming soon for the industry </a:t>
            </a:r>
            <a:endParaRPr lang="en-US"/>
          </a:p>
          <a:p>
            <a:pPr marL="171450" indent="-171450">
              <a:buFont typeface="Arial"/>
              <a:buChar char="•"/>
            </a:pPr>
            <a:r>
              <a:rPr lang="en-US" sz="1200">
                <a:ea typeface="Calibri"/>
                <a:cs typeface="Calibri"/>
              </a:rPr>
              <a:t>CSDR cash penalties accrue daily; friction is real </a:t>
            </a:r>
          </a:p>
          <a:p>
            <a:pPr marL="171450" indent="-171450">
              <a:buFont typeface="Arial"/>
              <a:buChar char="•"/>
            </a:pPr>
            <a:r>
              <a:rPr lang="en-US" sz="1200">
                <a:ea typeface="Calibri"/>
                <a:cs typeface="Calibri"/>
              </a:rPr>
              <a:t>Exception handling stays manual &amp; FTE-heavy; breaks as settlement near real-time</a:t>
            </a:r>
          </a:p>
          <a:p>
            <a:pPr marL="171450" indent="-171450">
              <a:buFont typeface="Arial"/>
              <a:buChar char="•"/>
            </a:pPr>
            <a:endParaRPr lang="en-US" sz="1200">
              <a:solidFill>
                <a:srgbClr val="000000"/>
              </a:solidFill>
              <a:ea typeface="Calibri" panose="020F0502020204030204"/>
              <a:cs typeface="Calibri" panose="020F0502020204030204"/>
            </a:endParaRPr>
          </a:p>
          <a:p>
            <a:r>
              <a:rPr lang="en-US" sz="1200">
                <a:solidFill>
                  <a:schemeClr val="accent1"/>
                </a:solidFill>
                <a:ea typeface="Calibri" panose="020F0502020204030204"/>
                <a:cs typeface="Calibri" panose="020F0502020204030204"/>
              </a:rPr>
              <a:t>PROJECTED TAM</a:t>
            </a:r>
            <a:r>
              <a:rPr lang="en-US" sz="1200">
                <a:ea typeface="Calibri" panose="020F0502020204030204"/>
                <a:cs typeface="Calibri" panose="020F0502020204030204"/>
              </a:rPr>
              <a:t> - </a:t>
            </a:r>
            <a:r>
              <a:rPr lang="en-US" sz="1200" b="1">
                <a:ea typeface="Calibri" panose="020F0502020204030204"/>
                <a:cs typeface="Calibri" panose="020F0502020204030204"/>
              </a:rPr>
              <a:t>~$12-$18Bn/Yr </a:t>
            </a:r>
            <a:r>
              <a:rPr lang="en-US" sz="1200">
                <a:ea typeface="Calibri" panose="020F0502020204030204"/>
                <a:cs typeface="Calibri" panose="020F0502020204030204"/>
              </a:rPr>
              <a:t>- based on addressable Post-trade spend</a:t>
            </a:r>
          </a:p>
        </p:txBody>
      </p:sp>
      <p:sp>
        <p:nvSpPr>
          <p:cNvPr id="61" name="TextBox 60">
            <a:extLst>
              <a:ext uri="{FF2B5EF4-FFF2-40B4-BE49-F238E27FC236}">
                <a16:creationId xmlns:a16="http://schemas.microsoft.com/office/drawing/2014/main" id="{4C34D431-9575-6ABF-F0BB-2C9A8738495A}"/>
              </a:ext>
            </a:extLst>
          </p:cNvPr>
          <p:cNvSpPr txBox="1"/>
          <p:nvPr/>
        </p:nvSpPr>
        <p:spPr>
          <a:xfrm>
            <a:off x="6308187" y="2807786"/>
            <a:ext cx="542058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b="1">
                <a:ea typeface="Calibri"/>
                <a:cs typeface="Calibri"/>
              </a:rPr>
              <a:t>Exec. Buyers </a:t>
            </a:r>
            <a:r>
              <a:rPr lang="en-US" sz="1200">
                <a:ea typeface="Calibri"/>
                <a:cs typeface="Calibri"/>
              </a:rPr>
              <a:t>: COO, CRO, Market Infra CEOs</a:t>
            </a:r>
          </a:p>
          <a:p>
            <a:pPr marL="171450" indent="-171450">
              <a:buFont typeface="Arial"/>
              <a:buChar char="•"/>
            </a:pPr>
            <a:r>
              <a:rPr lang="en-US" sz="1200" b="1">
                <a:ea typeface="Calibri"/>
                <a:cs typeface="Calibri"/>
              </a:rPr>
              <a:t>Champions</a:t>
            </a:r>
            <a:r>
              <a:rPr lang="en-US" sz="1200">
                <a:ea typeface="Calibri"/>
                <a:cs typeface="Calibri"/>
              </a:rPr>
              <a:t>:  Head of Operations, Head of Post-Trade, Head of Transformation</a:t>
            </a:r>
          </a:p>
          <a:p>
            <a:pPr marL="171450" indent="-171450">
              <a:buFont typeface="Arial"/>
              <a:buChar char="•"/>
            </a:pPr>
            <a:r>
              <a:rPr lang="en-US" sz="1200" b="1">
                <a:ea typeface="Calibri" panose="020F0502020204030204"/>
                <a:cs typeface="Calibri" panose="020F0502020204030204"/>
              </a:rPr>
              <a:t>ROI</a:t>
            </a:r>
            <a:r>
              <a:rPr lang="en-US" sz="1200">
                <a:ea typeface="Calibri" panose="020F0502020204030204"/>
                <a:cs typeface="Calibri" panose="020F0502020204030204"/>
              </a:rPr>
              <a:t>: Very High ​</a:t>
            </a:r>
          </a:p>
          <a:p>
            <a:pPr marL="171450" indent="-171450">
              <a:buFont typeface="Arial"/>
              <a:buChar char="•"/>
            </a:pPr>
            <a:endParaRPr lang="en-US" sz="1200">
              <a:solidFill>
                <a:srgbClr val="000000"/>
              </a:solidFill>
              <a:ea typeface="Calibri" panose="020F0502020204030204"/>
              <a:cs typeface="Calibri" panose="020F0502020204030204"/>
            </a:endParaRPr>
          </a:p>
          <a:p>
            <a:pPr marL="171450" indent="-171450">
              <a:buFont typeface="Arial"/>
              <a:buChar char="•"/>
            </a:pPr>
            <a:endParaRPr lang="en-US" sz="1200">
              <a:solidFill>
                <a:srgbClr val="000000"/>
              </a:solidFill>
              <a:ea typeface="Calibri" panose="020F0502020204030204"/>
              <a:cs typeface="Calibri" panose="020F0502020204030204"/>
            </a:endParaRPr>
          </a:p>
          <a:p>
            <a:r>
              <a:rPr lang="en-US" sz="1200">
                <a:solidFill>
                  <a:schemeClr val="accent1"/>
                </a:solidFill>
                <a:ea typeface="Calibri" panose="020F0502020204030204"/>
                <a:cs typeface="Calibri" panose="020F0502020204030204"/>
              </a:rPr>
              <a:t>TARGET CUSTOMERS</a:t>
            </a:r>
            <a:r>
              <a:rPr lang="en-US" sz="1200">
                <a:ea typeface="Calibri" panose="020F0502020204030204"/>
                <a:cs typeface="Calibri" panose="020F0502020204030204"/>
              </a:rPr>
              <a:t> - </a:t>
            </a:r>
            <a:r>
              <a:rPr lang="en-US" sz="1200" b="1">
                <a:ea typeface="Calibri" panose="020F0502020204030204"/>
                <a:cs typeface="Calibri" panose="020F0502020204030204"/>
              </a:rPr>
              <a:t>Investment Banks, Broker-Dealers/Prime Brokers, Custodians &amp; Asset-Servicers, Asset &amp; Wealth Managers, Market Infrastructure </a:t>
            </a:r>
          </a:p>
        </p:txBody>
      </p:sp>
      <p:sp>
        <p:nvSpPr>
          <p:cNvPr id="62" name="TextBox 61">
            <a:extLst>
              <a:ext uri="{FF2B5EF4-FFF2-40B4-BE49-F238E27FC236}">
                <a16:creationId xmlns:a16="http://schemas.microsoft.com/office/drawing/2014/main" id="{64756047-CD34-2E41-7830-8AED2BBBB43A}"/>
              </a:ext>
            </a:extLst>
          </p:cNvPr>
          <p:cNvSpPr txBox="1"/>
          <p:nvPr/>
        </p:nvSpPr>
        <p:spPr>
          <a:xfrm>
            <a:off x="6308186" y="4818014"/>
            <a:ext cx="5420582"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bg1"/>
                </a:solidFill>
                <a:latin typeface="Calibri"/>
                <a:ea typeface="Calibri"/>
                <a:cs typeface="Calibri"/>
              </a:rPr>
              <a:t>A control tower where agents watch the post-trade flow, predict which trades will fail before cutoff, diagnose why, and act — auto-resolving breaks, drafting counterparty chasers and escalating only true exceptions to a human. Unifies exception management, reconciliation and the control tower into one coherent story.</a:t>
            </a:r>
            <a:br>
              <a:rPr lang="en-US" sz="1200">
                <a:latin typeface="Aptos"/>
                <a:ea typeface="Calibri"/>
                <a:cs typeface="Calibri"/>
              </a:rPr>
            </a:br>
            <a:br>
              <a:rPr lang="en-US" sz="1200">
                <a:latin typeface="Aptos"/>
                <a:ea typeface="Calibri"/>
                <a:cs typeface="Calibri"/>
              </a:rPr>
            </a:br>
            <a:r>
              <a:rPr lang="en-US" sz="1200" b="1">
                <a:solidFill>
                  <a:srgbClr val="00B050"/>
                </a:solidFill>
                <a:latin typeface="Calibri"/>
                <a:ea typeface="Calibri"/>
                <a:cs typeface="Calibri"/>
              </a:rPr>
              <a:t>Multi-Agent</a:t>
            </a:r>
            <a:r>
              <a:rPr lang="en-US" sz="1200">
                <a:solidFill>
                  <a:srgbClr val="000000"/>
                </a:solidFill>
                <a:latin typeface="Calibri"/>
                <a:ea typeface="Calibri"/>
                <a:cs typeface="Calibri"/>
              </a:rPr>
              <a:t> </a:t>
            </a:r>
            <a:r>
              <a:rPr lang="en-US" sz="1200">
                <a:solidFill>
                  <a:schemeClr val="bg1"/>
                </a:solidFill>
                <a:latin typeface="Calibri"/>
                <a:ea typeface="Calibri"/>
                <a:cs typeface="Calibri"/>
              </a:rPr>
              <a:t>- Fails Prediction -&gt; Root-case -&gt; Reconciliation -&gt; Remediation -&gt; Counterparty Communication -&gt; Orchestration</a:t>
            </a:r>
          </a:p>
          <a:p>
            <a:endParaRPr lang="en-US" sz="1200">
              <a:latin typeface="Aptos"/>
              <a:ea typeface="Calibri"/>
              <a:cs typeface="Calibri"/>
            </a:endParaRPr>
          </a:p>
          <a:p>
            <a:pPr marL="171450" indent="-171450">
              <a:buFont typeface="Arial"/>
              <a:buChar char="•"/>
            </a:pPr>
            <a:endParaRPr lang="en-US" sz="1200">
              <a:solidFill>
                <a:schemeClr val="bg1"/>
              </a:solidFill>
              <a:ea typeface="Calibri"/>
              <a:cs typeface="Calibri"/>
            </a:endParaRPr>
          </a:p>
        </p:txBody>
      </p:sp>
      <p:sp>
        <p:nvSpPr>
          <p:cNvPr id="63" name="TextBox 62">
            <a:extLst>
              <a:ext uri="{FF2B5EF4-FFF2-40B4-BE49-F238E27FC236}">
                <a16:creationId xmlns:a16="http://schemas.microsoft.com/office/drawing/2014/main" id="{9DEB135A-732F-2C64-06D4-53991F58DFB3}"/>
              </a:ext>
            </a:extLst>
          </p:cNvPr>
          <p:cNvSpPr txBox="1"/>
          <p:nvPr/>
        </p:nvSpPr>
        <p:spPr>
          <a:xfrm>
            <a:off x="618585" y="4810756"/>
            <a:ext cx="5420582"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000">
                <a:solidFill>
                  <a:schemeClr val="bg1"/>
                </a:solidFill>
                <a:ea typeface="Calibri"/>
                <a:cs typeface="Calibri"/>
              </a:rPr>
              <a:t>Fails have historically run 5–10% of volume (and spiked to ~12–14% under stress); even today's steady state sits at ~2–3%+ of trades — on </a:t>
            </a:r>
            <a:r>
              <a:rPr lang="en-US" sz="1000" b="1">
                <a:solidFill>
                  <a:schemeClr val="bg1"/>
                </a:solidFill>
                <a:ea typeface="Calibri"/>
                <a:cs typeface="Calibri"/>
              </a:rPr>
              <a:t>$5 Trillion+/day</a:t>
            </a:r>
            <a:r>
              <a:rPr lang="en-US" sz="1000">
                <a:solidFill>
                  <a:schemeClr val="bg1"/>
                </a:solidFill>
                <a:ea typeface="Calibri"/>
                <a:cs typeface="Calibri"/>
              </a:rPr>
              <a:t> OTC market daily settlement, that's enormous notional stuck every day</a:t>
            </a:r>
          </a:p>
          <a:p>
            <a:pPr marL="171450" indent="-171450">
              <a:buFont typeface="Arial"/>
              <a:buChar char="•"/>
            </a:pPr>
            <a:endParaRPr lang="en-US" sz="1000">
              <a:solidFill>
                <a:schemeClr val="bg1"/>
              </a:solidFill>
              <a:ea typeface="Calibri"/>
              <a:cs typeface="Calibri"/>
            </a:endParaRPr>
          </a:p>
          <a:p>
            <a:pPr marL="171450" indent="-171450">
              <a:buFont typeface="Arial"/>
              <a:buChar char="•"/>
            </a:pPr>
            <a:r>
              <a:rPr lang="en-US" sz="1000">
                <a:solidFill>
                  <a:schemeClr val="bg1"/>
                </a:solidFill>
                <a:ea typeface="Calibri"/>
                <a:cs typeface="Calibri"/>
              </a:rPr>
              <a:t>– Fails now cost hard cash, not just effort: under CSDR, cash penalties accrue daily, per fail — and ESMA is raising the rates — so fails have moved from an ops nuisance to a recurring P&amp;L line</a:t>
            </a:r>
          </a:p>
          <a:p>
            <a:pPr marL="171450" indent="-171450">
              <a:buFont typeface="Arial"/>
              <a:buChar char="•"/>
            </a:pPr>
            <a:endParaRPr lang="en-US" sz="1000">
              <a:solidFill>
                <a:schemeClr val="bg1"/>
              </a:solidFill>
              <a:ea typeface="Calibri"/>
              <a:cs typeface="Calibri"/>
            </a:endParaRPr>
          </a:p>
          <a:p>
            <a:pPr marL="171450" indent="-171450">
              <a:buFont typeface="Arial"/>
              <a:buChar char="•"/>
            </a:pPr>
            <a:r>
              <a:rPr lang="en-US" sz="1000">
                <a:solidFill>
                  <a:schemeClr val="bg1"/>
                </a:solidFill>
                <a:ea typeface="Calibri"/>
                <a:cs typeface="Calibri"/>
              </a:rPr>
              <a:t>– And the work doesn't scale: exception handling is still manual and FTE-heavy; it breaks precisely as settlement compresses toward real time</a:t>
            </a:r>
          </a:p>
          <a:p>
            <a:endParaRPr lang="en-US" sz="1200">
              <a:latin typeface="Aptos"/>
              <a:ea typeface="Calibri"/>
              <a:cs typeface="Calibri"/>
            </a:endParaRPr>
          </a:p>
          <a:p>
            <a:pPr marL="171450" indent="-171450">
              <a:buFont typeface="Arial"/>
              <a:buChar char="•"/>
            </a:pPr>
            <a:endParaRPr lang="en-US" sz="1200">
              <a:solidFill>
                <a:schemeClr val="bg1"/>
              </a:solidFill>
              <a:ea typeface="Calibri"/>
              <a:cs typeface="Calibri"/>
            </a:endParaRPr>
          </a:p>
        </p:txBody>
      </p:sp>
      <p:sp>
        <p:nvSpPr>
          <p:cNvPr id="6" name="Text 4">
            <a:extLst>
              <a:ext uri="{FF2B5EF4-FFF2-40B4-BE49-F238E27FC236}">
                <a16:creationId xmlns:a16="http://schemas.microsoft.com/office/drawing/2014/main" id="{F236F1D5-6303-264C-BB37-018E74A14616}"/>
              </a:ext>
            </a:extLst>
          </p:cNvPr>
          <p:cNvSpPr/>
          <p:nvPr/>
        </p:nvSpPr>
        <p:spPr>
          <a:xfrm>
            <a:off x="455023" y="1371600"/>
            <a:ext cx="9875520" cy="310896"/>
          </a:xfrm>
          <a:prstGeom prst="rect">
            <a:avLst/>
          </a:prstGeom>
          <a:noFill/>
          <a:ln/>
        </p:spPr>
        <p:txBody>
          <a:bodyPr wrap="square" lIns="0" tIns="0" rIns="0" bIns="0" rtlCol="0" anchor="ctr"/>
          <a:lstStyle/>
          <a:p>
            <a:r>
              <a:rPr lang="en-US" sz="1400" b="1" i="1">
                <a:solidFill>
                  <a:srgbClr val="4B5563"/>
                </a:solidFill>
                <a:latin typeface="Segoe UI"/>
                <a:ea typeface="Segoe UI" pitchFamily="34" charset="-122"/>
                <a:cs typeface="Segoe UI"/>
              </a:rPr>
              <a:t>Trading Lifecycle : Pre-Trade -&gt; Trading -&gt; Post-trade</a:t>
            </a:r>
            <a:br>
              <a:rPr lang="en-US" sz="1400" i="1">
                <a:latin typeface="Segoe UI"/>
                <a:ea typeface="Segoe UI" pitchFamily="34" charset="-122"/>
                <a:cs typeface="Segoe UI"/>
              </a:rPr>
            </a:br>
            <a:br>
              <a:rPr lang="en-US" sz="1400" i="1">
                <a:latin typeface="Segoe UI"/>
                <a:ea typeface="Segoe UI" pitchFamily="34" charset="-122"/>
                <a:cs typeface="Segoe UI"/>
              </a:rPr>
            </a:br>
            <a:r>
              <a:rPr lang="en-US" sz="1400" i="1">
                <a:solidFill>
                  <a:srgbClr val="4B5563"/>
                </a:solidFill>
                <a:latin typeface="Segoe UI"/>
                <a:ea typeface="Segoe UI" pitchFamily="34" charset="-122"/>
                <a:cs typeface="Segoe UI"/>
              </a:rPr>
              <a:t>IA : Ankeet</a:t>
            </a:r>
            <a:endParaRPr lang="en-US" sz="1400">
              <a:latin typeface="Segoe UI"/>
              <a:cs typeface="Segoe UI"/>
            </a:endParaRPr>
          </a:p>
        </p:txBody>
      </p:sp>
    </p:spTree>
    <p:extLst>
      <p:ext uri="{BB962C8B-B14F-4D97-AF65-F5344CB8AC3E}">
        <p14:creationId xmlns:p14="http://schemas.microsoft.com/office/powerpoint/2010/main" val="1797108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DA16939A-FBE2-6421-7A55-8ACCBE5407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220940-D411-E391-7755-9B0A3A1FF15E}"/>
              </a:ext>
            </a:extLst>
          </p:cNvPr>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a:t>
            </a:r>
            <a:endParaRPr lang="en-US" sz="1200"/>
          </a:p>
        </p:txBody>
      </p:sp>
      <p:sp>
        <p:nvSpPr>
          <p:cNvPr id="3" name="Text 1">
            <a:extLst>
              <a:ext uri="{FF2B5EF4-FFF2-40B4-BE49-F238E27FC236}">
                <a16:creationId xmlns:a16="http://schemas.microsoft.com/office/drawing/2014/main" id="{B28E71A0-D349-0BDB-E885-9003B6544897}"/>
              </a:ext>
            </a:extLst>
          </p:cNvPr>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Payments</a:t>
            </a:r>
            <a:endParaRPr lang="en-US" sz="2800"/>
          </a:p>
        </p:txBody>
      </p:sp>
      <p:sp>
        <p:nvSpPr>
          <p:cNvPr id="5" name="Text 3">
            <a:extLst>
              <a:ext uri="{FF2B5EF4-FFF2-40B4-BE49-F238E27FC236}">
                <a16:creationId xmlns:a16="http://schemas.microsoft.com/office/drawing/2014/main" id="{42128248-6D77-510F-1A0E-5728E462842C}"/>
              </a:ext>
            </a:extLst>
          </p:cNvPr>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Secondary</a:t>
            </a:r>
            <a:endParaRPr lang="en-US" sz="1100"/>
          </a:p>
        </p:txBody>
      </p:sp>
      <p:sp>
        <p:nvSpPr>
          <p:cNvPr id="6" name="Text 4">
            <a:extLst>
              <a:ext uri="{FF2B5EF4-FFF2-40B4-BE49-F238E27FC236}">
                <a16:creationId xmlns:a16="http://schemas.microsoft.com/office/drawing/2014/main" id="{8E7579FD-EC3C-1953-45E2-2B380C42B5F8}"/>
              </a:ext>
            </a:extLst>
          </p:cNvPr>
          <p:cNvSpPr/>
          <p:nvPr/>
        </p:nvSpPr>
        <p:spPr>
          <a:xfrm>
            <a:off x="455023" y="1371600"/>
            <a:ext cx="9875520" cy="310896"/>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Post-trade disputes &amp; legal claims</a:t>
            </a:r>
            <a:endParaRPr lang="en-US" sz="1400"/>
          </a:p>
        </p:txBody>
      </p:sp>
      <p:grpSp>
        <p:nvGrpSpPr>
          <p:cNvPr id="16" name="Group 15">
            <a:extLst>
              <a:ext uri="{FF2B5EF4-FFF2-40B4-BE49-F238E27FC236}">
                <a16:creationId xmlns:a16="http://schemas.microsoft.com/office/drawing/2014/main" id="{749FAF9A-77E2-D248-5301-CD2909032C10}"/>
              </a:ext>
            </a:extLst>
          </p:cNvPr>
          <p:cNvGrpSpPr/>
          <p:nvPr/>
        </p:nvGrpSpPr>
        <p:grpSpPr>
          <a:xfrm>
            <a:off x="457200" y="2011680"/>
            <a:ext cx="5638800" cy="3840480"/>
            <a:chOff x="457200" y="2011680"/>
            <a:chExt cx="3840480" cy="3840480"/>
          </a:xfrm>
        </p:grpSpPr>
        <p:sp>
          <p:nvSpPr>
            <p:cNvPr id="7" name="Shape 5">
              <a:extLst>
                <a:ext uri="{FF2B5EF4-FFF2-40B4-BE49-F238E27FC236}">
                  <a16:creationId xmlns:a16="http://schemas.microsoft.com/office/drawing/2014/main" id="{71F27ACA-06F8-2C47-D217-6AF16ECF7A08}"/>
                </a:ext>
              </a:extLst>
            </p:cNvPr>
            <p:cNvSpPr/>
            <p:nvPr/>
          </p:nvSpPr>
          <p:spPr>
            <a:xfrm>
              <a:off x="457200" y="2011680"/>
              <a:ext cx="3840480" cy="3840480"/>
            </a:xfrm>
            <a:prstGeom prst="rect">
              <a:avLst/>
            </a:prstGeom>
            <a:solidFill>
              <a:srgbClr val="FFFFFF"/>
            </a:solidFill>
            <a:ln w="9525">
              <a:solidFill>
                <a:srgbClr val="D1D5DB"/>
              </a:solidFill>
              <a:prstDash val="solid"/>
            </a:ln>
          </p:spPr>
          <p:txBody>
            <a:bodyPr/>
            <a:lstStyle/>
            <a:p>
              <a:endParaRPr lang="en-US"/>
            </a:p>
          </p:txBody>
        </p:sp>
        <p:sp>
          <p:nvSpPr>
            <p:cNvPr id="8" name="Shape 6">
              <a:extLst>
                <a:ext uri="{FF2B5EF4-FFF2-40B4-BE49-F238E27FC236}">
                  <a16:creationId xmlns:a16="http://schemas.microsoft.com/office/drawing/2014/main" id="{2BC236D3-3BEA-BD26-F64D-189210FE2735}"/>
                </a:ext>
              </a:extLst>
            </p:cNvPr>
            <p:cNvSpPr/>
            <p:nvPr/>
          </p:nvSpPr>
          <p:spPr>
            <a:xfrm>
              <a:off x="457200" y="2011680"/>
              <a:ext cx="3840480" cy="109728"/>
            </a:xfrm>
            <a:prstGeom prst="rect">
              <a:avLst/>
            </a:prstGeom>
            <a:solidFill>
              <a:srgbClr val="0078D4"/>
            </a:solidFill>
            <a:ln/>
          </p:spPr>
          <p:txBody>
            <a:bodyPr/>
            <a:lstStyle/>
            <a:p>
              <a:endParaRPr lang="en-US"/>
            </a:p>
          </p:txBody>
        </p:sp>
        <p:sp>
          <p:nvSpPr>
            <p:cNvPr id="9" name="Text 7">
              <a:extLst>
                <a:ext uri="{FF2B5EF4-FFF2-40B4-BE49-F238E27FC236}">
                  <a16:creationId xmlns:a16="http://schemas.microsoft.com/office/drawing/2014/main" id="{69394DBB-8E37-4C29-6AE7-74F33FB42E9D}"/>
                </a:ext>
              </a:extLst>
            </p:cNvPr>
            <p:cNvSpPr/>
            <p:nvPr/>
          </p:nvSpPr>
          <p:spPr>
            <a:xfrm>
              <a:off x="777240" y="2331720"/>
              <a:ext cx="3200400" cy="274320"/>
            </a:xfrm>
            <a:prstGeom prst="rect">
              <a:avLst/>
            </a:prstGeom>
            <a:noFill/>
            <a:ln/>
          </p:spPr>
          <p:txBody>
            <a:bodyPr wrap="square" lIns="0" tIns="0" rIns="0" bIns="0" rtlCol="0" anchor="ctr"/>
            <a:lstStyle/>
            <a:p>
              <a:r>
                <a:rPr lang="en-US" sz="1100" b="1" kern="0" spc="200">
                  <a:solidFill>
                    <a:srgbClr val="0078D4"/>
                  </a:solidFill>
                  <a:latin typeface="Segoe UI Semibold"/>
                  <a:ea typeface="Calibri"/>
                  <a:cs typeface="Segoe UI Semibold"/>
                </a:rPr>
                <a:t>Industry Advisors</a:t>
              </a:r>
              <a:endParaRPr lang="en-US" sz="1100" kern="0" spc="200">
                <a:solidFill>
                  <a:srgbClr val="000000"/>
                </a:solidFill>
                <a:latin typeface="Segoe UI Semibold"/>
                <a:ea typeface="Calibri"/>
                <a:cs typeface="Segoe UI Semibold"/>
              </a:endParaRPr>
            </a:p>
          </p:txBody>
        </p:sp>
        <p:sp>
          <p:nvSpPr>
            <p:cNvPr id="10" name="Text 8">
              <a:extLst>
                <a:ext uri="{FF2B5EF4-FFF2-40B4-BE49-F238E27FC236}">
                  <a16:creationId xmlns:a16="http://schemas.microsoft.com/office/drawing/2014/main" id="{D6D5E5F5-D954-F60C-F63E-F92CE579601E}"/>
                </a:ext>
              </a:extLst>
            </p:cNvPr>
            <p:cNvSpPr/>
            <p:nvPr/>
          </p:nvSpPr>
          <p:spPr>
            <a:xfrm>
              <a:off x="777240" y="2606040"/>
              <a:ext cx="3200400" cy="411480"/>
            </a:xfrm>
            <a:prstGeom prst="rect">
              <a:avLst/>
            </a:prstGeom>
            <a:noFill/>
            <a:ln/>
          </p:spPr>
          <p:txBody>
            <a:bodyPr wrap="square" lIns="0" tIns="0" rIns="0" bIns="0" rtlCol="0" anchor="ctr"/>
            <a:lstStyle/>
            <a:p>
              <a:r>
                <a:rPr lang="en-US" sz="1600" i="1">
                  <a:solidFill>
                    <a:srgbClr val="6B7280"/>
                  </a:solidFill>
                  <a:latin typeface="Segoe UI Semibold"/>
                  <a:ea typeface="Segoe UI Semibold" pitchFamily="34" charset="-122"/>
                  <a:cs typeface="Segoe UI Semibold"/>
                </a:rPr>
                <a:t>Kayal  · Andrei</a:t>
              </a:r>
              <a:endParaRPr lang="en-US" sz="1600">
                <a:solidFill>
                  <a:srgbClr val="000000"/>
                </a:solidFill>
                <a:latin typeface="Segoe UI Semibold"/>
                <a:ea typeface="Segoe UI Semibold" pitchFamily="34" charset="-122"/>
                <a:cs typeface="Segoe UI Semibold"/>
              </a:endParaRPr>
            </a:p>
          </p:txBody>
        </p:sp>
        <p:sp>
          <p:nvSpPr>
            <p:cNvPr id="11" name="Shape 9">
              <a:extLst>
                <a:ext uri="{FF2B5EF4-FFF2-40B4-BE49-F238E27FC236}">
                  <a16:creationId xmlns:a16="http://schemas.microsoft.com/office/drawing/2014/main" id="{70FFA2A1-5747-49A5-BC48-E5827B97D5E8}"/>
                </a:ext>
              </a:extLst>
            </p:cNvPr>
            <p:cNvSpPr/>
            <p:nvPr/>
          </p:nvSpPr>
          <p:spPr>
            <a:xfrm>
              <a:off x="777240" y="3154680"/>
              <a:ext cx="3200400" cy="18288"/>
            </a:xfrm>
            <a:prstGeom prst="rect">
              <a:avLst/>
            </a:prstGeom>
            <a:solidFill>
              <a:srgbClr val="D1D5DB"/>
            </a:solidFill>
            <a:ln/>
          </p:spPr>
          <p:txBody>
            <a:bodyPr/>
            <a:lstStyle/>
            <a:p>
              <a:endParaRPr lang="en-US"/>
            </a:p>
          </p:txBody>
        </p:sp>
        <p:sp>
          <p:nvSpPr>
            <p:cNvPr id="12" name="Text 10">
              <a:extLst>
                <a:ext uri="{FF2B5EF4-FFF2-40B4-BE49-F238E27FC236}">
                  <a16:creationId xmlns:a16="http://schemas.microsoft.com/office/drawing/2014/main" id="{8EAE0352-DAF5-673C-4160-E615C7138CE7}"/>
                </a:ext>
              </a:extLst>
            </p:cNvPr>
            <p:cNvSpPr/>
            <p:nvPr/>
          </p:nvSpPr>
          <p:spPr>
            <a:xfrm>
              <a:off x="777240" y="3337560"/>
              <a:ext cx="3200400" cy="274320"/>
            </a:xfrm>
            <a:prstGeom prst="rect">
              <a:avLst/>
            </a:prstGeom>
            <a:noFill/>
            <a:ln/>
          </p:spPr>
          <p:txBody>
            <a:bodyPr wrap="square" lIns="0" tIns="0" rIns="0" bIns="0" rtlCol="0" anchor="ctr"/>
            <a:lstStyle/>
            <a:p>
              <a:pPr marL="0" indent="0">
                <a:buNone/>
              </a:pPr>
              <a:r>
                <a:rPr lang="en-US" sz="1100" b="1" kern="0" spc="200">
                  <a:solidFill>
                    <a:srgbClr val="0078D4"/>
                  </a:solidFill>
                  <a:latin typeface="Segoe UI Semibold"/>
                  <a:ea typeface="Segoe UI Semibold" pitchFamily="34" charset="-122"/>
                  <a:cs typeface="Segoe UI Semibold"/>
                </a:rPr>
                <a:t>BUSINESS CONTEXT</a:t>
              </a:r>
              <a:endParaRPr lang="en-US" sz="1100">
                <a:solidFill>
                  <a:srgbClr val="0078D4"/>
                </a:solidFill>
                <a:latin typeface="Segoe UI Semibold"/>
                <a:ea typeface="Calibri"/>
                <a:cs typeface="Segoe UI Semibold"/>
              </a:endParaRPr>
            </a:p>
          </p:txBody>
        </p:sp>
        <p:sp>
          <p:nvSpPr>
            <p:cNvPr id="13" name="Text 11">
              <a:extLst>
                <a:ext uri="{FF2B5EF4-FFF2-40B4-BE49-F238E27FC236}">
                  <a16:creationId xmlns:a16="http://schemas.microsoft.com/office/drawing/2014/main" id="{39F50DCE-52CF-8CF5-E8CB-665591F1F6F5}"/>
                </a:ext>
              </a:extLst>
            </p:cNvPr>
            <p:cNvSpPr/>
            <p:nvPr/>
          </p:nvSpPr>
          <p:spPr>
            <a:xfrm>
              <a:off x="777240" y="3639312"/>
              <a:ext cx="3200400" cy="274320"/>
            </a:xfrm>
            <a:prstGeom prst="rect">
              <a:avLst/>
            </a:prstGeom>
            <a:noFill/>
            <a:ln/>
          </p:spPr>
          <p:txBody>
            <a:bodyPr wrap="square" lIns="0" tIns="0" rIns="0" bIns="0" rtlCol="0" anchor="ctr"/>
            <a:lstStyle/>
            <a:p>
              <a:pPr marL="0" indent="0">
                <a:buNone/>
              </a:pPr>
              <a:r>
                <a:rPr lang="en-US" sz="1000" b="1" kern="0" spc="100">
                  <a:solidFill>
                    <a:srgbClr val="F2C811"/>
                  </a:solidFill>
                  <a:latin typeface="Segoe UI Semibold" pitchFamily="34" charset="0"/>
                  <a:ea typeface="Segoe UI Semibold" pitchFamily="34" charset="-122"/>
                  <a:cs typeface="Segoe UI Semibold" pitchFamily="34" charset="-120"/>
                </a:rPr>
                <a:t>Why it matters:</a:t>
              </a:r>
              <a:endParaRPr lang="en-US" sz="1000"/>
            </a:p>
          </p:txBody>
        </p:sp>
        <p:sp>
          <p:nvSpPr>
            <p:cNvPr id="14" name="Text 12">
              <a:extLst>
                <a:ext uri="{FF2B5EF4-FFF2-40B4-BE49-F238E27FC236}">
                  <a16:creationId xmlns:a16="http://schemas.microsoft.com/office/drawing/2014/main" id="{2AE463C3-06B1-0AE1-DA41-0DDBBABE28EB}"/>
                </a:ext>
              </a:extLst>
            </p:cNvPr>
            <p:cNvSpPr/>
            <p:nvPr/>
          </p:nvSpPr>
          <p:spPr>
            <a:xfrm>
              <a:off x="777240" y="3977640"/>
              <a:ext cx="3393747" cy="1645920"/>
            </a:xfrm>
            <a:prstGeom prst="rect">
              <a:avLst/>
            </a:prstGeom>
            <a:noFill/>
            <a:ln/>
          </p:spPr>
          <p:txBody>
            <a:bodyPr wrap="square" lIns="0" tIns="0" rIns="0" bIns="0" rtlCol="0" anchor="t"/>
            <a:lstStyle/>
            <a:p>
              <a:pPr>
                <a:lnSpc>
                  <a:spcPct val="112000"/>
                </a:lnSpc>
              </a:pPr>
              <a:r>
                <a:rPr lang="en-US" sz="1100">
                  <a:solidFill>
                    <a:srgbClr val="4B5563"/>
                  </a:solidFill>
                  <a:latin typeface="Segoe UI" pitchFamily="34" charset="0"/>
                  <a:ea typeface="Segoe UI" pitchFamily="34" charset="-122"/>
                  <a:cs typeface="Segoe UI" pitchFamily="34" charset="-120"/>
                </a:rPr>
                <a:t>– Disputes span CCP claims, settlement breaks, novation failures, and counterparty challenges — each with hard filing deadlines</a:t>
              </a:r>
              <a:endParaRPr lang="en-US" sz="1100"/>
            </a:p>
            <a:p>
              <a:pPr>
                <a:spcBef>
                  <a:spcPts val="300"/>
                </a:spcBef>
              </a:pPr>
              <a:r>
                <a:rPr lang="en-US" sz="1100">
                  <a:solidFill>
                    <a:srgbClr val="4B5563"/>
                  </a:solidFill>
                  <a:latin typeface="Segoe UI" pitchFamily="34" charset="0"/>
                  <a:cs typeface="Segoe UI" pitchFamily="34" charset="-120"/>
                </a:rPr>
                <a:t>– Teams scramble across trading, clearing, and settlement systems to reconstruct what happened before the window closes</a:t>
              </a:r>
            </a:p>
            <a:p>
              <a:pPr>
                <a:spcBef>
                  <a:spcPts val="300"/>
                </a:spcBef>
              </a:pPr>
              <a:r>
                <a:rPr lang="en-US" sz="1100">
                  <a:solidFill>
                    <a:srgbClr val="4B5563"/>
                  </a:solidFill>
                  <a:latin typeface="Segoe UI" pitchFamily="34" charset="0"/>
                  <a:ea typeface="Segoe UI" pitchFamily="34" charset="-122"/>
                  <a:cs typeface="Segoe UI" pitchFamily="34" charset="-120"/>
                </a:rPr>
                <a:t>– Late or incomplete filings forfeit claims and create financial and legal exposure</a:t>
              </a:r>
              <a:endParaRPr lang="en-US" sz="1100"/>
            </a:p>
            <a:p>
              <a:pPr>
                <a:spcBef>
                  <a:spcPts val="300"/>
                </a:spcBef>
              </a:pPr>
              <a:r>
                <a:rPr lang="en-US" sz="1100">
                  <a:solidFill>
                    <a:srgbClr val="4B5563"/>
                  </a:solidFill>
                  <a:latin typeface="Segoe UI" pitchFamily="34" charset="0"/>
                  <a:ea typeface="Segoe UI" pitchFamily="34" charset="-122"/>
                  <a:cs typeface="Segoe UI" pitchFamily="34" charset="-120"/>
                </a:rPr>
                <a:t>– AI agents reconstruct the trade lifecycle and assemble a filing-ready dispute package automatically</a:t>
              </a:r>
              <a:endParaRPr lang="en-US" sz="1100"/>
            </a:p>
          </p:txBody>
        </p:sp>
      </p:grpSp>
      <p:grpSp>
        <p:nvGrpSpPr>
          <p:cNvPr id="4" name="Group 3">
            <a:extLst>
              <a:ext uri="{FF2B5EF4-FFF2-40B4-BE49-F238E27FC236}">
                <a16:creationId xmlns:a16="http://schemas.microsoft.com/office/drawing/2014/main" id="{0D46580E-A1FC-07BF-783D-248393935B40}"/>
              </a:ext>
            </a:extLst>
          </p:cNvPr>
          <p:cNvGrpSpPr/>
          <p:nvPr/>
        </p:nvGrpSpPr>
        <p:grpSpPr>
          <a:xfrm>
            <a:off x="6286500" y="2011680"/>
            <a:ext cx="5417820" cy="3840480"/>
            <a:chOff x="4663440" y="2011680"/>
            <a:chExt cx="7040880" cy="3840480"/>
          </a:xfrm>
        </p:grpSpPr>
        <p:sp>
          <p:nvSpPr>
            <p:cNvPr id="15" name="Shape 13">
              <a:extLst>
                <a:ext uri="{FF2B5EF4-FFF2-40B4-BE49-F238E27FC236}">
                  <a16:creationId xmlns:a16="http://schemas.microsoft.com/office/drawing/2014/main" id="{FE9713E8-8062-28CE-04CA-279DAE161F17}"/>
                </a:ext>
              </a:extLst>
            </p:cNvPr>
            <p:cNvSpPr/>
            <p:nvPr/>
          </p:nvSpPr>
          <p:spPr>
            <a:xfrm>
              <a:off x="4663440" y="2011680"/>
              <a:ext cx="7040880" cy="3840480"/>
            </a:xfrm>
            <a:prstGeom prst="rect">
              <a:avLst/>
            </a:prstGeom>
            <a:solidFill>
              <a:srgbClr val="0B2545"/>
            </a:solidFill>
            <a:ln/>
          </p:spPr>
          <p:txBody>
            <a:bodyPr/>
            <a:lstStyle/>
            <a:p>
              <a:endParaRPr lang="en-US"/>
            </a:p>
          </p:txBody>
        </p:sp>
        <p:sp>
          <p:nvSpPr>
            <p:cNvPr id="17" name="Text 15">
              <a:extLst>
                <a:ext uri="{FF2B5EF4-FFF2-40B4-BE49-F238E27FC236}">
                  <a16:creationId xmlns:a16="http://schemas.microsoft.com/office/drawing/2014/main" id="{B923DA3E-48F6-9335-BEAA-38DA5C0CFF40}"/>
                </a:ext>
              </a:extLst>
            </p:cNvPr>
            <p:cNvSpPr/>
            <p:nvPr/>
          </p:nvSpPr>
          <p:spPr>
            <a:xfrm>
              <a:off x="5074920" y="2377440"/>
              <a:ext cx="6217920" cy="274320"/>
            </a:xfrm>
            <a:prstGeom prst="rect">
              <a:avLst/>
            </a:prstGeom>
            <a:noFill/>
            <a:ln/>
          </p:spPr>
          <p:txBody>
            <a:bodyPr wrap="square" lIns="0" tIns="0" rIns="0" bIns="0" rtlCol="0" anchor="ctr"/>
            <a:lstStyle/>
            <a:p>
              <a:pPr marL="0" indent="0">
                <a:buNone/>
              </a:pPr>
              <a:r>
                <a:rPr lang="en-US" sz="1200" b="1" kern="0" spc="200">
                  <a:solidFill>
                    <a:srgbClr val="00BCF2"/>
                  </a:solidFill>
                  <a:latin typeface="Segoe UI Semibold" pitchFamily="34" charset="0"/>
                  <a:ea typeface="Segoe UI Semibold" pitchFamily="34" charset="-122"/>
                  <a:cs typeface="Segoe UI Semibold" pitchFamily="34" charset="-120"/>
                </a:rPr>
                <a:t>THE CHALLENGE</a:t>
              </a:r>
              <a:endParaRPr lang="en-US" sz="1200"/>
            </a:p>
          </p:txBody>
        </p:sp>
        <p:sp>
          <p:nvSpPr>
            <p:cNvPr id="18" name="Text 16">
              <a:extLst>
                <a:ext uri="{FF2B5EF4-FFF2-40B4-BE49-F238E27FC236}">
                  <a16:creationId xmlns:a16="http://schemas.microsoft.com/office/drawing/2014/main" id="{6025358A-CBB1-7991-E986-B3E3767F2211}"/>
                </a:ext>
              </a:extLst>
            </p:cNvPr>
            <p:cNvSpPr/>
            <p:nvPr/>
          </p:nvSpPr>
          <p:spPr>
            <a:xfrm>
              <a:off x="5074920" y="2697480"/>
              <a:ext cx="6217920" cy="457200"/>
            </a:xfrm>
            <a:prstGeom prst="rect">
              <a:avLst/>
            </a:prstGeom>
            <a:noFill/>
            <a:ln/>
          </p:spPr>
          <p:txBody>
            <a:bodyPr wrap="square" lIns="0" tIns="0" rIns="0" bIns="0" rtlCol="0" anchor="ctr"/>
            <a:lstStyle/>
            <a:p>
              <a:pPr marL="0" indent="0">
                <a:buNone/>
              </a:pPr>
              <a:r>
                <a:rPr lang="en-US" sz="2200" b="1">
                  <a:solidFill>
                    <a:srgbClr val="FFFFFF"/>
                  </a:solidFill>
                  <a:latin typeface="Segoe UI Semibold" pitchFamily="34" charset="0"/>
                  <a:ea typeface="Segoe UI Semibold" pitchFamily="34" charset="-122"/>
                  <a:cs typeface="Segoe UI Semibold" pitchFamily="34" charset="-120"/>
                </a:rPr>
                <a:t>Filing-Ready Dispute Evidence Pack</a:t>
              </a:r>
              <a:endParaRPr lang="en-US" sz="2200"/>
            </a:p>
          </p:txBody>
        </p:sp>
        <p:sp>
          <p:nvSpPr>
            <p:cNvPr id="19" name="Shape 17">
              <a:extLst>
                <a:ext uri="{FF2B5EF4-FFF2-40B4-BE49-F238E27FC236}">
                  <a16:creationId xmlns:a16="http://schemas.microsoft.com/office/drawing/2014/main" id="{015DF839-C431-AD78-9AF1-0DA1C3910144}"/>
                </a:ext>
              </a:extLst>
            </p:cNvPr>
            <p:cNvSpPr/>
            <p:nvPr/>
          </p:nvSpPr>
          <p:spPr>
            <a:xfrm>
              <a:off x="5093208" y="3246120"/>
              <a:ext cx="457200" cy="36576"/>
            </a:xfrm>
            <a:prstGeom prst="rect">
              <a:avLst/>
            </a:prstGeom>
            <a:solidFill>
              <a:srgbClr val="00BCF2"/>
            </a:solidFill>
            <a:ln/>
          </p:spPr>
          <p:txBody>
            <a:bodyPr/>
            <a:lstStyle/>
            <a:p>
              <a:endParaRPr lang="en-US"/>
            </a:p>
          </p:txBody>
        </p:sp>
        <p:sp>
          <p:nvSpPr>
            <p:cNvPr id="20" name="Text 18">
              <a:extLst>
                <a:ext uri="{FF2B5EF4-FFF2-40B4-BE49-F238E27FC236}">
                  <a16:creationId xmlns:a16="http://schemas.microsoft.com/office/drawing/2014/main" id="{68B1EAA5-F862-2BD9-884F-F19752F79DEA}"/>
                </a:ext>
              </a:extLst>
            </p:cNvPr>
            <p:cNvSpPr/>
            <p:nvPr/>
          </p:nvSpPr>
          <p:spPr>
            <a:xfrm>
              <a:off x="5074920" y="3474720"/>
              <a:ext cx="6217920" cy="274320"/>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What to build:</a:t>
              </a:r>
              <a:endParaRPr lang="en-US" sz="1100"/>
            </a:p>
          </p:txBody>
        </p:sp>
        <p:sp>
          <p:nvSpPr>
            <p:cNvPr id="21" name="Text 19">
              <a:extLst>
                <a:ext uri="{FF2B5EF4-FFF2-40B4-BE49-F238E27FC236}">
                  <a16:creationId xmlns:a16="http://schemas.microsoft.com/office/drawing/2014/main" id="{D340FCE3-2BE6-3134-2634-23181702AF6E}"/>
                </a:ext>
              </a:extLst>
            </p:cNvPr>
            <p:cNvSpPr/>
            <p:nvPr/>
          </p:nvSpPr>
          <p:spPr>
            <a:xfrm>
              <a:off x="5074920" y="3840480"/>
              <a:ext cx="6217920" cy="1737360"/>
            </a:xfrm>
            <a:prstGeom prst="rect">
              <a:avLst/>
            </a:prstGeom>
            <a:noFill/>
            <a:ln/>
          </p:spPr>
          <p:txBody>
            <a:bodyPr wrap="square" lIns="0" tIns="0" rIns="0" bIns="0" rtlCol="0" anchor="t"/>
            <a:lstStyle/>
            <a:p>
              <a:pPr marL="320040" indent="-320040">
                <a:tabLst>
                  <a:tab pos="320040" algn="l"/>
                </a:tabLst>
              </a:pPr>
              <a:r>
                <a:rPr lang="en-US" sz="1200" b="1">
                  <a:solidFill>
                    <a:srgbClr val="00BCF2"/>
                  </a:solidFill>
                  <a:latin typeface="Segoe UI Semibold" pitchFamily="34" charset="0"/>
                  <a:cs typeface="Segoe UI Semibold" pitchFamily="34" charset="-120"/>
                </a:rPr>
                <a:t>1</a:t>
              </a:r>
              <a:r>
                <a:rPr lang="en-US" sz="1200">
                  <a:solidFill>
                    <a:srgbClr val="FFFFFF"/>
                  </a:solidFill>
                  <a:latin typeface="Segoe UI" pitchFamily="34" charset="0"/>
                  <a:cs typeface="Segoe UI" pitchFamily="34" charset="-120"/>
                </a:rPr>
                <a:t>	Intake agent classifies the claim and governing rule set</a:t>
              </a:r>
              <a:endParaRPr lang="en-US" sz="1200"/>
            </a:p>
            <a:p>
              <a:pPr marL="320040" indent="-320040">
                <a:spcBef>
                  <a:spcPts val="1000"/>
                </a:spcBef>
                <a:tabLst>
                  <a:tab pos="320040" algn="l"/>
                </a:tabLst>
              </a:pPr>
              <a:r>
                <a:rPr lang="en-US" sz="1200" b="1">
                  <a:solidFill>
                    <a:srgbClr val="00BCF2"/>
                  </a:solidFill>
                  <a:latin typeface="Segoe UI Semibold" pitchFamily="34" charset="0"/>
                  <a:cs typeface="Segoe UI Semibold" pitchFamily="34" charset="-120"/>
                </a:rPr>
                <a:t>2</a:t>
              </a:r>
              <a:r>
                <a:rPr lang="en-US" sz="1200">
                  <a:solidFill>
                    <a:srgbClr val="FFFFFF"/>
                  </a:solidFill>
                  <a:latin typeface="Segoe UI" pitchFamily="34" charset="0"/>
                  <a:cs typeface="Segoe UI" pitchFamily="34" charset="-120"/>
                </a:rPr>
                <a:t>	Evidence agent reconstructs the full trade lifecycle</a:t>
              </a:r>
              <a:endParaRPr lang="en-US" sz="1200"/>
            </a:p>
            <a:p>
              <a:pPr marL="320040" indent="-320040">
                <a:spcBef>
                  <a:spcPts val="1000"/>
                </a:spcBef>
                <a:tabLst>
                  <a:tab pos="320040" algn="l"/>
                </a:tabLst>
              </a:pPr>
              <a:r>
                <a:rPr lang="en-US" sz="1200" b="1">
                  <a:solidFill>
                    <a:srgbClr val="00BCF2"/>
                  </a:solidFill>
                  <a:latin typeface="Segoe UI Semibold" pitchFamily="34" charset="0"/>
                  <a:cs typeface="Segoe UI Semibold" pitchFamily="34" charset="-120"/>
                </a:rPr>
                <a:t>3</a:t>
              </a:r>
              <a:r>
                <a:rPr lang="en-US" sz="1200">
                  <a:solidFill>
                    <a:srgbClr val="FFFFFF"/>
                  </a:solidFill>
                  <a:latin typeface="Segoe UI" pitchFamily="34" charset="0"/>
                  <a:cs typeface="Segoe UI" pitchFamily="34" charset="-120"/>
                </a:rPr>
                <a:t>	Rules engine checks CCP eligibility and the filing window</a:t>
              </a:r>
              <a:endParaRPr lang="en-US" sz="1200"/>
            </a:p>
            <a:p>
              <a:pPr marL="320040" indent="-320040">
                <a:spcBef>
                  <a:spcPts val="1000"/>
                </a:spcBef>
                <a:tabLst>
                  <a:tab pos="320040" algn="l"/>
                </a:tabLst>
              </a:pPr>
              <a:r>
                <a:rPr lang="en-US" sz="1200" b="1">
                  <a:solidFill>
                    <a:srgbClr val="00BCF2"/>
                  </a:solidFill>
                  <a:latin typeface="Segoe UI Semibold" pitchFamily="34" charset="0"/>
                  <a:cs typeface="Segoe UI Semibold" pitchFamily="34" charset="-120"/>
                </a:rPr>
                <a:t>4</a:t>
              </a:r>
              <a:r>
                <a:rPr lang="en-US" sz="1200">
                  <a:solidFill>
                    <a:srgbClr val="FFFFFF"/>
                  </a:solidFill>
                  <a:latin typeface="Segoe UI" pitchFamily="34" charset="0"/>
                  <a:cs typeface="Segoe UI" pitchFamily="34" charset="-120"/>
                </a:rPr>
                <a:t>	Copilot drafts the dispute package for specialist review</a:t>
              </a:r>
              <a:endParaRPr lang="en-US" sz="1200"/>
            </a:p>
            <a:p>
              <a:pPr marL="320040" indent="-320040">
                <a:spcBef>
                  <a:spcPts val="1000"/>
                </a:spcBef>
                <a:tabLst>
                  <a:tab pos="320040" algn="l"/>
                </a:tabLst>
              </a:pPr>
              <a:r>
                <a:rPr lang="en-US" sz="1200" b="1">
                  <a:solidFill>
                    <a:srgbClr val="00BCF2"/>
                  </a:solidFill>
                  <a:latin typeface="Segoe UI Semibold" pitchFamily="34" charset="0"/>
                  <a:cs typeface="Segoe UI Semibold" pitchFamily="34" charset="-120"/>
                </a:rPr>
                <a:t>5</a:t>
              </a:r>
              <a:r>
                <a:rPr lang="en-US" sz="1200">
                  <a:solidFill>
                    <a:srgbClr val="FFFFFF"/>
                  </a:solidFill>
                  <a:latin typeface="Segoe UI" pitchFamily="34" charset="0"/>
                  <a:cs typeface="Segoe UI" pitchFamily="34" charset="-120"/>
                </a:rPr>
                <a:t>	Outcomes feed recovery, reporting, and learning</a:t>
              </a:r>
              <a:endParaRPr lang="en-US" sz="1200"/>
            </a:p>
          </p:txBody>
        </p:sp>
      </p:grpSp>
      <p:sp>
        <p:nvSpPr>
          <p:cNvPr id="30" name="Whom to target"/>
          <p:cNvSpPr/>
          <p:nvPr/>
        </p:nvSpPr>
        <p:spPr>
          <a:xfrm>
            <a:off x="6603126" y="5330000"/>
            <a:ext cx="4784000" cy="430000"/>
          </a:xfrm>
          <a:prstGeom prst="rect">
            <a:avLst/>
          </a:prstGeom>
          <a:noFill/>
          <a:ln/>
        </p:spPr>
        <p:txBody>
          <a:bodyPr wrap="square" lIns="0" tIns="0" rIns="0" bIns="0" rtlCol="0" anchor="b"/>
          <a:lstStyle/>
          <a:p>
            <a:pPr marL="0" indent="0">
              <a:buNone/>
            </a:pPr>
            <a:r>
              <a:rPr lang="en-US" sz="900" b="1" kern="0" spc="100">
                <a:solidFill>
                  <a:srgbClr val="F2C811"/>
                </a:solidFill>
                <a:latin typeface="Segoe UI Semibold" pitchFamily="34" charset="0"/>
                <a:cs typeface="Segoe UI Semibold" pitchFamily="34" charset="-120"/>
              </a:rPr>
              <a:t>WHOM TO TARGET</a:t>
            </a:r>
          </a:p>
          <a:p>
            <a:pPr marL="0" indent="0">
              <a:spcBef>
                <a:spcPts val="200"/>
              </a:spcBef>
              <a:buNone/>
            </a:pPr>
            <a:r>
              <a:rPr lang="en-US" sz="1000">
                <a:solidFill>
                  <a:srgbClr val="C5D0DE"/>
                </a:solidFill>
                <a:latin typeface="Segoe UI" pitchFamily="34" charset="0"/>
                <a:cs typeface="Segoe UI" pitchFamily="34" charset="-120"/>
              </a:rPr>
              <a:t>Trade Control · Post-Trade Ops · Market Infrastructure Ops · Legal · Claims</a:t>
            </a:r>
          </a:p>
        </p:txBody>
      </p:sp>
      <p:sp>
        <p:nvSpPr>
          <p:cNvPr id="22" name="Text 20">
            <a:extLst>
              <a:ext uri="{FF2B5EF4-FFF2-40B4-BE49-F238E27FC236}">
                <a16:creationId xmlns:a16="http://schemas.microsoft.com/office/drawing/2014/main" id="{233E3789-2864-A3B4-44A6-8E4EF02313FC}"/>
              </a:ext>
            </a:extLst>
          </p:cNvPr>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a:extLst>
              <a:ext uri="{FF2B5EF4-FFF2-40B4-BE49-F238E27FC236}">
                <a16:creationId xmlns:a16="http://schemas.microsoft.com/office/drawing/2014/main" id="{D309AE01-EF92-8255-4F73-42956C862B44}"/>
              </a:ext>
            </a:extLst>
          </p:cNvPr>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12</a:t>
            </a:r>
            <a:endParaRPr lang="en-US" sz="900"/>
          </a:p>
        </p:txBody>
      </p:sp>
    </p:spTree>
    <p:extLst>
      <p:ext uri="{BB962C8B-B14F-4D97-AF65-F5344CB8AC3E}">
        <p14:creationId xmlns:p14="http://schemas.microsoft.com/office/powerpoint/2010/main" val="4175748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Data Providers</a:t>
            </a:r>
            <a:endParaRPr lang="en-US" sz="2800"/>
          </a:p>
        </p:txBody>
      </p:sp>
      <p:sp>
        <p:nvSpPr>
          <p:cNvPr id="5" name="Text 3"/>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Secondary</a:t>
            </a:r>
            <a:endParaRPr lang="en-US" sz="1100"/>
          </a:p>
        </p:txBody>
      </p:sp>
      <p:sp>
        <p:nvSpPr>
          <p:cNvPr id="6" name="Text 4"/>
          <p:cNvSpPr/>
          <p:nvPr/>
        </p:nvSpPr>
        <p:spPr>
          <a:xfrm>
            <a:off x="455023" y="1371600"/>
            <a:ext cx="9875520" cy="310896"/>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Market data, index &amp; analytics</a:t>
            </a:r>
            <a:endParaRPr lang="en-US" sz="1400"/>
          </a:p>
        </p:txBody>
      </p:sp>
      <p:grpSp>
        <p:nvGrpSpPr>
          <p:cNvPr id="16" name="Group 15">
            <a:extLst>
              <a:ext uri="{FF2B5EF4-FFF2-40B4-BE49-F238E27FC236}">
                <a16:creationId xmlns:a16="http://schemas.microsoft.com/office/drawing/2014/main" id="{AC84755B-E2BF-86EE-C5F9-956634AB4C0C}"/>
              </a:ext>
            </a:extLst>
          </p:cNvPr>
          <p:cNvGrpSpPr/>
          <p:nvPr/>
        </p:nvGrpSpPr>
        <p:grpSpPr>
          <a:xfrm>
            <a:off x="457200" y="2011680"/>
            <a:ext cx="5638800" cy="3840480"/>
            <a:chOff x="457200" y="2011680"/>
            <a:chExt cx="3840480" cy="3840480"/>
          </a:xfrm>
        </p:grpSpPr>
        <p:sp>
          <p:nvSpPr>
            <p:cNvPr id="7" name="Shape 5"/>
            <p:cNvSpPr/>
            <p:nvPr/>
          </p:nvSpPr>
          <p:spPr>
            <a:xfrm>
              <a:off x="457200" y="2011680"/>
              <a:ext cx="3840480" cy="3840480"/>
            </a:xfrm>
            <a:prstGeom prst="rect">
              <a:avLst/>
            </a:prstGeom>
            <a:solidFill>
              <a:srgbClr val="FFFFFF"/>
            </a:solidFill>
            <a:ln w="9525">
              <a:solidFill>
                <a:srgbClr val="D1D5DB"/>
              </a:solidFill>
              <a:prstDash val="solid"/>
            </a:ln>
          </p:spPr>
          <p:txBody>
            <a:bodyPr/>
            <a:lstStyle/>
            <a:p>
              <a:endParaRPr lang="en-US"/>
            </a:p>
          </p:txBody>
        </p:sp>
        <p:sp>
          <p:nvSpPr>
            <p:cNvPr id="8" name="Shape 6"/>
            <p:cNvSpPr/>
            <p:nvPr/>
          </p:nvSpPr>
          <p:spPr>
            <a:xfrm>
              <a:off x="457200" y="2011680"/>
              <a:ext cx="3840480" cy="109728"/>
            </a:xfrm>
            <a:prstGeom prst="rect">
              <a:avLst/>
            </a:prstGeom>
            <a:solidFill>
              <a:srgbClr val="0078D4"/>
            </a:solidFill>
            <a:ln/>
          </p:spPr>
          <p:txBody>
            <a:bodyPr/>
            <a:lstStyle/>
            <a:p>
              <a:endParaRPr lang="en-US"/>
            </a:p>
          </p:txBody>
        </p:sp>
        <p:sp>
          <p:nvSpPr>
            <p:cNvPr id="9" name="Text 7"/>
            <p:cNvSpPr/>
            <p:nvPr/>
          </p:nvSpPr>
          <p:spPr>
            <a:xfrm>
              <a:off x="777240" y="2331720"/>
              <a:ext cx="3200400" cy="274320"/>
            </a:xfrm>
            <a:prstGeom prst="rect">
              <a:avLst/>
            </a:prstGeom>
            <a:noFill/>
            <a:ln/>
          </p:spPr>
          <p:txBody>
            <a:bodyPr wrap="square" lIns="0" tIns="0" rIns="0" bIns="0" rtlCol="0" anchor="ctr"/>
            <a:lstStyle/>
            <a:p>
              <a:r>
                <a:rPr lang="en-US" sz="1100" b="1" kern="0" spc="200">
                  <a:solidFill>
                    <a:srgbClr val="0078D4"/>
                  </a:solidFill>
                  <a:latin typeface="Segoe UI Semibold"/>
                  <a:cs typeface="Segoe UI Semibold"/>
                </a:rPr>
                <a:t>Industry Advisor</a:t>
              </a:r>
              <a:endParaRPr lang="en-US" sz="1100" kern="0" spc="200">
                <a:solidFill>
                  <a:srgbClr val="000000"/>
                </a:solidFill>
                <a:latin typeface="Segoe UI Semibold"/>
                <a:cs typeface="Segoe UI Semibold"/>
              </a:endParaRPr>
            </a:p>
          </p:txBody>
        </p:sp>
        <p:sp>
          <p:nvSpPr>
            <p:cNvPr id="10" name="Text 8"/>
            <p:cNvSpPr/>
            <p:nvPr/>
          </p:nvSpPr>
          <p:spPr>
            <a:xfrm>
              <a:off x="777240" y="2606040"/>
              <a:ext cx="3200400" cy="411480"/>
            </a:xfrm>
            <a:prstGeom prst="rect">
              <a:avLst/>
            </a:prstGeom>
            <a:noFill/>
            <a:ln/>
          </p:spPr>
          <p:txBody>
            <a:bodyPr wrap="square" lIns="0" tIns="0" rIns="0" bIns="0" rtlCol="0" anchor="ctr"/>
            <a:lstStyle/>
            <a:p>
              <a:pPr marL="0" indent="0">
                <a:buNone/>
              </a:pPr>
              <a:r>
                <a:rPr lang="en-US" sz="1600" i="1">
                  <a:solidFill>
                    <a:srgbClr val="6B7280"/>
                  </a:solidFill>
                  <a:latin typeface="Segoe UI Semibold" pitchFamily="34" charset="0"/>
                  <a:ea typeface="Segoe UI Semibold" pitchFamily="34" charset="-122"/>
                  <a:cs typeface="Segoe UI Semibold" pitchFamily="34" charset="-120"/>
                </a:rPr>
                <a:t>Haris</a:t>
              </a:r>
              <a:endParaRPr lang="en-US" sz="1600"/>
            </a:p>
          </p:txBody>
        </p:sp>
        <p:sp>
          <p:nvSpPr>
            <p:cNvPr id="11" name="Shape 9"/>
            <p:cNvSpPr/>
            <p:nvPr/>
          </p:nvSpPr>
          <p:spPr>
            <a:xfrm>
              <a:off x="777240" y="3154680"/>
              <a:ext cx="3200400" cy="18288"/>
            </a:xfrm>
            <a:prstGeom prst="rect">
              <a:avLst/>
            </a:prstGeom>
            <a:solidFill>
              <a:srgbClr val="D1D5DB"/>
            </a:solidFill>
            <a:ln/>
          </p:spPr>
          <p:txBody>
            <a:bodyPr/>
            <a:lstStyle/>
            <a:p>
              <a:endParaRPr lang="en-US"/>
            </a:p>
          </p:txBody>
        </p:sp>
        <p:sp>
          <p:nvSpPr>
            <p:cNvPr id="12" name="Text 10"/>
            <p:cNvSpPr/>
            <p:nvPr/>
          </p:nvSpPr>
          <p:spPr>
            <a:xfrm>
              <a:off x="777240" y="3337560"/>
              <a:ext cx="3200400" cy="274320"/>
            </a:xfrm>
            <a:prstGeom prst="rect">
              <a:avLst/>
            </a:prstGeom>
            <a:noFill/>
            <a:ln/>
          </p:spPr>
          <p:txBody>
            <a:bodyPr wrap="square" lIns="0" tIns="0" rIns="0" bIns="0" rtlCol="0" anchor="ctr"/>
            <a:lstStyle/>
            <a:p>
              <a:pPr marL="0" indent="0">
                <a:buNone/>
              </a:pPr>
              <a:r>
                <a:rPr lang="en-US" sz="1100" b="1" kern="0" spc="200">
                  <a:solidFill>
                    <a:srgbClr val="0078D4"/>
                  </a:solidFill>
                  <a:latin typeface="Segoe UI Semibold"/>
                  <a:ea typeface="Segoe UI Semibold" pitchFamily="34" charset="-122"/>
                  <a:cs typeface="Segoe UI Semibold"/>
                </a:rPr>
                <a:t>BUSINESS CONTEXT</a:t>
              </a:r>
              <a:endParaRPr lang="en-US" sz="1100">
                <a:solidFill>
                  <a:srgbClr val="0078D4"/>
                </a:solidFill>
                <a:latin typeface="Segoe UI Semibold"/>
                <a:ea typeface="Calibri"/>
                <a:cs typeface="Segoe UI Semibold"/>
              </a:endParaRPr>
            </a:p>
          </p:txBody>
        </p:sp>
        <p:sp>
          <p:nvSpPr>
            <p:cNvPr id="13" name="Text 11"/>
            <p:cNvSpPr/>
            <p:nvPr/>
          </p:nvSpPr>
          <p:spPr>
            <a:xfrm>
              <a:off x="777240" y="3639312"/>
              <a:ext cx="3200400" cy="274320"/>
            </a:xfrm>
            <a:prstGeom prst="rect">
              <a:avLst/>
            </a:prstGeom>
            <a:noFill/>
            <a:ln/>
          </p:spPr>
          <p:txBody>
            <a:bodyPr wrap="square" lIns="0" tIns="0" rIns="0" bIns="0" rtlCol="0" anchor="ctr"/>
            <a:lstStyle/>
            <a:p>
              <a:pPr marL="0" indent="0">
                <a:buNone/>
              </a:pPr>
              <a:r>
                <a:rPr lang="en-US" sz="1000" b="1" kern="0" spc="100">
                  <a:solidFill>
                    <a:srgbClr val="F2C811"/>
                  </a:solidFill>
                  <a:latin typeface="Segoe UI Semibold" pitchFamily="34" charset="0"/>
                  <a:ea typeface="Segoe UI Semibold" pitchFamily="34" charset="-122"/>
                  <a:cs typeface="Segoe UI Semibold" pitchFamily="34" charset="-120"/>
                </a:rPr>
                <a:t>Why it matters:</a:t>
              </a:r>
              <a:endParaRPr lang="en-US" sz="1000"/>
            </a:p>
          </p:txBody>
        </p:sp>
        <p:sp>
          <p:nvSpPr>
            <p:cNvPr id="14" name="Text 12"/>
            <p:cNvSpPr/>
            <p:nvPr/>
          </p:nvSpPr>
          <p:spPr>
            <a:xfrm>
              <a:off x="777240" y="3977640"/>
              <a:ext cx="3200400" cy="1645920"/>
            </a:xfrm>
            <a:prstGeom prst="rect">
              <a:avLst/>
            </a:prstGeom>
            <a:noFill/>
            <a:ln/>
          </p:spPr>
          <p:txBody>
            <a:bodyPr wrap="square" lIns="0" tIns="0" rIns="0" bIns="0" rtlCol="0" anchor="t"/>
            <a:lstStyle/>
            <a:p>
              <a:pPr marL="0" indent="0">
                <a:buNone/>
              </a:pPr>
              <a:r>
                <a:rPr lang="en-US" sz="1100">
                  <a:solidFill>
                    <a:srgbClr val="4B5563"/>
                  </a:solidFill>
                  <a:latin typeface="Segoe UI" pitchFamily="34" charset="0"/>
                  <a:ea typeface="Segoe UI" pitchFamily="34" charset="-122"/>
                  <a:cs typeface="Segoe UI" pitchFamily="34" charset="-120"/>
                </a:rPr>
                <a:t>– A thorough audit of a complex DCF model takes a senior analyst 2–3 days and still misses subtle formula errors or circular references</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Data providers face growing LP and regulator scrutiny over valuation methodology consistency — drift from established frameworks creates material misstatement risk</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Market data changes rapidly; assumptions valid at origination may be stale by the time the memo circulates for approval</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Agentic AI compresses a multi-day manual review into hours: read memo → audit formulas → re-run comparables → cross-check market data → stress-test drivers → flag methodology drift → generate reviewer memo</a:t>
              </a:r>
              <a:endParaRPr lang="en-US" sz="1100"/>
            </a:p>
          </p:txBody>
        </p:sp>
      </p:grpSp>
      <p:grpSp>
        <p:nvGrpSpPr>
          <p:cNvPr id="4" name="Group 3">
            <a:extLst>
              <a:ext uri="{FF2B5EF4-FFF2-40B4-BE49-F238E27FC236}">
                <a16:creationId xmlns:a16="http://schemas.microsoft.com/office/drawing/2014/main" id="{C12EA50F-D832-9B00-17A9-B8D03CED27DE}"/>
              </a:ext>
            </a:extLst>
          </p:cNvPr>
          <p:cNvGrpSpPr/>
          <p:nvPr/>
        </p:nvGrpSpPr>
        <p:grpSpPr>
          <a:xfrm>
            <a:off x="6286500" y="2011680"/>
            <a:ext cx="5417820" cy="3840480"/>
            <a:chOff x="4663440" y="2011680"/>
            <a:chExt cx="7040880" cy="3840480"/>
          </a:xfrm>
        </p:grpSpPr>
        <p:sp>
          <p:nvSpPr>
            <p:cNvPr id="15" name="Shape 13"/>
            <p:cNvSpPr/>
            <p:nvPr/>
          </p:nvSpPr>
          <p:spPr>
            <a:xfrm>
              <a:off x="4663440" y="2011680"/>
              <a:ext cx="7040880" cy="3840480"/>
            </a:xfrm>
            <a:prstGeom prst="rect">
              <a:avLst/>
            </a:prstGeom>
            <a:solidFill>
              <a:srgbClr val="0B2545"/>
            </a:solidFill>
            <a:ln/>
          </p:spPr>
          <p:txBody>
            <a:bodyPr/>
            <a:lstStyle/>
            <a:p>
              <a:endParaRPr lang="en-US"/>
            </a:p>
          </p:txBody>
        </p:sp>
        <p:sp>
          <p:nvSpPr>
            <p:cNvPr id="17" name="Text 15"/>
            <p:cNvSpPr/>
            <p:nvPr/>
          </p:nvSpPr>
          <p:spPr>
            <a:xfrm>
              <a:off x="5074920" y="2377440"/>
              <a:ext cx="6217920" cy="274320"/>
            </a:xfrm>
            <a:prstGeom prst="rect">
              <a:avLst/>
            </a:prstGeom>
            <a:noFill/>
            <a:ln/>
          </p:spPr>
          <p:txBody>
            <a:bodyPr wrap="square" lIns="0" tIns="0" rIns="0" bIns="0" rtlCol="0" anchor="ctr"/>
            <a:lstStyle/>
            <a:p>
              <a:pPr marL="0" indent="0">
                <a:buNone/>
              </a:pPr>
              <a:r>
                <a:rPr lang="en-US" sz="1200" b="1" kern="0" spc="200">
                  <a:solidFill>
                    <a:srgbClr val="00BCF2"/>
                  </a:solidFill>
                  <a:latin typeface="Segoe UI Semibold" pitchFamily="34" charset="0"/>
                  <a:ea typeface="Segoe UI Semibold" pitchFamily="34" charset="-122"/>
                  <a:cs typeface="Segoe UI Semibold" pitchFamily="34" charset="-120"/>
                </a:rPr>
                <a:t>THE CHALLENGE</a:t>
              </a:r>
              <a:endParaRPr lang="en-US" sz="1200"/>
            </a:p>
          </p:txBody>
        </p:sp>
        <p:sp>
          <p:nvSpPr>
            <p:cNvPr id="18" name="Text 16"/>
            <p:cNvSpPr/>
            <p:nvPr/>
          </p:nvSpPr>
          <p:spPr>
            <a:xfrm>
              <a:off x="5074920" y="2697480"/>
              <a:ext cx="6217920" cy="457200"/>
            </a:xfrm>
            <a:prstGeom prst="rect">
              <a:avLst/>
            </a:prstGeom>
            <a:noFill/>
            <a:ln/>
          </p:spPr>
          <p:txBody>
            <a:bodyPr wrap="square" lIns="0" tIns="0" rIns="0" bIns="0" rtlCol="0" anchor="ctr"/>
            <a:lstStyle/>
            <a:p>
              <a:pPr marL="0" indent="0">
                <a:buNone/>
              </a:pPr>
              <a:r>
                <a:rPr lang="en-US" sz="2200" b="1">
                  <a:solidFill>
                    <a:srgbClr val="FFFFFF"/>
                  </a:solidFill>
                  <a:latin typeface="Segoe UI Semibold" pitchFamily="34" charset="0"/>
                  <a:ea typeface="Segoe UI Semibold" pitchFamily="34" charset="-122"/>
                  <a:cs typeface="Segoe UI Semibold" pitchFamily="34" charset="-120"/>
                </a:rPr>
                <a:t>Valuation Reviewer</a:t>
              </a:r>
              <a:endParaRPr lang="en-US" sz="2200"/>
            </a:p>
          </p:txBody>
        </p:sp>
        <p:sp>
          <p:nvSpPr>
            <p:cNvPr id="19" name="Shape 17"/>
            <p:cNvSpPr/>
            <p:nvPr/>
          </p:nvSpPr>
          <p:spPr>
            <a:xfrm>
              <a:off x="5093208" y="3246120"/>
              <a:ext cx="457200" cy="36576"/>
            </a:xfrm>
            <a:prstGeom prst="rect">
              <a:avLst/>
            </a:prstGeom>
            <a:solidFill>
              <a:srgbClr val="00BCF2"/>
            </a:solidFill>
            <a:ln/>
          </p:spPr>
          <p:txBody>
            <a:bodyPr/>
            <a:lstStyle/>
            <a:p>
              <a:endParaRPr lang="en-US"/>
            </a:p>
          </p:txBody>
        </p:sp>
        <p:sp>
          <p:nvSpPr>
            <p:cNvPr id="20" name="Text 18"/>
            <p:cNvSpPr/>
            <p:nvPr/>
          </p:nvSpPr>
          <p:spPr>
            <a:xfrm>
              <a:off x="5074920" y="3474720"/>
              <a:ext cx="6217920" cy="274320"/>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What to build:</a:t>
              </a:r>
              <a:endParaRPr lang="en-US" sz="1100"/>
            </a:p>
          </p:txBody>
        </p:sp>
        <p:sp>
          <p:nvSpPr>
            <p:cNvPr id="21" name="Text 19"/>
            <p:cNvSpPr/>
            <p:nvPr/>
          </p:nvSpPr>
          <p:spPr>
            <a:xfrm>
              <a:off x="5074920" y="3840480"/>
              <a:ext cx="6217920" cy="1737360"/>
            </a:xfrm>
            <a:prstGeom prst="rect">
              <a:avLst/>
            </a:prstGeom>
            <a:noFill/>
            <a:ln/>
          </p:spPr>
          <p:txBody>
            <a:bodyPr wrap="square" lIns="0" tIns="0" rIns="0" bIns="0" rtlCol="0" anchor="t"/>
            <a:lstStyle/>
            <a:p>
              <a:pPr marL="0" indent="0">
                <a:lnSpc>
                  <a:spcPct val="115000"/>
                </a:lnSpc>
                <a:buNone/>
              </a:pPr>
              <a:r>
                <a:rPr lang="en-US" sz="1200">
                  <a:solidFill>
                    <a:srgbClr val="FFFFFF"/>
                  </a:solidFill>
                  <a:latin typeface="Segoe UI" pitchFamily="34" charset="0"/>
                  <a:ea typeface="Segoe UI" pitchFamily="34" charset="-122"/>
                  <a:cs typeface="Segoe UI" pitchFamily="34" charset="-120"/>
                </a:rPr>
                <a:t>– Valuation review is high-stakes and time-consuming: auditing DCF models, validating comparable company selections, and stress-testing assumptions</a:t>
              </a:r>
              <a:endParaRPr lang="en-US" sz="1200"/>
            </a:p>
            <a:p>
              <a:pPr marL="0" indent="0">
                <a:spcBef>
                  <a:spcPts val="300"/>
                </a:spcBef>
                <a:buNone/>
              </a:pPr>
              <a:r>
                <a:rPr lang="en-US" sz="1200">
                  <a:solidFill>
                    <a:srgbClr val="FFFFFF"/>
                  </a:solidFill>
                  <a:latin typeface="Segoe UI" pitchFamily="34" charset="0"/>
                  <a:ea typeface="Segoe UI" pitchFamily="34" charset="-122"/>
                  <a:cs typeface="Segoe UI" pitchFamily="34" charset="-120"/>
                </a:rPr>
                <a:t>– Build a multi-agent reviewer that audits formulas and links, re-runs comparable selection, cross-checks market assumptions, stress-tests key drivers, and produces a structured findings memo — before the document reaches the committee</a:t>
              </a:r>
              <a:endParaRPr lang="en-US" sz="1200"/>
            </a:p>
          </p:txBody>
        </p:sp>
      </p:grpSp>
      <p:sp>
        <p:nvSpPr>
          <p:cNvPr id="22" name="Text 20"/>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14</a:t>
            </a:r>
            <a:endParaRPr lang="en-US" sz="900"/>
          </a:p>
        </p:txBody>
      </p:sp>
    </p:spTree>
    <p:extLst>
      <p:ext uri="{BB962C8B-B14F-4D97-AF65-F5344CB8AC3E}">
        <p14:creationId xmlns:p14="http://schemas.microsoft.com/office/powerpoint/2010/main" val="4000474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a:t>
            </a:r>
            <a:endParaRPr lang="en-US" sz="1200"/>
          </a:p>
        </p:txBody>
      </p:sp>
      <p:sp>
        <p:nvSpPr>
          <p:cNvPr id="3" name="Text 1"/>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Private Markets</a:t>
            </a:r>
            <a:endParaRPr lang="en-US" sz="2800"/>
          </a:p>
        </p:txBody>
      </p:sp>
      <p:sp>
        <p:nvSpPr>
          <p:cNvPr id="5" name="Text 3"/>
          <p:cNvSpPr/>
          <p:nvPr/>
        </p:nvSpPr>
        <p:spPr>
          <a:xfrm>
            <a:off x="457200" y="1371600"/>
            <a:ext cx="1188720" cy="310896"/>
          </a:xfrm>
          <a:prstGeom prst="rect">
            <a:avLst/>
          </a:prstGeom>
          <a:noFill/>
          <a:ln/>
        </p:spPr>
        <p:txBody>
          <a:bodyPr wrap="square" lIns="0" tIns="0" rIns="0" bIns="0" rtlCol="0" anchor="ctr"/>
          <a:lstStyle/>
          <a:p>
            <a:pPr marL="0" indent="0" algn="ctr">
              <a:buNone/>
            </a:pPr>
            <a:r>
              <a:rPr lang="en-US" sz="1100" b="1">
                <a:solidFill>
                  <a:srgbClr val="FFFFFF"/>
                </a:solidFill>
                <a:latin typeface="Segoe UI Semibold" pitchFamily="34" charset="0"/>
                <a:ea typeface="Segoe UI Semibold" pitchFamily="34" charset="-122"/>
                <a:cs typeface="Segoe UI Semibold" pitchFamily="34" charset="-120"/>
              </a:rPr>
              <a:t>Secondary</a:t>
            </a:r>
            <a:endParaRPr lang="en-US" sz="1100"/>
          </a:p>
        </p:txBody>
      </p:sp>
      <p:sp>
        <p:nvSpPr>
          <p:cNvPr id="6" name="Text 4"/>
          <p:cNvSpPr/>
          <p:nvPr/>
        </p:nvSpPr>
        <p:spPr>
          <a:xfrm>
            <a:off x="455023" y="1371600"/>
            <a:ext cx="9875520" cy="310896"/>
          </a:xfrm>
          <a:prstGeom prst="rect">
            <a:avLst/>
          </a:prstGeom>
          <a:noFill/>
          <a:ln/>
        </p:spPr>
        <p:txBody>
          <a:bodyPr wrap="square" lIns="0" tIns="0" rIns="0" bIns="0" rtlCol="0" anchor="ctr"/>
          <a:lstStyle/>
          <a:p>
            <a:pPr marL="0" indent="0">
              <a:buNone/>
            </a:pPr>
            <a:r>
              <a:rPr lang="en-US" sz="1400" i="1">
                <a:solidFill>
                  <a:srgbClr val="4B5563"/>
                </a:solidFill>
                <a:latin typeface="Segoe UI" pitchFamily="34" charset="0"/>
                <a:ea typeface="Segoe UI" pitchFamily="34" charset="-122"/>
                <a:cs typeface="Segoe UI" pitchFamily="34" charset="-120"/>
              </a:rPr>
              <a:t>Funds, GPs/LPs, Private market teams at Investment Banks, fund admin &amp; ops</a:t>
            </a:r>
            <a:endParaRPr lang="en-US" sz="1400"/>
          </a:p>
        </p:txBody>
      </p:sp>
      <p:grpSp>
        <p:nvGrpSpPr>
          <p:cNvPr id="16" name="Group 15">
            <a:extLst>
              <a:ext uri="{FF2B5EF4-FFF2-40B4-BE49-F238E27FC236}">
                <a16:creationId xmlns:a16="http://schemas.microsoft.com/office/drawing/2014/main" id="{C40EF671-E3DE-629E-C072-22BE42370FA1}"/>
              </a:ext>
            </a:extLst>
          </p:cNvPr>
          <p:cNvGrpSpPr/>
          <p:nvPr/>
        </p:nvGrpSpPr>
        <p:grpSpPr>
          <a:xfrm>
            <a:off x="457200" y="2011679"/>
            <a:ext cx="5638532" cy="3840481"/>
            <a:chOff x="457200" y="2011680"/>
            <a:chExt cx="3840480" cy="3840480"/>
          </a:xfrm>
        </p:grpSpPr>
        <p:sp>
          <p:nvSpPr>
            <p:cNvPr id="7" name="Shape 5"/>
            <p:cNvSpPr/>
            <p:nvPr/>
          </p:nvSpPr>
          <p:spPr>
            <a:xfrm>
              <a:off x="457200" y="2011680"/>
              <a:ext cx="3840480" cy="3840480"/>
            </a:xfrm>
            <a:prstGeom prst="rect">
              <a:avLst/>
            </a:prstGeom>
            <a:solidFill>
              <a:srgbClr val="FFFFFF"/>
            </a:solidFill>
            <a:ln w="9525">
              <a:solidFill>
                <a:srgbClr val="D1D5DB"/>
              </a:solidFill>
              <a:prstDash val="solid"/>
            </a:ln>
          </p:spPr>
          <p:txBody>
            <a:bodyPr/>
            <a:lstStyle/>
            <a:p>
              <a:endParaRPr lang="en-US"/>
            </a:p>
          </p:txBody>
        </p:sp>
        <p:sp>
          <p:nvSpPr>
            <p:cNvPr id="8" name="Shape 6"/>
            <p:cNvSpPr/>
            <p:nvPr/>
          </p:nvSpPr>
          <p:spPr>
            <a:xfrm>
              <a:off x="457200" y="2011680"/>
              <a:ext cx="3840480" cy="109728"/>
            </a:xfrm>
            <a:prstGeom prst="rect">
              <a:avLst/>
            </a:prstGeom>
            <a:solidFill>
              <a:srgbClr val="0078D4"/>
            </a:solidFill>
            <a:ln/>
          </p:spPr>
          <p:txBody>
            <a:bodyPr/>
            <a:lstStyle/>
            <a:p>
              <a:endParaRPr lang="en-US"/>
            </a:p>
          </p:txBody>
        </p:sp>
        <p:sp>
          <p:nvSpPr>
            <p:cNvPr id="9" name="Text 7"/>
            <p:cNvSpPr/>
            <p:nvPr/>
          </p:nvSpPr>
          <p:spPr>
            <a:xfrm>
              <a:off x="777240" y="2331720"/>
              <a:ext cx="3200400" cy="274320"/>
            </a:xfrm>
            <a:prstGeom prst="rect">
              <a:avLst/>
            </a:prstGeom>
            <a:noFill/>
            <a:ln/>
          </p:spPr>
          <p:txBody>
            <a:bodyPr wrap="square" lIns="0" tIns="0" rIns="0" bIns="0" rtlCol="0" anchor="ctr"/>
            <a:lstStyle/>
            <a:p>
              <a:r>
                <a:rPr lang="en-US" sz="1100" b="1" kern="0" spc="200">
                  <a:solidFill>
                    <a:srgbClr val="0078D4"/>
                  </a:solidFill>
                  <a:latin typeface="Segoe UI Semibold"/>
                  <a:cs typeface="Segoe UI Semibold"/>
                </a:rPr>
                <a:t>Industry Advisor</a:t>
              </a:r>
              <a:endParaRPr lang="en-US" sz="1100" kern="0" spc="200">
                <a:latin typeface="Segoe UI Semibold"/>
                <a:cs typeface="Segoe UI Semibold"/>
              </a:endParaRPr>
            </a:p>
          </p:txBody>
        </p:sp>
        <p:sp>
          <p:nvSpPr>
            <p:cNvPr id="10" name="Text 8"/>
            <p:cNvSpPr/>
            <p:nvPr/>
          </p:nvSpPr>
          <p:spPr>
            <a:xfrm>
              <a:off x="777240" y="2606040"/>
              <a:ext cx="3200400" cy="411480"/>
            </a:xfrm>
            <a:prstGeom prst="rect">
              <a:avLst/>
            </a:prstGeom>
            <a:noFill/>
            <a:ln/>
          </p:spPr>
          <p:txBody>
            <a:bodyPr wrap="square" lIns="0" tIns="0" rIns="0" bIns="0" rtlCol="0" anchor="ctr"/>
            <a:lstStyle/>
            <a:p>
              <a:pPr marL="0" indent="0">
                <a:buNone/>
              </a:pPr>
              <a:r>
                <a:rPr lang="en-US" sz="1600" i="1">
                  <a:solidFill>
                    <a:srgbClr val="6B7280"/>
                  </a:solidFill>
                  <a:latin typeface="Segoe UI Semibold" pitchFamily="34" charset="0"/>
                  <a:ea typeface="Segoe UI Semibold" pitchFamily="34" charset="-122"/>
                  <a:cs typeface="Segoe UI Semibold" pitchFamily="34" charset="-120"/>
                </a:rPr>
                <a:t>Tanya</a:t>
              </a:r>
              <a:endParaRPr lang="en-US" sz="1600"/>
            </a:p>
          </p:txBody>
        </p:sp>
        <p:sp>
          <p:nvSpPr>
            <p:cNvPr id="11" name="Shape 9"/>
            <p:cNvSpPr/>
            <p:nvPr/>
          </p:nvSpPr>
          <p:spPr>
            <a:xfrm>
              <a:off x="777240" y="3154680"/>
              <a:ext cx="3200400" cy="18288"/>
            </a:xfrm>
            <a:prstGeom prst="rect">
              <a:avLst/>
            </a:prstGeom>
            <a:solidFill>
              <a:srgbClr val="D1D5DB"/>
            </a:solidFill>
            <a:ln/>
          </p:spPr>
          <p:txBody>
            <a:bodyPr/>
            <a:lstStyle/>
            <a:p>
              <a:endParaRPr lang="en-US"/>
            </a:p>
          </p:txBody>
        </p:sp>
        <p:sp>
          <p:nvSpPr>
            <p:cNvPr id="12" name="Text 10"/>
            <p:cNvSpPr/>
            <p:nvPr/>
          </p:nvSpPr>
          <p:spPr>
            <a:xfrm>
              <a:off x="777240" y="3337560"/>
              <a:ext cx="3200400" cy="274320"/>
            </a:xfrm>
            <a:prstGeom prst="rect">
              <a:avLst/>
            </a:prstGeom>
            <a:noFill/>
            <a:ln/>
          </p:spPr>
          <p:txBody>
            <a:bodyPr wrap="square" lIns="0" tIns="0" rIns="0" bIns="0" rtlCol="0" anchor="ctr"/>
            <a:lstStyle/>
            <a:p>
              <a:pPr marL="0" indent="0">
                <a:buNone/>
              </a:pPr>
              <a:r>
                <a:rPr lang="en-US" sz="1100" b="1" kern="0" spc="200">
                  <a:solidFill>
                    <a:srgbClr val="0078D4"/>
                  </a:solidFill>
                  <a:latin typeface="Segoe UI Semibold"/>
                  <a:ea typeface="Segoe UI Semibold" pitchFamily="34" charset="-122"/>
                  <a:cs typeface="Segoe UI Semibold"/>
                </a:rPr>
                <a:t>BUSINESS CONTEXT</a:t>
              </a:r>
              <a:endParaRPr lang="en-US" sz="1100">
                <a:solidFill>
                  <a:srgbClr val="0078D4"/>
                </a:solidFill>
                <a:latin typeface="Segoe UI Semibold"/>
                <a:ea typeface="Calibri"/>
                <a:cs typeface="Segoe UI Semibold"/>
              </a:endParaRPr>
            </a:p>
          </p:txBody>
        </p:sp>
        <p:sp>
          <p:nvSpPr>
            <p:cNvPr id="13" name="Text 11"/>
            <p:cNvSpPr/>
            <p:nvPr/>
          </p:nvSpPr>
          <p:spPr>
            <a:xfrm>
              <a:off x="777240" y="3639312"/>
              <a:ext cx="3200400" cy="274320"/>
            </a:xfrm>
            <a:prstGeom prst="rect">
              <a:avLst/>
            </a:prstGeom>
            <a:noFill/>
            <a:ln/>
          </p:spPr>
          <p:txBody>
            <a:bodyPr wrap="square" lIns="0" tIns="0" rIns="0" bIns="0" rtlCol="0" anchor="ctr"/>
            <a:lstStyle/>
            <a:p>
              <a:pPr marL="0" indent="0">
                <a:buNone/>
              </a:pPr>
              <a:r>
                <a:rPr lang="en-US" sz="1000" b="1" kern="0" spc="100">
                  <a:solidFill>
                    <a:srgbClr val="F2C811"/>
                  </a:solidFill>
                  <a:latin typeface="Segoe UI Semibold" pitchFamily="34" charset="0"/>
                  <a:ea typeface="Segoe UI Semibold" pitchFamily="34" charset="-122"/>
                  <a:cs typeface="Segoe UI Semibold" pitchFamily="34" charset="-120"/>
                </a:rPr>
                <a:t>Why it matters:</a:t>
              </a:r>
              <a:endParaRPr lang="en-US" sz="1000"/>
            </a:p>
          </p:txBody>
        </p:sp>
        <p:sp>
          <p:nvSpPr>
            <p:cNvPr id="14" name="Text 12"/>
            <p:cNvSpPr/>
            <p:nvPr/>
          </p:nvSpPr>
          <p:spPr>
            <a:xfrm>
              <a:off x="777240" y="3950763"/>
              <a:ext cx="3291454" cy="1672796"/>
            </a:xfrm>
            <a:prstGeom prst="rect">
              <a:avLst/>
            </a:prstGeom>
            <a:noFill/>
            <a:ln/>
          </p:spPr>
          <p:txBody>
            <a:bodyPr wrap="square" lIns="0" tIns="0" rIns="0" bIns="0" rtlCol="0" anchor="t"/>
            <a:lstStyle/>
            <a:p>
              <a:pPr marL="0" indent="0">
                <a:buNone/>
              </a:pPr>
              <a:r>
                <a:rPr lang="en-US" sz="1100">
                  <a:solidFill>
                    <a:srgbClr val="4B5563"/>
                  </a:solidFill>
                  <a:latin typeface="Segoe UI" pitchFamily="34" charset="0"/>
                  <a:ea typeface="Segoe UI" pitchFamily="34" charset="-122"/>
                  <a:cs typeface="Segoe UI" pitchFamily="34" charset="-120"/>
                </a:rPr>
                <a:t>– Today’s pain is not any single broken step — it’s the absence of an integrated, intelligent workflow across the deal lifecycle</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Private markets are expected to be a $30trn market by 2030 – doubling from FY 25. </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Competition for proprietary deal flow has intensified; firms that can identify, evaluate, and close high quality deals, faster win</a:t>
              </a:r>
              <a:endParaRPr lang="en-US" sz="1100"/>
            </a:p>
            <a:p>
              <a:pPr marL="0" indent="0">
                <a:spcBef>
                  <a:spcPts val="300"/>
                </a:spcBef>
                <a:buNone/>
              </a:pPr>
              <a:r>
                <a:rPr lang="en-US" sz="1100">
                  <a:solidFill>
                    <a:srgbClr val="4B5563"/>
                  </a:solidFill>
                  <a:latin typeface="Segoe UI" pitchFamily="34" charset="0"/>
                  <a:ea typeface="Segoe UI" pitchFamily="34" charset="-122"/>
                  <a:cs typeface="Segoe UI" pitchFamily="34" charset="-120"/>
                </a:rPr>
                <a:t>– Deal screening and diligence can take a team of analysts 3-4 weeks; with  significant friction to capture knowledge, skill and IP across the business.</a:t>
              </a:r>
              <a:endParaRPr lang="en-US" sz="1100"/>
            </a:p>
          </p:txBody>
        </p:sp>
      </p:grpSp>
      <p:grpSp>
        <p:nvGrpSpPr>
          <p:cNvPr id="4" name="Group 3">
            <a:extLst>
              <a:ext uri="{FF2B5EF4-FFF2-40B4-BE49-F238E27FC236}">
                <a16:creationId xmlns:a16="http://schemas.microsoft.com/office/drawing/2014/main" id="{C3E67642-6ACE-2342-4600-26B4DB963C1B}"/>
              </a:ext>
            </a:extLst>
          </p:cNvPr>
          <p:cNvGrpSpPr/>
          <p:nvPr/>
        </p:nvGrpSpPr>
        <p:grpSpPr>
          <a:xfrm>
            <a:off x="6286501" y="2011681"/>
            <a:ext cx="5417820" cy="3840480"/>
            <a:chOff x="4663440" y="2011680"/>
            <a:chExt cx="7040880" cy="3840480"/>
          </a:xfrm>
        </p:grpSpPr>
        <p:sp>
          <p:nvSpPr>
            <p:cNvPr id="15" name="Shape 13"/>
            <p:cNvSpPr/>
            <p:nvPr/>
          </p:nvSpPr>
          <p:spPr>
            <a:xfrm>
              <a:off x="4663440" y="2011680"/>
              <a:ext cx="7040880" cy="3840480"/>
            </a:xfrm>
            <a:prstGeom prst="rect">
              <a:avLst/>
            </a:prstGeom>
            <a:solidFill>
              <a:srgbClr val="0B2545"/>
            </a:solidFill>
            <a:ln/>
          </p:spPr>
          <p:txBody>
            <a:bodyPr/>
            <a:lstStyle/>
            <a:p>
              <a:endParaRPr lang="en-US"/>
            </a:p>
          </p:txBody>
        </p:sp>
        <p:sp>
          <p:nvSpPr>
            <p:cNvPr id="17" name="Text 15"/>
            <p:cNvSpPr/>
            <p:nvPr/>
          </p:nvSpPr>
          <p:spPr>
            <a:xfrm>
              <a:off x="5074920" y="2094407"/>
              <a:ext cx="6217920" cy="274320"/>
            </a:xfrm>
            <a:prstGeom prst="rect">
              <a:avLst/>
            </a:prstGeom>
            <a:noFill/>
            <a:ln/>
          </p:spPr>
          <p:txBody>
            <a:bodyPr wrap="square" lIns="0" tIns="0" rIns="0" bIns="0" rtlCol="0" anchor="ctr"/>
            <a:lstStyle/>
            <a:p>
              <a:pPr marL="0" indent="0">
                <a:buNone/>
              </a:pPr>
              <a:r>
                <a:rPr lang="en-US" sz="1200" b="1" kern="0" spc="200">
                  <a:solidFill>
                    <a:srgbClr val="00BCF2"/>
                  </a:solidFill>
                  <a:latin typeface="Segoe UI Semibold" pitchFamily="34" charset="0"/>
                  <a:ea typeface="Segoe UI Semibold" pitchFamily="34" charset="-122"/>
                  <a:cs typeface="Segoe UI Semibold" pitchFamily="34" charset="-120"/>
                </a:rPr>
                <a:t>THE CHALLENGE</a:t>
              </a:r>
              <a:endParaRPr lang="en-US" sz="1200"/>
            </a:p>
          </p:txBody>
        </p:sp>
        <p:sp>
          <p:nvSpPr>
            <p:cNvPr id="18" name="Text 16"/>
            <p:cNvSpPr/>
            <p:nvPr/>
          </p:nvSpPr>
          <p:spPr>
            <a:xfrm>
              <a:off x="5074920" y="2414447"/>
              <a:ext cx="6217920" cy="457200"/>
            </a:xfrm>
            <a:prstGeom prst="rect">
              <a:avLst/>
            </a:prstGeom>
            <a:noFill/>
            <a:ln/>
          </p:spPr>
          <p:txBody>
            <a:bodyPr wrap="square" lIns="0" tIns="0" rIns="0" bIns="0" rtlCol="0" anchor="ctr"/>
            <a:lstStyle/>
            <a:p>
              <a:pPr marL="0" indent="0">
                <a:buNone/>
              </a:pPr>
              <a:r>
                <a:rPr lang="en-US" sz="2200" b="1">
                  <a:solidFill>
                    <a:srgbClr val="FFFFFF"/>
                  </a:solidFill>
                  <a:latin typeface="Segoe UI Semibold" pitchFamily="34" charset="0"/>
                  <a:ea typeface="Segoe UI Semibold" pitchFamily="34" charset="-122"/>
                  <a:cs typeface="Segoe UI Semibold" pitchFamily="34" charset="-120"/>
                </a:rPr>
                <a:t>Deal Hub</a:t>
              </a:r>
              <a:endParaRPr lang="en-US" sz="2200"/>
            </a:p>
          </p:txBody>
        </p:sp>
        <p:sp>
          <p:nvSpPr>
            <p:cNvPr id="19" name="Shape 17"/>
            <p:cNvSpPr/>
            <p:nvPr/>
          </p:nvSpPr>
          <p:spPr>
            <a:xfrm>
              <a:off x="5093208" y="2963087"/>
              <a:ext cx="457199" cy="36576"/>
            </a:xfrm>
            <a:prstGeom prst="rect">
              <a:avLst/>
            </a:prstGeom>
            <a:solidFill>
              <a:srgbClr val="00BCF2"/>
            </a:solidFill>
            <a:ln/>
          </p:spPr>
          <p:txBody>
            <a:bodyPr/>
            <a:lstStyle/>
            <a:p>
              <a:endParaRPr lang="en-US"/>
            </a:p>
          </p:txBody>
        </p:sp>
        <p:sp>
          <p:nvSpPr>
            <p:cNvPr id="20" name="Text 18"/>
            <p:cNvSpPr/>
            <p:nvPr/>
          </p:nvSpPr>
          <p:spPr>
            <a:xfrm>
              <a:off x="5074920" y="3093719"/>
              <a:ext cx="6217920" cy="183018"/>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What to build:</a:t>
              </a:r>
              <a:endParaRPr lang="en-US" sz="1100"/>
            </a:p>
          </p:txBody>
        </p:sp>
        <p:sp>
          <p:nvSpPr>
            <p:cNvPr id="21" name="Text 19"/>
            <p:cNvSpPr/>
            <p:nvPr/>
          </p:nvSpPr>
          <p:spPr>
            <a:xfrm>
              <a:off x="5074920" y="3372391"/>
              <a:ext cx="6501690" cy="1159112"/>
            </a:xfrm>
            <a:prstGeom prst="rect">
              <a:avLst/>
            </a:prstGeom>
            <a:noFill/>
            <a:ln/>
          </p:spPr>
          <p:txBody>
            <a:bodyPr wrap="square" lIns="0" tIns="0" rIns="0" bIns="0" rtlCol="0" anchor="t"/>
            <a:lstStyle/>
            <a:p>
              <a:pPr marL="0" indent="0">
                <a:spcBef>
                  <a:spcPts val="300"/>
                </a:spcBef>
                <a:buNone/>
              </a:pPr>
              <a:r>
                <a:rPr lang="en-US" sz="1200">
                  <a:solidFill>
                    <a:srgbClr val="FFFFFF"/>
                  </a:solidFill>
                  <a:latin typeface="Segoe UI" pitchFamily="34" charset="0"/>
                  <a:ea typeface="Segoe UI" pitchFamily="34" charset="-122"/>
                  <a:cs typeface="Segoe UI" pitchFamily="34" charset="-120"/>
                </a:rPr>
                <a:t>Put deals at the center so firms can compress cycle times and raise decision quality at scale. An agentic Deal Hub that transforms a linear and siloed workflow into a parallel, collaborative agent-human model for deal origination &amp; screening + due diligence &amp; execution on a single intelligent, compliant platform</a:t>
              </a:r>
            </a:p>
            <a:p>
              <a:pPr marL="0" indent="0">
                <a:spcBef>
                  <a:spcPts val="300"/>
                </a:spcBef>
                <a:buNone/>
              </a:pPr>
              <a:endParaRPr lang="en-US" sz="1200"/>
            </a:p>
          </p:txBody>
        </p:sp>
      </p:grpSp>
      <p:sp>
        <p:nvSpPr>
          <p:cNvPr id="22" name="Text 20"/>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23" name="Text 21"/>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15</a:t>
            </a:r>
            <a:endParaRPr lang="en-US" sz="900"/>
          </a:p>
        </p:txBody>
      </p:sp>
      <p:sp>
        <p:nvSpPr>
          <p:cNvPr id="25" name="Text 18">
            <a:extLst>
              <a:ext uri="{FF2B5EF4-FFF2-40B4-BE49-F238E27FC236}">
                <a16:creationId xmlns:a16="http://schemas.microsoft.com/office/drawing/2014/main" id="{A135CCCE-7EF3-7FE9-6EC5-567DFD71B44C}"/>
              </a:ext>
            </a:extLst>
          </p:cNvPr>
          <p:cNvSpPr/>
          <p:nvPr/>
        </p:nvSpPr>
        <p:spPr>
          <a:xfrm>
            <a:off x="6553992" y="4975856"/>
            <a:ext cx="4784568" cy="274320"/>
          </a:xfrm>
          <a:prstGeom prst="rect">
            <a:avLst/>
          </a:prstGeom>
          <a:noFill/>
          <a:ln/>
        </p:spPr>
        <p:txBody>
          <a:bodyPr wrap="square" lIns="0" tIns="0" rIns="0" bIns="0" rtlCol="0" anchor="ctr"/>
          <a:lstStyle/>
          <a:p>
            <a:pPr marL="0" indent="0">
              <a:buNone/>
            </a:pPr>
            <a:r>
              <a:rPr lang="en-US" sz="1100" b="1" kern="0" spc="100">
                <a:solidFill>
                  <a:srgbClr val="F2C811"/>
                </a:solidFill>
                <a:latin typeface="Segoe UI Semibold" pitchFamily="34" charset="0"/>
                <a:ea typeface="Segoe UI Semibold" pitchFamily="34" charset="-122"/>
                <a:cs typeface="Segoe UI Semibold" pitchFamily="34" charset="-120"/>
              </a:rPr>
              <a:t>Who to build for: four client archetypes; deal team persona</a:t>
            </a:r>
          </a:p>
          <a:p>
            <a:pPr>
              <a:spcBef>
                <a:spcPts val="300"/>
              </a:spcBef>
            </a:pPr>
            <a:r>
              <a:rPr lang="en-US" sz="1200">
                <a:solidFill>
                  <a:srgbClr val="FFFFFF"/>
                </a:solidFill>
                <a:latin typeface="Segoe UI" pitchFamily="34" charset="0"/>
                <a:cs typeface="Segoe UI" pitchFamily="34" charset="-120"/>
              </a:rPr>
              <a:t>PE &amp; Asset Managers</a:t>
            </a:r>
          </a:p>
          <a:p>
            <a:pPr>
              <a:spcBef>
                <a:spcPts val="300"/>
              </a:spcBef>
            </a:pPr>
            <a:r>
              <a:rPr lang="en-US" sz="1200">
                <a:solidFill>
                  <a:srgbClr val="FFFFFF"/>
                </a:solidFill>
                <a:latin typeface="Segoe UI" pitchFamily="34" charset="0"/>
                <a:cs typeface="Segoe UI" pitchFamily="34" charset="-120"/>
              </a:rPr>
              <a:t>Investment Banks</a:t>
            </a:r>
          </a:p>
          <a:p>
            <a:pPr>
              <a:spcBef>
                <a:spcPts val="300"/>
              </a:spcBef>
            </a:pPr>
            <a:r>
              <a:rPr lang="en-US" sz="1200">
                <a:solidFill>
                  <a:srgbClr val="FFFFFF"/>
                </a:solidFill>
                <a:latin typeface="Segoe UI" pitchFamily="34" charset="0"/>
                <a:cs typeface="Segoe UI" pitchFamily="34" charset="-120"/>
              </a:rPr>
              <a:t>Private Credit Platforms/ Corp. Banking</a:t>
            </a:r>
          </a:p>
          <a:p>
            <a:pPr>
              <a:spcBef>
                <a:spcPts val="300"/>
              </a:spcBef>
            </a:pPr>
            <a:r>
              <a:rPr lang="en-US" sz="1200">
                <a:solidFill>
                  <a:srgbClr val="FFFFFF"/>
                </a:solidFill>
                <a:latin typeface="Segoe UI" pitchFamily="34" charset="0"/>
                <a:cs typeface="Segoe UI" pitchFamily="34" charset="-120"/>
              </a:rPr>
              <a:t>Scaling Mid-Market Funds (&lt;10bn AUM</a:t>
            </a:r>
            <a:r>
              <a:rPr lang="en-US" sz="1100" b="1" kern="0" spc="100">
                <a:solidFill>
                  <a:srgbClr val="F2C811"/>
                </a:solidFill>
                <a:latin typeface="Segoe UI Semibold" pitchFamily="34" charset="0"/>
                <a:cs typeface="Segoe UI Semibold" pitchFamily="34" charset="-120"/>
              </a:rPr>
              <a:t>)</a:t>
            </a:r>
            <a:endParaRPr lang="en-US" sz="1100"/>
          </a:p>
        </p:txBody>
      </p:sp>
    </p:spTree>
    <p:extLst>
      <p:ext uri="{BB962C8B-B14F-4D97-AF65-F5344CB8AC3E}">
        <p14:creationId xmlns:p14="http://schemas.microsoft.com/office/powerpoint/2010/main" val="1323885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03C77F-BAE3-21DE-0053-C8D875BC4208}"/>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 0">
            <a:extLst>
              <a:ext uri="{FF2B5EF4-FFF2-40B4-BE49-F238E27FC236}">
                <a16:creationId xmlns:a16="http://schemas.microsoft.com/office/drawing/2014/main" id="{9D8E69B4-C51D-130F-D07D-039B634F2A5D}"/>
              </a:ext>
            </a:extLst>
          </p:cNvPr>
          <p:cNvSpPr/>
          <p:nvPr/>
        </p:nvSpPr>
        <p:spPr>
          <a:xfrm>
            <a:off x="457200" y="64734"/>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SUBDIVISION DEEP-DIVE</a:t>
            </a:r>
            <a:endParaRPr lang="en-US" sz="1200"/>
          </a:p>
        </p:txBody>
      </p:sp>
      <p:sp>
        <p:nvSpPr>
          <p:cNvPr id="6" name="Text 1">
            <a:extLst>
              <a:ext uri="{FF2B5EF4-FFF2-40B4-BE49-F238E27FC236}">
                <a16:creationId xmlns:a16="http://schemas.microsoft.com/office/drawing/2014/main" id="{042F0DCE-7C28-1A3C-A1B1-AC03B97759BF}"/>
              </a:ext>
            </a:extLst>
          </p:cNvPr>
          <p:cNvSpPr/>
          <p:nvPr/>
        </p:nvSpPr>
        <p:spPr>
          <a:xfrm>
            <a:off x="457200" y="331796"/>
            <a:ext cx="4846320" cy="625566"/>
          </a:xfrm>
          <a:prstGeom prst="rect">
            <a:avLst/>
          </a:prstGeom>
          <a:solidFill>
            <a:srgbClr val="161B3B"/>
          </a:solidFill>
          <a:ln/>
        </p:spPr>
        <p:txBody>
          <a:bodyPr wrap="square" lIns="0" tIns="0" rIns="0" bIns="0" rtlCol="0" anchor="ctr"/>
          <a:lstStyle/>
          <a:p>
            <a:pPr marL="0" indent="0">
              <a:buNone/>
            </a:pPr>
            <a:r>
              <a:rPr lang="en-US" sz="2800" b="1">
                <a:solidFill>
                  <a:srgbClr val="FFFFFF"/>
                </a:solidFill>
                <a:latin typeface="Segoe UI Semibold" pitchFamily="34" charset="0"/>
                <a:ea typeface="Segoe UI Semibold" pitchFamily="34" charset="-122"/>
                <a:cs typeface="Segoe UI Semibold" pitchFamily="34" charset="-120"/>
              </a:rPr>
              <a:t>Private Markets</a:t>
            </a:r>
            <a:endParaRPr lang="en-US" sz="2800">
              <a:solidFill>
                <a:srgbClr val="FFFFFF"/>
              </a:solidFill>
            </a:endParaRPr>
          </a:p>
        </p:txBody>
      </p:sp>
    </p:spTree>
    <p:extLst>
      <p:ext uri="{BB962C8B-B14F-4D97-AF65-F5344CB8AC3E}">
        <p14:creationId xmlns:p14="http://schemas.microsoft.com/office/powerpoint/2010/main" val="680826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a:extLst>
            <a:ext uri="{FF2B5EF4-FFF2-40B4-BE49-F238E27FC236}">
              <a16:creationId xmlns:a16="http://schemas.microsoft.com/office/drawing/2014/main" id="{BD234FA2-A92E-17B5-2634-52C6928E2D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212F7B-C1F3-59D1-4D86-719C228348CA}"/>
              </a:ext>
            </a:extLst>
          </p:cNvPr>
          <p:cNvSpPr/>
          <p:nvPr/>
        </p:nvSpPr>
        <p:spPr>
          <a:xfrm>
            <a:off x="457200" y="384048"/>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WHO’S BUILDING WHAT</a:t>
            </a:r>
            <a:endParaRPr lang="en-US" sz="1200"/>
          </a:p>
        </p:txBody>
      </p:sp>
      <p:sp>
        <p:nvSpPr>
          <p:cNvPr id="3" name="Text 1">
            <a:extLst>
              <a:ext uri="{FF2B5EF4-FFF2-40B4-BE49-F238E27FC236}">
                <a16:creationId xmlns:a16="http://schemas.microsoft.com/office/drawing/2014/main" id="{DF144BE6-64F3-9CC4-3D16-9B3911367BBC}"/>
              </a:ext>
            </a:extLst>
          </p:cNvPr>
          <p:cNvSpPr/>
          <p:nvPr/>
        </p:nvSpPr>
        <p:spPr>
          <a:xfrm>
            <a:off x="457200" y="658368"/>
            <a:ext cx="11247120" cy="64008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Pod assignments</a:t>
            </a:r>
            <a:endParaRPr lang="en-US" sz="2800"/>
          </a:p>
        </p:txBody>
      </p:sp>
      <p:sp>
        <p:nvSpPr>
          <p:cNvPr id="4" name="Text 2">
            <a:extLst>
              <a:ext uri="{FF2B5EF4-FFF2-40B4-BE49-F238E27FC236}">
                <a16:creationId xmlns:a16="http://schemas.microsoft.com/office/drawing/2014/main" id="{185DE6C7-E649-74CA-4B86-EE8B81FF466A}"/>
              </a:ext>
            </a:extLst>
          </p:cNvPr>
          <p:cNvSpPr/>
          <p:nvPr/>
        </p:nvSpPr>
        <p:spPr>
          <a:xfrm>
            <a:off x="457200" y="1371600"/>
            <a:ext cx="11247120" cy="365760"/>
          </a:xfrm>
          <a:prstGeom prst="rect">
            <a:avLst/>
          </a:prstGeom>
          <a:noFill/>
          <a:ln/>
        </p:spPr>
        <p:txBody>
          <a:bodyPr wrap="square" lIns="0" tIns="0" rIns="0" bIns="0" rtlCol="0" anchor="ctr"/>
          <a:lstStyle/>
          <a:p>
            <a:pPr marL="0" indent="0">
              <a:buNone/>
            </a:pPr>
            <a:r>
              <a:rPr lang="en-US" sz="1400" i="1">
                <a:solidFill>
                  <a:srgbClr val="4B5563"/>
                </a:solidFill>
                <a:latin typeface="Segoe UI"/>
                <a:ea typeface="Segoe UI" pitchFamily="34" charset="-122"/>
                <a:cs typeface="Segoe UI"/>
              </a:rPr>
              <a:t>Each pod pairs an Industry Advisor with Solution Engineers, aligned to a Capital Markets subdivision.</a:t>
            </a:r>
            <a:endParaRPr lang="en-US" sz="1400">
              <a:latin typeface="Segoe UI"/>
              <a:cs typeface="Segoe UI"/>
            </a:endParaRPr>
          </a:p>
        </p:txBody>
      </p:sp>
      <p:sp>
        <p:nvSpPr>
          <p:cNvPr id="5" name="Text 3">
            <a:extLst>
              <a:ext uri="{FF2B5EF4-FFF2-40B4-BE49-F238E27FC236}">
                <a16:creationId xmlns:a16="http://schemas.microsoft.com/office/drawing/2014/main" id="{3DC8436E-B9ED-7435-3949-A08CD9DE79F2}"/>
              </a:ext>
            </a:extLst>
          </p:cNvPr>
          <p:cNvSpPr/>
          <p:nvPr/>
        </p:nvSpPr>
        <p:spPr>
          <a:xfrm>
            <a:off x="457200" y="1783080"/>
            <a:ext cx="7315200" cy="274320"/>
          </a:xfrm>
          <a:prstGeom prst="rect">
            <a:avLst/>
          </a:prstGeom>
          <a:noFill/>
          <a:ln/>
        </p:spPr>
        <p:txBody>
          <a:bodyPr wrap="square" lIns="0" tIns="0" rIns="0" bIns="0" rtlCol="0" anchor="ctr"/>
          <a:lstStyle/>
          <a:p>
            <a:pPr marL="0" indent="0">
              <a:buNone/>
            </a:pPr>
            <a:endParaRPr lang="en-US" sz="1000"/>
          </a:p>
        </p:txBody>
      </p:sp>
      <p:sp>
        <p:nvSpPr>
          <p:cNvPr id="6" name="Shape 4">
            <a:extLst>
              <a:ext uri="{FF2B5EF4-FFF2-40B4-BE49-F238E27FC236}">
                <a16:creationId xmlns:a16="http://schemas.microsoft.com/office/drawing/2014/main" id="{C022BB33-63F1-DAFA-EAC1-A03EE71E7BD5}"/>
              </a:ext>
            </a:extLst>
          </p:cNvPr>
          <p:cNvSpPr/>
          <p:nvPr/>
        </p:nvSpPr>
        <p:spPr>
          <a:xfrm>
            <a:off x="457200" y="2103120"/>
            <a:ext cx="11247120" cy="457200"/>
          </a:xfrm>
          <a:prstGeom prst="rect">
            <a:avLst/>
          </a:prstGeom>
          <a:solidFill>
            <a:srgbClr val="0B2545"/>
          </a:solidFill>
          <a:ln/>
        </p:spPr>
        <p:txBody>
          <a:bodyPr/>
          <a:lstStyle/>
          <a:p>
            <a:endParaRPr lang="en-CA"/>
          </a:p>
        </p:txBody>
      </p:sp>
      <p:sp>
        <p:nvSpPr>
          <p:cNvPr id="7" name="Text 5">
            <a:extLst>
              <a:ext uri="{FF2B5EF4-FFF2-40B4-BE49-F238E27FC236}">
                <a16:creationId xmlns:a16="http://schemas.microsoft.com/office/drawing/2014/main" id="{8218D52F-03A7-A9D4-7B84-AF29AC705D5B}"/>
              </a:ext>
            </a:extLst>
          </p:cNvPr>
          <p:cNvSpPr/>
          <p:nvPr/>
        </p:nvSpPr>
        <p:spPr>
          <a:xfrm>
            <a:off x="640080" y="2103120"/>
            <a:ext cx="2286000" cy="457200"/>
          </a:xfrm>
          <a:prstGeom prst="rect">
            <a:avLst/>
          </a:prstGeom>
          <a:noFill/>
          <a:ln/>
        </p:spPr>
        <p:txBody>
          <a:bodyPr wrap="square" lIns="0" tIns="0" rIns="0" bIns="0" rtlCol="0" anchor="ctr"/>
          <a:lstStyle/>
          <a:p>
            <a:pPr marL="0" indent="0">
              <a:buNone/>
            </a:pPr>
            <a:r>
              <a:rPr lang="en-US" sz="1300" b="1">
                <a:solidFill>
                  <a:srgbClr val="FFFFFF"/>
                </a:solidFill>
                <a:latin typeface="Segoe UI Semibold" pitchFamily="34" charset="0"/>
                <a:ea typeface="Segoe UI Semibold" pitchFamily="34" charset="-122"/>
                <a:cs typeface="Segoe UI Semibold" pitchFamily="34" charset="-120"/>
              </a:rPr>
              <a:t>Subdivision</a:t>
            </a:r>
            <a:endParaRPr lang="en-US" sz="1300"/>
          </a:p>
        </p:txBody>
      </p:sp>
      <p:sp>
        <p:nvSpPr>
          <p:cNvPr id="8" name="Text 6">
            <a:extLst>
              <a:ext uri="{FF2B5EF4-FFF2-40B4-BE49-F238E27FC236}">
                <a16:creationId xmlns:a16="http://schemas.microsoft.com/office/drawing/2014/main" id="{A2567180-AA40-554E-6D74-E11693C101EA}"/>
              </a:ext>
            </a:extLst>
          </p:cNvPr>
          <p:cNvSpPr/>
          <p:nvPr/>
        </p:nvSpPr>
        <p:spPr>
          <a:xfrm>
            <a:off x="3108960" y="2103120"/>
            <a:ext cx="2926080" cy="457200"/>
          </a:xfrm>
          <a:prstGeom prst="rect">
            <a:avLst/>
          </a:prstGeom>
          <a:noFill/>
          <a:ln/>
        </p:spPr>
        <p:txBody>
          <a:bodyPr wrap="square" lIns="0" tIns="0" rIns="0" bIns="0" rtlCol="0" anchor="ctr"/>
          <a:lstStyle/>
          <a:p>
            <a:r>
              <a:rPr lang="en-US" sz="1300" b="1">
                <a:solidFill>
                  <a:srgbClr val="FFFFFF"/>
                </a:solidFill>
                <a:latin typeface="Segoe UI Semibold"/>
                <a:cs typeface="Segoe UI Semibold"/>
              </a:rPr>
              <a:t>Industry Advisor(s)</a:t>
            </a:r>
          </a:p>
        </p:txBody>
      </p:sp>
      <p:sp>
        <p:nvSpPr>
          <p:cNvPr id="9" name="Text 7">
            <a:extLst>
              <a:ext uri="{FF2B5EF4-FFF2-40B4-BE49-F238E27FC236}">
                <a16:creationId xmlns:a16="http://schemas.microsoft.com/office/drawing/2014/main" id="{A716FA0F-CE35-0798-5EFD-C27791090BC9}"/>
              </a:ext>
            </a:extLst>
          </p:cNvPr>
          <p:cNvSpPr/>
          <p:nvPr/>
        </p:nvSpPr>
        <p:spPr>
          <a:xfrm>
            <a:off x="6217920" y="2103120"/>
            <a:ext cx="5486400" cy="457200"/>
          </a:xfrm>
          <a:prstGeom prst="rect">
            <a:avLst/>
          </a:prstGeom>
          <a:noFill/>
          <a:ln/>
        </p:spPr>
        <p:txBody>
          <a:bodyPr wrap="square" lIns="0" tIns="0" rIns="0" bIns="0" rtlCol="0" anchor="ctr"/>
          <a:lstStyle/>
          <a:p>
            <a:pPr marL="0" indent="0">
              <a:buNone/>
            </a:pPr>
            <a:r>
              <a:rPr lang="en-US" sz="1300" b="1">
                <a:solidFill>
                  <a:srgbClr val="FFFFFF"/>
                </a:solidFill>
                <a:latin typeface="Segoe UI Semibold" pitchFamily="34" charset="0"/>
                <a:ea typeface="Segoe UI Semibold" pitchFamily="34" charset="-122"/>
                <a:cs typeface="Segoe UI Semibold" pitchFamily="34" charset="-120"/>
              </a:rPr>
              <a:t>Solution Engineers</a:t>
            </a:r>
            <a:endParaRPr lang="en-US" sz="1300"/>
          </a:p>
        </p:txBody>
      </p:sp>
      <p:sp>
        <p:nvSpPr>
          <p:cNvPr id="10" name="Shape 8">
            <a:extLst>
              <a:ext uri="{FF2B5EF4-FFF2-40B4-BE49-F238E27FC236}">
                <a16:creationId xmlns:a16="http://schemas.microsoft.com/office/drawing/2014/main" id="{FA63B5A1-5AB6-A8FD-B50D-32F38A2D0A07}"/>
              </a:ext>
            </a:extLst>
          </p:cNvPr>
          <p:cNvSpPr/>
          <p:nvPr/>
        </p:nvSpPr>
        <p:spPr>
          <a:xfrm>
            <a:off x="457200" y="2560320"/>
            <a:ext cx="11247120" cy="530352"/>
          </a:xfrm>
          <a:prstGeom prst="rect">
            <a:avLst/>
          </a:prstGeom>
          <a:solidFill>
            <a:srgbClr val="FFFFFF"/>
          </a:solidFill>
          <a:ln w="6350">
            <a:solidFill>
              <a:srgbClr val="D1D5DB"/>
            </a:solidFill>
            <a:prstDash val="solid"/>
          </a:ln>
        </p:spPr>
        <p:txBody>
          <a:bodyPr/>
          <a:lstStyle/>
          <a:p>
            <a:endParaRPr lang="en-CA"/>
          </a:p>
        </p:txBody>
      </p:sp>
      <p:sp>
        <p:nvSpPr>
          <p:cNvPr id="11" name="Shape 9">
            <a:extLst>
              <a:ext uri="{FF2B5EF4-FFF2-40B4-BE49-F238E27FC236}">
                <a16:creationId xmlns:a16="http://schemas.microsoft.com/office/drawing/2014/main" id="{5BD9A72F-B590-6E55-C6C3-FC3DA5122163}"/>
              </a:ext>
            </a:extLst>
          </p:cNvPr>
          <p:cNvSpPr/>
          <p:nvPr/>
        </p:nvSpPr>
        <p:spPr>
          <a:xfrm>
            <a:off x="457200" y="2560320"/>
            <a:ext cx="73152" cy="530352"/>
          </a:xfrm>
          <a:prstGeom prst="rect">
            <a:avLst/>
          </a:prstGeom>
          <a:solidFill>
            <a:srgbClr val="0078D4"/>
          </a:solidFill>
          <a:ln/>
        </p:spPr>
        <p:txBody>
          <a:bodyPr/>
          <a:lstStyle/>
          <a:p>
            <a:endParaRPr lang="en-CA"/>
          </a:p>
        </p:txBody>
      </p:sp>
      <p:sp>
        <p:nvSpPr>
          <p:cNvPr id="12" name="Text 10">
            <a:extLst>
              <a:ext uri="{FF2B5EF4-FFF2-40B4-BE49-F238E27FC236}">
                <a16:creationId xmlns:a16="http://schemas.microsoft.com/office/drawing/2014/main" id="{89CCA0FA-D1B7-B042-0716-4D145C986DC2}"/>
              </a:ext>
            </a:extLst>
          </p:cNvPr>
          <p:cNvSpPr/>
          <p:nvPr/>
        </p:nvSpPr>
        <p:spPr>
          <a:xfrm>
            <a:off x="685800" y="2560320"/>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AWM</a:t>
            </a:r>
            <a:endParaRPr lang="en-US" sz="1400"/>
          </a:p>
          <a:p>
            <a:pPr marL="0" indent="0">
              <a:buNone/>
            </a:pPr>
            <a:r>
              <a:rPr lang="en-US" sz="1000">
                <a:solidFill>
                  <a:srgbClr val="0078D4"/>
                </a:solidFill>
                <a:latin typeface="Segoe UI"/>
                <a:ea typeface="Segoe UI" pitchFamily="34" charset="-122"/>
                <a:cs typeface="Segoe UI"/>
              </a:rPr>
              <a:t>Pod 1  </a:t>
            </a:r>
            <a:endParaRPr lang="en-US" sz="1400">
              <a:latin typeface="Segoe UI"/>
              <a:ea typeface="Calibri" panose="020F0502020204030204"/>
              <a:cs typeface="Calibri" panose="020F0502020204030204"/>
            </a:endParaRPr>
          </a:p>
        </p:txBody>
      </p:sp>
      <p:sp>
        <p:nvSpPr>
          <p:cNvPr id="13" name="Text 11">
            <a:extLst>
              <a:ext uri="{FF2B5EF4-FFF2-40B4-BE49-F238E27FC236}">
                <a16:creationId xmlns:a16="http://schemas.microsoft.com/office/drawing/2014/main" id="{F3DB17D2-B515-4A04-EA18-C1203F9CF9B5}"/>
              </a:ext>
            </a:extLst>
          </p:cNvPr>
          <p:cNvSpPr/>
          <p:nvPr/>
        </p:nvSpPr>
        <p:spPr>
          <a:xfrm>
            <a:off x="3108960" y="2560320"/>
            <a:ext cx="283464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Mona · Symon</a:t>
            </a:r>
            <a:endParaRPr lang="en-US" sz="1200">
              <a:latin typeface="Segoe UI"/>
              <a:cs typeface="Segoe UI"/>
            </a:endParaRPr>
          </a:p>
        </p:txBody>
      </p:sp>
      <p:sp>
        <p:nvSpPr>
          <p:cNvPr id="14" name="Text 12">
            <a:extLst>
              <a:ext uri="{FF2B5EF4-FFF2-40B4-BE49-F238E27FC236}">
                <a16:creationId xmlns:a16="http://schemas.microsoft.com/office/drawing/2014/main" id="{5AEBD637-58EE-540B-2C16-20589A58E950}"/>
              </a:ext>
            </a:extLst>
          </p:cNvPr>
          <p:cNvSpPr/>
          <p:nvPr/>
        </p:nvSpPr>
        <p:spPr>
          <a:xfrm>
            <a:off x="6217920" y="2560320"/>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Karl  ·  Dan  ·  Ashish  ·  Joe</a:t>
            </a:r>
            <a:endParaRPr lang="en-US" sz="1200"/>
          </a:p>
        </p:txBody>
      </p:sp>
      <p:sp>
        <p:nvSpPr>
          <p:cNvPr id="15" name="Shape 13">
            <a:extLst>
              <a:ext uri="{FF2B5EF4-FFF2-40B4-BE49-F238E27FC236}">
                <a16:creationId xmlns:a16="http://schemas.microsoft.com/office/drawing/2014/main" id="{6819F3DE-E295-1CFD-A455-DA02DA1D424E}"/>
              </a:ext>
            </a:extLst>
          </p:cNvPr>
          <p:cNvSpPr/>
          <p:nvPr/>
        </p:nvSpPr>
        <p:spPr>
          <a:xfrm>
            <a:off x="457200" y="3090672"/>
            <a:ext cx="11247120" cy="530352"/>
          </a:xfrm>
          <a:prstGeom prst="rect">
            <a:avLst/>
          </a:prstGeom>
          <a:solidFill>
            <a:srgbClr val="F3F4F6"/>
          </a:solidFill>
          <a:ln w="6350">
            <a:solidFill>
              <a:srgbClr val="D1D5DB"/>
            </a:solidFill>
            <a:prstDash val="solid"/>
          </a:ln>
        </p:spPr>
        <p:txBody>
          <a:bodyPr/>
          <a:lstStyle/>
          <a:p>
            <a:endParaRPr lang="en-CA"/>
          </a:p>
        </p:txBody>
      </p:sp>
      <p:sp>
        <p:nvSpPr>
          <p:cNvPr id="16" name="Shape 14">
            <a:extLst>
              <a:ext uri="{FF2B5EF4-FFF2-40B4-BE49-F238E27FC236}">
                <a16:creationId xmlns:a16="http://schemas.microsoft.com/office/drawing/2014/main" id="{71D3DD0B-80E3-4963-91DF-5743D051FA1F}"/>
              </a:ext>
            </a:extLst>
          </p:cNvPr>
          <p:cNvSpPr/>
          <p:nvPr/>
        </p:nvSpPr>
        <p:spPr>
          <a:xfrm>
            <a:off x="457200" y="3090672"/>
            <a:ext cx="73152" cy="530352"/>
          </a:xfrm>
          <a:prstGeom prst="rect">
            <a:avLst/>
          </a:prstGeom>
          <a:solidFill>
            <a:srgbClr val="0078D4"/>
          </a:solidFill>
          <a:ln/>
        </p:spPr>
        <p:txBody>
          <a:bodyPr/>
          <a:lstStyle/>
          <a:p>
            <a:endParaRPr lang="en-CA"/>
          </a:p>
        </p:txBody>
      </p:sp>
      <p:sp>
        <p:nvSpPr>
          <p:cNvPr id="17" name="Text 15">
            <a:extLst>
              <a:ext uri="{FF2B5EF4-FFF2-40B4-BE49-F238E27FC236}">
                <a16:creationId xmlns:a16="http://schemas.microsoft.com/office/drawing/2014/main" id="{0478E63D-D52F-32D0-0CD1-69BA92D11D66}"/>
              </a:ext>
            </a:extLst>
          </p:cNvPr>
          <p:cNvSpPr/>
          <p:nvPr/>
        </p:nvSpPr>
        <p:spPr>
          <a:xfrm>
            <a:off x="685800" y="3090672"/>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AWM</a:t>
            </a:r>
            <a:endParaRPr lang="en-US" sz="1400"/>
          </a:p>
          <a:p>
            <a:pPr marL="0" indent="0">
              <a:buNone/>
            </a:pPr>
            <a:r>
              <a:rPr lang="en-US" sz="1000">
                <a:solidFill>
                  <a:srgbClr val="0078D4"/>
                </a:solidFill>
                <a:latin typeface="Segoe UI"/>
                <a:ea typeface="Segoe UI" pitchFamily="34" charset="-122"/>
                <a:cs typeface="Segoe UI"/>
              </a:rPr>
              <a:t>Pod 2 </a:t>
            </a:r>
            <a:endParaRPr lang="en-US" sz="1400">
              <a:latin typeface="Segoe UI"/>
              <a:ea typeface="Calibri" panose="020F0502020204030204"/>
              <a:cs typeface="Calibri" panose="020F0502020204030204"/>
            </a:endParaRPr>
          </a:p>
        </p:txBody>
      </p:sp>
      <p:sp>
        <p:nvSpPr>
          <p:cNvPr id="18" name="Text 16">
            <a:extLst>
              <a:ext uri="{FF2B5EF4-FFF2-40B4-BE49-F238E27FC236}">
                <a16:creationId xmlns:a16="http://schemas.microsoft.com/office/drawing/2014/main" id="{91D5F9E2-3088-5DF9-4624-2DB779E637E3}"/>
              </a:ext>
            </a:extLst>
          </p:cNvPr>
          <p:cNvSpPr/>
          <p:nvPr/>
        </p:nvSpPr>
        <p:spPr>
          <a:xfrm>
            <a:off x="3108960" y="3090672"/>
            <a:ext cx="283464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Cheryl · Kevin</a:t>
            </a:r>
            <a:endParaRPr lang="en-US" sz="1200">
              <a:solidFill>
                <a:srgbClr val="000000"/>
              </a:solidFill>
              <a:latin typeface="Segoe UI"/>
              <a:ea typeface="Segoe UI" pitchFamily="34" charset="-122"/>
              <a:cs typeface="Segoe UI"/>
            </a:endParaRPr>
          </a:p>
        </p:txBody>
      </p:sp>
      <p:sp>
        <p:nvSpPr>
          <p:cNvPr id="19" name="Text 17">
            <a:extLst>
              <a:ext uri="{FF2B5EF4-FFF2-40B4-BE49-F238E27FC236}">
                <a16:creationId xmlns:a16="http://schemas.microsoft.com/office/drawing/2014/main" id="{BEEC065D-A33A-0E97-C6BC-FF665CB04D13}"/>
              </a:ext>
            </a:extLst>
          </p:cNvPr>
          <p:cNvSpPr/>
          <p:nvPr/>
        </p:nvSpPr>
        <p:spPr>
          <a:xfrm>
            <a:off x="6217920" y="3090672"/>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Marcos  · Dr. Ravi  ·  Ryan H  ·  Kishore</a:t>
            </a:r>
            <a:endParaRPr lang="en-US" sz="1200">
              <a:latin typeface="Segoe UI"/>
              <a:cs typeface="Segoe UI"/>
            </a:endParaRPr>
          </a:p>
        </p:txBody>
      </p:sp>
      <p:sp>
        <p:nvSpPr>
          <p:cNvPr id="20" name="Shape 18">
            <a:extLst>
              <a:ext uri="{FF2B5EF4-FFF2-40B4-BE49-F238E27FC236}">
                <a16:creationId xmlns:a16="http://schemas.microsoft.com/office/drawing/2014/main" id="{A6DF8BD0-ECA2-047A-8153-B242EA56ED16}"/>
              </a:ext>
            </a:extLst>
          </p:cNvPr>
          <p:cNvSpPr/>
          <p:nvPr/>
        </p:nvSpPr>
        <p:spPr>
          <a:xfrm>
            <a:off x="457200" y="3621024"/>
            <a:ext cx="11247120" cy="530352"/>
          </a:xfrm>
          <a:prstGeom prst="rect">
            <a:avLst/>
          </a:prstGeom>
          <a:solidFill>
            <a:srgbClr val="FFFFFF"/>
          </a:solidFill>
          <a:ln w="6350">
            <a:solidFill>
              <a:srgbClr val="D1D5DB"/>
            </a:solidFill>
            <a:prstDash val="solid"/>
          </a:ln>
        </p:spPr>
        <p:txBody>
          <a:bodyPr/>
          <a:lstStyle/>
          <a:p>
            <a:endParaRPr lang="en-CA"/>
          </a:p>
        </p:txBody>
      </p:sp>
      <p:sp>
        <p:nvSpPr>
          <p:cNvPr id="21" name="Shape 19">
            <a:extLst>
              <a:ext uri="{FF2B5EF4-FFF2-40B4-BE49-F238E27FC236}">
                <a16:creationId xmlns:a16="http://schemas.microsoft.com/office/drawing/2014/main" id="{4C171B87-5A81-A9D4-D608-0263D273597E}"/>
              </a:ext>
            </a:extLst>
          </p:cNvPr>
          <p:cNvSpPr/>
          <p:nvPr/>
        </p:nvSpPr>
        <p:spPr>
          <a:xfrm>
            <a:off x="457200" y="3621024"/>
            <a:ext cx="73152" cy="530352"/>
          </a:xfrm>
          <a:prstGeom prst="rect">
            <a:avLst/>
          </a:prstGeom>
          <a:solidFill>
            <a:srgbClr val="0078D4"/>
          </a:solidFill>
          <a:ln/>
        </p:spPr>
        <p:txBody>
          <a:bodyPr/>
          <a:lstStyle/>
          <a:p>
            <a:endParaRPr lang="en-CA"/>
          </a:p>
        </p:txBody>
      </p:sp>
      <p:sp>
        <p:nvSpPr>
          <p:cNvPr id="22" name="Text 20">
            <a:extLst>
              <a:ext uri="{FF2B5EF4-FFF2-40B4-BE49-F238E27FC236}">
                <a16:creationId xmlns:a16="http://schemas.microsoft.com/office/drawing/2014/main" id="{E4BF23DB-E0C6-43DA-C655-8F0BDC2C0720}"/>
              </a:ext>
            </a:extLst>
          </p:cNvPr>
          <p:cNvSpPr/>
          <p:nvPr/>
        </p:nvSpPr>
        <p:spPr>
          <a:xfrm>
            <a:off x="685800" y="3621024"/>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Markets</a:t>
            </a:r>
            <a:endParaRPr lang="en-US" sz="1400"/>
          </a:p>
        </p:txBody>
      </p:sp>
      <p:sp>
        <p:nvSpPr>
          <p:cNvPr id="23" name="Text 21">
            <a:extLst>
              <a:ext uri="{FF2B5EF4-FFF2-40B4-BE49-F238E27FC236}">
                <a16:creationId xmlns:a16="http://schemas.microsoft.com/office/drawing/2014/main" id="{A7040126-62CB-3DE3-AA77-D4739A895501}"/>
              </a:ext>
            </a:extLst>
          </p:cNvPr>
          <p:cNvSpPr/>
          <p:nvPr/>
        </p:nvSpPr>
        <p:spPr>
          <a:xfrm>
            <a:off x="3108960" y="3621024"/>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Ankeet</a:t>
            </a:r>
            <a:endParaRPr lang="en-US" sz="1200"/>
          </a:p>
        </p:txBody>
      </p:sp>
      <p:sp>
        <p:nvSpPr>
          <p:cNvPr id="24" name="Text 22">
            <a:extLst>
              <a:ext uri="{FF2B5EF4-FFF2-40B4-BE49-F238E27FC236}">
                <a16:creationId xmlns:a16="http://schemas.microsoft.com/office/drawing/2014/main" id="{FCA26575-892B-A418-0D03-5D75D0DE2C8A}"/>
              </a:ext>
            </a:extLst>
          </p:cNvPr>
          <p:cNvSpPr/>
          <p:nvPr/>
        </p:nvSpPr>
        <p:spPr>
          <a:xfrm>
            <a:off x="6217920" y="3621024"/>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Ben  ·  Ryan O  ·  Sean  ·  Shaun</a:t>
            </a:r>
            <a:endParaRPr lang="en-US" sz="1200">
              <a:latin typeface="Segoe UI"/>
              <a:cs typeface="Segoe UI"/>
            </a:endParaRPr>
          </a:p>
        </p:txBody>
      </p:sp>
      <p:sp>
        <p:nvSpPr>
          <p:cNvPr id="30" name="Shape 28">
            <a:extLst>
              <a:ext uri="{FF2B5EF4-FFF2-40B4-BE49-F238E27FC236}">
                <a16:creationId xmlns:a16="http://schemas.microsoft.com/office/drawing/2014/main" id="{9F627C8A-8F9C-C8D6-63D3-38C336208DA2}"/>
              </a:ext>
            </a:extLst>
          </p:cNvPr>
          <p:cNvSpPr/>
          <p:nvPr/>
        </p:nvSpPr>
        <p:spPr>
          <a:xfrm>
            <a:off x="457200" y="4159214"/>
            <a:ext cx="11247120" cy="530352"/>
          </a:xfrm>
          <a:prstGeom prst="rect">
            <a:avLst/>
          </a:prstGeom>
          <a:solidFill>
            <a:srgbClr val="FFFFFF"/>
          </a:solidFill>
          <a:ln w="6350">
            <a:solidFill>
              <a:srgbClr val="D1D5DB"/>
            </a:solidFill>
            <a:prstDash val="solid"/>
          </a:ln>
        </p:spPr>
        <p:txBody>
          <a:bodyPr/>
          <a:lstStyle/>
          <a:p>
            <a:endParaRPr lang="en-CA"/>
          </a:p>
        </p:txBody>
      </p:sp>
      <p:sp>
        <p:nvSpPr>
          <p:cNvPr id="31" name="Shape 29">
            <a:extLst>
              <a:ext uri="{FF2B5EF4-FFF2-40B4-BE49-F238E27FC236}">
                <a16:creationId xmlns:a16="http://schemas.microsoft.com/office/drawing/2014/main" id="{88974FFE-46A1-35A9-842B-15B593E763B3}"/>
              </a:ext>
            </a:extLst>
          </p:cNvPr>
          <p:cNvSpPr/>
          <p:nvPr/>
        </p:nvSpPr>
        <p:spPr>
          <a:xfrm>
            <a:off x="457200" y="4159214"/>
            <a:ext cx="73152" cy="530352"/>
          </a:xfrm>
          <a:prstGeom prst="rect">
            <a:avLst/>
          </a:prstGeom>
          <a:solidFill>
            <a:srgbClr val="0078D4"/>
          </a:solidFill>
          <a:ln/>
        </p:spPr>
        <p:txBody>
          <a:bodyPr/>
          <a:lstStyle/>
          <a:p>
            <a:endParaRPr lang="en-CA"/>
          </a:p>
        </p:txBody>
      </p:sp>
      <p:sp>
        <p:nvSpPr>
          <p:cNvPr id="32" name="Text 30">
            <a:extLst>
              <a:ext uri="{FF2B5EF4-FFF2-40B4-BE49-F238E27FC236}">
                <a16:creationId xmlns:a16="http://schemas.microsoft.com/office/drawing/2014/main" id="{EAA7F099-9D09-C4BD-6922-EDCBCE2D809C}"/>
              </a:ext>
            </a:extLst>
          </p:cNvPr>
          <p:cNvSpPr/>
          <p:nvPr/>
        </p:nvSpPr>
        <p:spPr>
          <a:xfrm>
            <a:off x="685800" y="4159214"/>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Payments</a:t>
            </a:r>
            <a:endParaRPr lang="en-US" sz="1400"/>
          </a:p>
        </p:txBody>
      </p:sp>
      <p:sp>
        <p:nvSpPr>
          <p:cNvPr id="33" name="Text 31">
            <a:extLst>
              <a:ext uri="{FF2B5EF4-FFF2-40B4-BE49-F238E27FC236}">
                <a16:creationId xmlns:a16="http://schemas.microsoft.com/office/drawing/2014/main" id="{E73A7184-C74C-4032-C788-6406852A5721}"/>
              </a:ext>
            </a:extLst>
          </p:cNvPr>
          <p:cNvSpPr/>
          <p:nvPr/>
        </p:nvSpPr>
        <p:spPr>
          <a:xfrm>
            <a:off x="3108960" y="4159214"/>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Kayal  ·  Andrei</a:t>
            </a:r>
            <a:endParaRPr lang="en-US" sz="1200"/>
          </a:p>
        </p:txBody>
      </p:sp>
      <p:sp>
        <p:nvSpPr>
          <p:cNvPr id="34" name="Text 32">
            <a:extLst>
              <a:ext uri="{FF2B5EF4-FFF2-40B4-BE49-F238E27FC236}">
                <a16:creationId xmlns:a16="http://schemas.microsoft.com/office/drawing/2014/main" id="{D4A6D816-C399-A2B7-8A1A-CB9F93E9084F}"/>
              </a:ext>
            </a:extLst>
          </p:cNvPr>
          <p:cNvSpPr/>
          <p:nvPr/>
        </p:nvSpPr>
        <p:spPr>
          <a:xfrm>
            <a:off x="6217920" y="4159214"/>
            <a:ext cx="5394960" cy="530352"/>
          </a:xfrm>
          <a:prstGeom prst="rect">
            <a:avLst/>
          </a:prstGeom>
          <a:noFill/>
          <a:ln/>
        </p:spPr>
        <p:txBody>
          <a:bodyPr wrap="square" lIns="0" tIns="0" rIns="0" bIns="0" rtlCol="0" anchor="ctr"/>
          <a:lstStyle/>
          <a:p>
            <a:r>
              <a:rPr lang="en-US" sz="1200" i="1">
                <a:solidFill>
                  <a:srgbClr val="6B7280"/>
                </a:solidFill>
                <a:latin typeface="Segoe UI"/>
                <a:ea typeface="Segoe UI" pitchFamily="34" charset="-122"/>
                <a:cs typeface="Segoe UI"/>
              </a:rPr>
              <a:t>Hiren  ·  Naunihal  ·  Enrique  ·  Aakash · Matt</a:t>
            </a:r>
            <a:endParaRPr lang="en-US" sz="1200">
              <a:solidFill>
                <a:srgbClr val="000000"/>
              </a:solidFill>
              <a:latin typeface="Segoe UI"/>
              <a:ea typeface="Segoe UI" pitchFamily="34" charset="-122"/>
              <a:cs typeface="Segoe UI"/>
            </a:endParaRPr>
          </a:p>
        </p:txBody>
      </p:sp>
      <p:sp>
        <p:nvSpPr>
          <p:cNvPr id="35" name="Shape 33">
            <a:extLst>
              <a:ext uri="{FF2B5EF4-FFF2-40B4-BE49-F238E27FC236}">
                <a16:creationId xmlns:a16="http://schemas.microsoft.com/office/drawing/2014/main" id="{DFD60D8C-6EB2-4410-70A2-F59213E60494}"/>
              </a:ext>
            </a:extLst>
          </p:cNvPr>
          <p:cNvSpPr/>
          <p:nvPr/>
        </p:nvSpPr>
        <p:spPr>
          <a:xfrm>
            <a:off x="457200" y="4689566"/>
            <a:ext cx="11247120" cy="530352"/>
          </a:xfrm>
          <a:prstGeom prst="rect">
            <a:avLst/>
          </a:prstGeom>
          <a:solidFill>
            <a:srgbClr val="F3F4F6"/>
          </a:solidFill>
          <a:ln w="6350">
            <a:solidFill>
              <a:srgbClr val="D1D5DB"/>
            </a:solidFill>
            <a:prstDash val="solid"/>
          </a:ln>
        </p:spPr>
        <p:txBody>
          <a:bodyPr/>
          <a:lstStyle/>
          <a:p>
            <a:endParaRPr lang="en-US"/>
          </a:p>
        </p:txBody>
      </p:sp>
      <p:sp>
        <p:nvSpPr>
          <p:cNvPr id="36" name="Shape 34">
            <a:extLst>
              <a:ext uri="{FF2B5EF4-FFF2-40B4-BE49-F238E27FC236}">
                <a16:creationId xmlns:a16="http://schemas.microsoft.com/office/drawing/2014/main" id="{D1CDD7BA-E5D8-D04B-66B7-6607FC5AF6D9}"/>
              </a:ext>
            </a:extLst>
          </p:cNvPr>
          <p:cNvSpPr/>
          <p:nvPr/>
        </p:nvSpPr>
        <p:spPr>
          <a:xfrm>
            <a:off x="457200" y="4689566"/>
            <a:ext cx="73152" cy="530352"/>
          </a:xfrm>
          <a:prstGeom prst="rect">
            <a:avLst/>
          </a:prstGeom>
          <a:solidFill>
            <a:srgbClr val="0078D4"/>
          </a:solidFill>
          <a:ln/>
        </p:spPr>
        <p:txBody>
          <a:bodyPr/>
          <a:lstStyle/>
          <a:p>
            <a:endParaRPr lang="en-US"/>
          </a:p>
        </p:txBody>
      </p:sp>
      <p:sp>
        <p:nvSpPr>
          <p:cNvPr id="37" name="Text 35">
            <a:extLst>
              <a:ext uri="{FF2B5EF4-FFF2-40B4-BE49-F238E27FC236}">
                <a16:creationId xmlns:a16="http://schemas.microsoft.com/office/drawing/2014/main" id="{746484A4-D008-ED4A-A47E-6FA92EEB6B30}"/>
              </a:ext>
            </a:extLst>
          </p:cNvPr>
          <p:cNvSpPr/>
          <p:nvPr/>
        </p:nvSpPr>
        <p:spPr>
          <a:xfrm>
            <a:off x="685800" y="4689566"/>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Data Providers</a:t>
            </a:r>
            <a:endParaRPr lang="en-US" sz="1400"/>
          </a:p>
        </p:txBody>
      </p:sp>
      <p:sp>
        <p:nvSpPr>
          <p:cNvPr id="38" name="Text 36">
            <a:extLst>
              <a:ext uri="{FF2B5EF4-FFF2-40B4-BE49-F238E27FC236}">
                <a16:creationId xmlns:a16="http://schemas.microsoft.com/office/drawing/2014/main" id="{180AE4B1-B948-7043-EE5E-D2050D308ED3}"/>
              </a:ext>
            </a:extLst>
          </p:cNvPr>
          <p:cNvSpPr/>
          <p:nvPr/>
        </p:nvSpPr>
        <p:spPr>
          <a:xfrm>
            <a:off x="3108960" y="4689566"/>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Haris</a:t>
            </a:r>
            <a:endParaRPr lang="en-US" sz="1200"/>
          </a:p>
        </p:txBody>
      </p:sp>
      <p:sp>
        <p:nvSpPr>
          <p:cNvPr id="39" name="Text 37">
            <a:extLst>
              <a:ext uri="{FF2B5EF4-FFF2-40B4-BE49-F238E27FC236}">
                <a16:creationId xmlns:a16="http://schemas.microsoft.com/office/drawing/2014/main" id="{29A4DC0B-8C79-EAA7-E471-1E886AA21A72}"/>
              </a:ext>
            </a:extLst>
          </p:cNvPr>
          <p:cNvSpPr/>
          <p:nvPr/>
        </p:nvSpPr>
        <p:spPr>
          <a:xfrm>
            <a:off x="6217920" y="4689566"/>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Bahadir  ·  Petar  ·  Naveen  ·  Pratik</a:t>
            </a:r>
            <a:endParaRPr lang="en-US" sz="1200"/>
          </a:p>
        </p:txBody>
      </p:sp>
      <p:sp>
        <p:nvSpPr>
          <p:cNvPr id="40" name="Shape 38">
            <a:extLst>
              <a:ext uri="{FF2B5EF4-FFF2-40B4-BE49-F238E27FC236}">
                <a16:creationId xmlns:a16="http://schemas.microsoft.com/office/drawing/2014/main" id="{1CB70DB5-D1D7-53BA-164D-BE9CAA461C65}"/>
              </a:ext>
            </a:extLst>
          </p:cNvPr>
          <p:cNvSpPr/>
          <p:nvPr/>
        </p:nvSpPr>
        <p:spPr>
          <a:xfrm>
            <a:off x="457200" y="5219918"/>
            <a:ext cx="11247120" cy="530352"/>
          </a:xfrm>
          <a:prstGeom prst="rect">
            <a:avLst/>
          </a:prstGeom>
          <a:solidFill>
            <a:srgbClr val="FFFFFF"/>
          </a:solidFill>
          <a:ln w="6350">
            <a:solidFill>
              <a:srgbClr val="D1D5DB"/>
            </a:solidFill>
            <a:prstDash val="solid"/>
          </a:ln>
        </p:spPr>
        <p:txBody>
          <a:bodyPr/>
          <a:lstStyle/>
          <a:p>
            <a:endParaRPr lang="en-CA"/>
          </a:p>
        </p:txBody>
      </p:sp>
      <p:sp>
        <p:nvSpPr>
          <p:cNvPr id="41" name="Shape 39">
            <a:extLst>
              <a:ext uri="{FF2B5EF4-FFF2-40B4-BE49-F238E27FC236}">
                <a16:creationId xmlns:a16="http://schemas.microsoft.com/office/drawing/2014/main" id="{7C7A10F2-6F1A-5F5A-55B3-B8157290F0B4}"/>
              </a:ext>
            </a:extLst>
          </p:cNvPr>
          <p:cNvSpPr/>
          <p:nvPr/>
        </p:nvSpPr>
        <p:spPr>
          <a:xfrm>
            <a:off x="457200" y="5219918"/>
            <a:ext cx="73152" cy="530352"/>
          </a:xfrm>
          <a:prstGeom prst="rect">
            <a:avLst/>
          </a:prstGeom>
          <a:solidFill>
            <a:srgbClr val="0078D4"/>
          </a:solidFill>
          <a:ln/>
        </p:spPr>
        <p:txBody>
          <a:bodyPr/>
          <a:lstStyle/>
          <a:p>
            <a:endParaRPr lang="en-CA"/>
          </a:p>
        </p:txBody>
      </p:sp>
      <p:sp>
        <p:nvSpPr>
          <p:cNvPr id="42" name="Text 40">
            <a:extLst>
              <a:ext uri="{FF2B5EF4-FFF2-40B4-BE49-F238E27FC236}">
                <a16:creationId xmlns:a16="http://schemas.microsoft.com/office/drawing/2014/main" id="{A799BB8E-D6B8-946F-F4BB-7530EF1A5EB8}"/>
              </a:ext>
            </a:extLst>
          </p:cNvPr>
          <p:cNvSpPr/>
          <p:nvPr/>
        </p:nvSpPr>
        <p:spPr>
          <a:xfrm>
            <a:off x="685800" y="5219918"/>
            <a:ext cx="2194560" cy="530352"/>
          </a:xfrm>
          <a:prstGeom prst="rect">
            <a:avLst/>
          </a:prstGeom>
          <a:noFill/>
          <a:ln/>
        </p:spPr>
        <p:txBody>
          <a:bodyPr wrap="square" lIns="0" tIns="0" rIns="0" bIns="0" rtlCol="0" anchor="ctr"/>
          <a:lstStyle/>
          <a:p>
            <a:pPr marL="0" indent="0">
              <a:buNone/>
            </a:pPr>
            <a:r>
              <a:rPr lang="en-US" sz="1400" b="1">
                <a:solidFill>
                  <a:srgbClr val="0B2545"/>
                </a:solidFill>
                <a:latin typeface="Segoe UI Semibold" pitchFamily="34" charset="0"/>
                <a:ea typeface="Segoe UI Semibold" pitchFamily="34" charset="-122"/>
                <a:cs typeface="Segoe UI Semibold" pitchFamily="34" charset="-120"/>
              </a:rPr>
              <a:t>Private Equity</a:t>
            </a:r>
            <a:endParaRPr lang="en-US" sz="1400"/>
          </a:p>
        </p:txBody>
      </p:sp>
      <p:sp>
        <p:nvSpPr>
          <p:cNvPr id="43" name="Text 41">
            <a:extLst>
              <a:ext uri="{FF2B5EF4-FFF2-40B4-BE49-F238E27FC236}">
                <a16:creationId xmlns:a16="http://schemas.microsoft.com/office/drawing/2014/main" id="{EEDDB329-7969-2530-2355-0EA142347D4A}"/>
              </a:ext>
            </a:extLst>
          </p:cNvPr>
          <p:cNvSpPr/>
          <p:nvPr/>
        </p:nvSpPr>
        <p:spPr>
          <a:xfrm>
            <a:off x="3108960" y="5219918"/>
            <a:ext cx="2834640" cy="530352"/>
          </a:xfrm>
          <a:prstGeom prst="rect">
            <a:avLst/>
          </a:prstGeom>
          <a:noFill/>
          <a:ln/>
        </p:spPr>
        <p:txBody>
          <a:bodyPr wrap="square" lIns="0" tIns="0" rIns="0" bIns="0" rtlCol="0" anchor="ctr"/>
          <a:lstStyle/>
          <a:p>
            <a:pPr marL="0" indent="0">
              <a:buNone/>
            </a:pPr>
            <a:r>
              <a:rPr lang="en-US" sz="1200" i="1">
                <a:solidFill>
                  <a:srgbClr val="6B7280"/>
                </a:solidFill>
                <a:latin typeface="Segoe UI" pitchFamily="34" charset="0"/>
                <a:ea typeface="Segoe UI" pitchFamily="34" charset="-122"/>
                <a:cs typeface="Segoe UI" pitchFamily="34" charset="-120"/>
              </a:rPr>
              <a:t>Tanya</a:t>
            </a:r>
            <a:endParaRPr lang="en-US" sz="1200"/>
          </a:p>
        </p:txBody>
      </p:sp>
      <p:sp>
        <p:nvSpPr>
          <p:cNvPr id="44" name="Text 42">
            <a:extLst>
              <a:ext uri="{FF2B5EF4-FFF2-40B4-BE49-F238E27FC236}">
                <a16:creationId xmlns:a16="http://schemas.microsoft.com/office/drawing/2014/main" id="{FC101698-F630-405E-B771-12CA177AF45E}"/>
              </a:ext>
            </a:extLst>
          </p:cNvPr>
          <p:cNvSpPr/>
          <p:nvPr/>
        </p:nvSpPr>
        <p:spPr>
          <a:xfrm>
            <a:off x="6217920" y="5219918"/>
            <a:ext cx="5394960" cy="530352"/>
          </a:xfrm>
          <a:prstGeom prst="rect">
            <a:avLst/>
          </a:prstGeom>
          <a:noFill/>
          <a:ln/>
        </p:spPr>
        <p:txBody>
          <a:bodyPr wrap="square" lIns="0" tIns="0" rIns="0" bIns="0" rtlCol="0" anchor="ctr"/>
          <a:lstStyle/>
          <a:p>
            <a:pPr marL="0" indent="0">
              <a:buNone/>
            </a:pPr>
            <a:r>
              <a:rPr lang="en-US" sz="1200" i="1">
                <a:solidFill>
                  <a:srgbClr val="6B7280"/>
                </a:solidFill>
                <a:latin typeface="Segoe UI"/>
                <a:ea typeface="Segoe UI" pitchFamily="34" charset="-122"/>
                <a:cs typeface="Segoe UI"/>
              </a:rPr>
              <a:t>Leroy  ·  Ana  ·  Ni  ·  Amit</a:t>
            </a:r>
            <a:endParaRPr lang="en-US" sz="1200"/>
          </a:p>
        </p:txBody>
      </p:sp>
      <p:sp>
        <p:nvSpPr>
          <p:cNvPr id="45" name="Text 43">
            <a:extLst>
              <a:ext uri="{FF2B5EF4-FFF2-40B4-BE49-F238E27FC236}">
                <a16:creationId xmlns:a16="http://schemas.microsoft.com/office/drawing/2014/main" id="{506408AA-63AE-904C-4662-F2AEAA511310}"/>
              </a:ext>
            </a:extLst>
          </p:cNvPr>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
        <p:nvSpPr>
          <p:cNvPr id="46" name="Text 44">
            <a:extLst>
              <a:ext uri="{FF2B5EF4-FFF2-40B4-BE49-F238E27FC236}">
                <a16:creationId xmlns:a16="http://schemas.microsoft.com/office/drawing/2014/main" id="{1A166B95-D907-0562-20D8-137DCA747D77}"/>
              </a:ext>
            </a:extLst>
          </p:cNvPr>
          <p:cNvSpPr/>
          <p:nvPr/>
        </p:nvSpPr>
        <p:spPr>
          <a:xfrm>
            <a:off x="10972800" y="6473952"/>
            <a:ext cx="731520" cy="274320"/>
          </a:xfrm>
          <a:prstGeom prst="rect">
            <a:avLst/>
          </a:prstGeom>
          <a:noFill/>
          <a:ln/>
        </p:spPr>
        <p:txBody>
          <a:bodyPr wrap="square" lIns="0" tIns="0" rIns="0" bIns="0" rtlCol="0" anchor="ctr"/>
          <a:lstStyle/>
          <a:p>
            <a:pPr marL="0" indent="0" algn="r">
              <a:buNone/>
            </a:pPr>
            <a:r>
              <a:rPr lang="en-US" sz="900">
                <a:solidFill>
                  <a:srgbClr val="6B7280"/>
                </a:solidFill>
                <a:latin typeface="Segoe UI" pitchFamily="34" charset="0"/>
                <a:ea typeface="Segoe UI" pitchFamily="34" charset="-122"/>
                <a:cs typeface="Segoe UI" pitchFamily="34" charset="-120"/>
              </a:rPr>
              <a:t>4</a:t>
            </a:r>
            <a:endParaRPr lang="en-US" sz="900"/>
          </a:p>
        </p:txBody>
      </p:sp>
    </p:spTree>
    <p:extLst>
      <p:ext uri="{BB962C8B-B14F-4D97-AF65-F5344CB8AC3E}">
        <p14:creationId xmlns:p14="http://schemas.microsoft.com/office/powerpoint/2010/main" val="1483487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828800" y="3657600"/>
            <a:ext cx="4572000" cy="4572000"/>
          </a:xfrm>
          <a:prstGeom prst="ellipse">
            <a:avLst/>
          </a:prstGeom>
          <a:solidFill>
            <a:srgbClr val="50B0F0">
              <a:alpha val="15000"/>
            </a:srgbClr>
          </a:solidFill>
          <a:ln/>
        </p:spPr>
        <p:txBody>
          <a:bodyPr/>
          <a:lstStyle/>
          <a:p>
            <a:endParaRPr lang="en-CA"/>
          </a:p>
        </p:txBody>
      </p:sp>
      <p:sp>
        <p:nvSpPr>
          <p:cNvPr id="3" name="Shape 1"/>
          <p:cNvSpPr/>
          <p:nvPr/>
        </p:nvSpPr>
        <p:spPr>
          <a:xfrm>
            <a:off x="9875520" y="-1371600"/>
            <a:ext cx="3657600" cy="3657600"/>
          </a:xfrm>
          <a:prstGeom prst="ellipse">
            <a:avLst/>
          </a:prstGeom>
          <a:solidFill>
            <a:srgbClr val="00BCF2">
              <a:alpha val="15000"/>
            </a:srgbClr>
          </a:solidFill>
          <a:ln/>
        </p:spPr>
        <p:txBody>
          <a:bodyPr/>
          <a:lstStyle/>
          <a:p>
            <a:endParaRPr lang="en-CA"/>
          </a:p>
        </p:txBody>
      </p:sp>
      <p:sp>
        <p:nvSpPr>
          <p:cNvPr id="4" name="Text 2"/>
          <p:cNvSpPr/>
          <p:nvPr/>
        </p:nvSpPr>
        <p:spPr>
          <a:xfrm>
            <a:off x="640080" y="777240"/>
            <a:ext cx="10058400" cy="822960"/>
          </a:xfrm>
          <a:prstGeom prst="rect">
            <a:avLst/>
          </a:prstGeom>
          <a:noFill/>
          <a:ln/>
        </p:spPr>
        <p:txBody>
          <a:bodyPr wrap="square" lIns="0" tIns="0" rIns="0" bIns="0" rtlCol="0" anchor="ctr"/>
          <a:lstStyle/>
          <a:p>
            <a:pPr marL="0" indent="0">
              <a:buNone/>
            </a:pPr>
            <a:r>
              <a:rPr lang="en-US" sz="4400" b="1">
                <a:solidFill>
                  <a:srgbClr val="FFFFFF"/>
                </a:solidFill>
                <a:latin typeface="Segoe UI Semibold" pitchFamily="34" charset="0"/>
                <a:ea typeface="Segoe UI Semibold" pitchFamily="34" charset="-122"/>
                <a:cs typeface="Segoe UI Semibold" pitchFamily="34" charset="-120"/>
              </a:rPr>
              <a:t>Let’s go.</a:t>
            </a:r>
            <a:endParaRPr lang="en-US" sz="4400"/>
          </a:p>
        </p:txBody>
      </p:sp>
      <p:sp>
        <p:nvSpPr>
          <p:cNvPr id="5" name="Shape 3"/>
          <p:cNvSpPr/>
          <p:nvPr/>
        </p:nvSpPr>
        <p:spPr>
          <a:xfrm>
            <a:off x="685800" y="1691640"/>
            <a:ext cx="640080" cy="54864"/>
          </a:xfrm>
          <a:prstGeom prst="rect">
            <a:avLst/>
          </a:prstGeom>
          <a:solidFill>
            <a:srgbClr val="00BCF2"/>
          </a:solidFill>
          <a:ln/>
        </p:spPr>
        <p:txBody>
          <a:bodyPr/>
          <a:lstStyle/>
          <a:p>
            <a:endParaRPr lang="en-CA"/>
          </a:p>
        </p:txBody>
      </p:sp>
      <p:sp>
        <p:nvSpPr>
          <p:cNvPr id="6" name="Shape 4"/>
          <p:cNvSpPr/>
          <p:nvPr/>
        </p:nvSpPr>
        <p:spPr>
          <a:xfrm>
            <a:off x="1188720" y="2508183"/>
            <a:ext cx="9784080" cy="0"/>
          </a:xfrm>
          <a:prstGeom prst="line">
            <a:avLst/>
          </a:prstGeom>
          <a:noFill/>
          <a:ln w="25400">
            <a:solidFill>
              <a:srgbClr val="50B0F0"/>
            </a:solidFill>
            <a:prstDash val="solid"/>
          </a:ln>
        </p:spPr>
        <p:txBody>
          <a:bodyPr/>
          <a:lstStyle/>
          <a:p>
            <a:endParaRPr lang="en-CA"/>
          </a:p>
        </p:txBody>
      </p:sp>
      <p:sp>
        <p:nvSpPr>
          <p:cNvPr id="7" name="Shape 5"/>
          <p:cNvSpPr/>
          <p:nvPr/>
        </p:nvSpPr>
        <p:spPr>
          <a:xfrm>
            <a:off x="1751076" y="2361879"/>
            <a:ext cx="292608" cy="292608"/>
          </a:xfrm>
          <a:prstGeom prst="ellipse">
            <a:avLst/>
          </a:prstGeom>
          <a:solidFill>
            <a:srgbClr val="00BCF2"/>
          </a:solidFill>
          <a:ln w="38100">
            <a:solidFill>
              <a:srgbClr val="0B2545"/>
            </a:solidFill>
            <a:prstDash val="solid"/>
          </a:ln>
        </p:spPr>
        <p:txBody>
          <a:bodyPr/>
          <a:lstStyle/>
          <a:p>
            <a:endParaRPr lang="en-CA"/>
          </a:p>
        </p:txBody>
      </p:sp>
      <p:sp>
        <p:nvSpPr>
          <p:cNvPr id="8" name="Text 6"/>
          <p:cNvSpPr/>
          <p:nvPr/>
        </p:nvSpPr>
        <p:spPr>
          <a:xfrm>
            <a:off x="640080" y="2782503"/>
            <a:ext cx="2514600" cy="320040"/>
          </a:xfrm>
          <a:prstGeom prst="rect">
            <a:avLst/>
          </a:prstGeom>
          <a:noFill/>
          <a:ln/>
        </p:spPr>
        <p:txBody>
          <a:bodyPr wrap="square" lIns="0" tIns="0" rIns="0" bIns="0" rtlCol="0" anchor="ctr"/>
          <a:lstStyle/>
          <a:p>
            <a:pPr marL="0" indent="0" algn="ctr">
              <a:buNone/>
            </a:pPr>
            <a:r>
              <a:rPr lang="en-US" sz="1600" b="1">
                <a:solidFill>
                  <a:srgbClr val="FFFFFF"/>
                </a:solidFill>
                <a:latin typeface="Segoe UI Semibold" pitchFamily="34" charset="0"/>
                <a:ea typeface="Segoe UI Semibold" pitchFamily="34" charset="-122"/>
                <a:cs typeface="Segoe UI Semibold" pitchFamily="34" charset="-120"/>
              </a:rPr>
              <a:t>Prework</a:t>
            </a:r>
            <a:endParaRPr lang="en-US" sz="1600"/>
          </a:p>
        </p:txBody>
      </p:sp>
      <p:sp>
        <p:nvSpPr>
          <p:cNvPr id="9" name="Text 7"/>
          <p:cNvSpPr/>
          <p:nvPr/>
        </p:nvSpPr>
        <p:spPr>
          <a:xfrm>
            <a:off x="640080" y="3129975"/>
            <a:ext cx="2514600" cy="274320"/>
          </a:xfrm>
          <a:prstGeom prst="rect">
            <a:avLst/>
          </a:prstGeom>
          <a:noFill/>
          <a:ln/>
        </p:spPr>
        <p:txBody>
          <a:bodyPr wrap="square" lIns="0" tIns="0" rIns="0" bIns="0" rtlCol="0" anchor="ctr"/>
          <a:lstStyle/>
          <a:p>
            <a:pPr marL="0" indent="0" algn="ctr">
              <a:buNone/>
            </a:pPr>
            <a:r>
              <a:rPr lang="en-US" sz="1200">
                <a:solidFill>
                  <a:srgbClr val="00BCF2"/>
                </a:solidFill>
                <a:latin typeface="Segoe UI" pitchFamily="34" charset="0"/>
                <a:ea typeface="Segoe UI" pitchFamily="34" charset="-122"/>
                <a:cs typeface="Segoe UI" pitchFamily="34" charset="-120"/>
              </a:rPr>
              <a:t>Before June 25</a:t>
            </a:r>
            <a:endParaRPr lang="en-US" sz="1200"/>
          </a:p>
        </p:txBody>
      </p:sp>
      <p:sp>
        <p:nvSpPr>
          <p:cNvPr id="10" name="Text 8"/>
          <p:cNvSpPr/>
          <p:nvPr/>
        </p:nvSpPr>
        <p:spPr>
          <a:xfrm>
            <a:off x="731520" y="3422583"/>
            <a:ext cx="2331720" cy="548640"/>
          </a:xfrm>
          <a:prstGeom prst="rect">
            <a:avLst/>
          </a:prstGeom>
          <a:noFill/>
          <a:ln/>
        </p:spPr>
        <p:txBody>
          <a:bodyPr wrap="square" lIns="0" tIns="0" rIns="0" bIns="0" rtlCol="0" anchor="t"/>
          <a:lstStyle/>
          <a:p>
            <a:pPr marL="0" indent="0" algn="ctr">
              <a:buNone/>
            </a:pPr>
            <a:r>
              <a:rPr lang="en-US" sz="1100">
                <a:solidFill>
                  <a:srgbClr val="50B0F0"/>
                </a:solidFill>
                <a:latin typeface="Segoe UI" pitchFamily="34" charset="0"/>
                <a:ea typeface="Segoe UI" pitchFamily="34" charset="-122"/>
                <a:cs typeface="Segoe UI" pitchFamily="34" charset="-120"/>
              </a:rPr>
              <a:t>Get set up and unblocked</a:t>
            </a:r>
            <a:endParaRPr lang="en-US" sz="1100"/>
          </a:p>
        </p:txBody>
      </p:sp>
      <p:sp>
        <p:nvSpPr>
          <p:cNvPr id="11" name="Shape 9"/>
          <p:cNvSpPr/>
          <p:nvPr/>
        </p:nvSpPr>
        <p:spPr>
          <a:xfrm>
            <a:off x="4539996" y="2361879"/>
            <a:ext cx="292608" cy="292608"/>
          </a:xfrm>
          <a:prstGeom prst="ellipse">
            <a:avLst/>
          </a:prstGeom>
          <a:solidFill>
            <a:srgbClr val="00B050"/>
          </a:solidFill>
          <a:ln w="38100">
            <a:solidFill>
              <a:srgbClr val="0B2545"/>
            </a:solidFill>
            <a:prstDash val="solid"/>
          </a:ln>
        </p:spPr>
        <p:txBody>
          <a:bodyPr/>
          <a:lstStyle/>
          <a:p>
            <a:endParaRPr lang="en-CA"/>
          </a:p>
        </p:txBody>
      </p:sp>
      <p:sp>
        <p:nvSpPr>
          <p:cNvPr id="12" name="Text 10"/>
          <p:cNvSpPr/>
          <p:nvPr/>
        </p:nvSpPr>
        <p:spPr>
          <a:xfrm>
            <a:off x="3429000" y="2782503"/>
            <a:ext cx="2514600" cy="320040"/>
          </a:xfrm>
          <a:prstGeom prst="rect">
            <a:avLst/>
          </a:prstGeom>
          <a:noFill/>
          <a:ln/>
        </p:spPr>
        <p:txBody>
          <a:bodyPr wrap="square" lIns="0" tIns="0" rIns="0" bIns="0" rtlCol="0" anchor="ctr"/>
          <a:lstStyle/>
          <a:p>
            <a:pPr marL="0" indent="0" algn="ctr">
              <a:buNone/>
            </a:pPr>
            <a:r>
              <a:rPr lang="en-US" sz="1600" b="1">
                <a:solidFill>
                  <a:srgbClr val="FFFFFF"/>
                </a:solidFill>
                <a:latin typeface="Segoe UI Semibold" pitchFamily="34" charset="0"/>
                <a:ea typeface="Segoe UI Semibold" pitchFamily="34" charset="-122"/>
                <a:cs typeface="Segoe UI Semibold" pitchFamily="34" charset="-120"/>
              </a:rPr>
              <a:t>Kickoff</a:t>
            </a:r>
            <a:endParaRPr lang="en-US" sz="1600"/>
          </a:p>
        </p:txBody>
      </p:sp>
      <p:sp>
        <p:nvSpPr>
          <p:cNvPr id="13" name="Text 11"/>
          <p:cNvSpPr/>
          <p:nvPr/>
        </p:nvSpPr>
        <p:spPr>
          <a:xfrm>
            <a:off x="3429000" y="3129975"/>
            <a:ext cx="2514600" cy="274320"/>
          </a:xfrm>
          <a:prstGeom prst="rect">
            <a:avLst/>
          </a:prstGeom>
          <a:noFill/>
          <a:ln/>
        </p:spPr>
        <p:txBody>
          <a:bodyPr wrap="square" lIns="0" tIns="0" rIns="0" bIns="0" rtlCol="0" anchor="ctr"/>
          <a:lstStyle/>
          <a:p>
            <a:pPr marL="0" indent="0" algn="ctr">
              <a:buNone/>
            </a:pPr>
            <a:r>
              <a:rPr lang="en-US" sz="1200" b="1">
                <a:solidFill>
                  <a:srgbClr val="00B050"/>
                </a:solidFill>
                <a:latin typeface="Segoe UI" pitchFamily="34" charset="0"/>
                <a:ea typeface="Segoe UI" pitchFamily="34" charset="-122"/>
                <a:cs typeface="Segoe UI" pitchFamily="34" charset="-120"/>
              </a:rPr>
              <a:t>June 25</a:t>
            </a:r>
            <a:endParaRPr lang="en-US" sz="1200" b="1">
              <a:solidFill>
                <a:srgbClr val="00B050"/>
              </a:solidFill>
            </a:endParaRPr>
          </a:p>
        </p:txBody>
      </p:sp>
      <p:sp>
        <p:nvSpPr>
          <p:cNvPr id="14" name="Text 12"/>
          <p:cNvSpPr/>
          <p:nvPr/>
        </p:nvSpPr>
        <p:spPr>
          <a:xfrm>
            <a:off x="3520440" y="3422583"/>
            <a:ext cx="2331720" cy="548640"/>
          </a:xfrm>
          <a:prstGeom prst="rect">
            <a:avLst/>
          </a:prstGeom>
          <a:noFill/>
          <a:ln/>
        </p:spPr>
        <p:txBody>
          <a:bodyPr wrap="square" lIns="0" tIns="0" rIns="0" bIns="0" rtlCol="0" anchor="t"/>
          <a:lstStyle/>
          <a:p>
            <a:pPr marL="0" indent="0" algn="ctr">
              <a:buNone/>
            </a:pPr>
            <a:r>
              <a:rPr lang="en-US" sz="1100" b="1">
                <a:solidFill>
                  <a:srgbClr val="00B050"/>
                </a:solidFill>
                <a:latin typeface="Segoe UI" pitchFamily="34" charset="0"/>
                <a:ea typeface="Segoe UI" pitchFamily="34" charset="-122"/>
                <a:cs typeface="Segoe UI" pitchFamily="34" charset="-120"/>
              </a:rPr>
              <a:t>Pods form and start building</a:t>
            </a:r>
            <a:endParaRPr lang="en-US" sz="1100" b="1">
              <a:solidFill>
                <a:srgbClr val="00B050"/>
              </a:solidFill>
            </a:endParaRPr>
          </a:p>
        </p:txBody>
      </p:sp>
      <p:sp>
        <p:nvSpPr>
          <p:cNvPr id="15" name="Shape 13"/>
          <p:cNvSpPr/>
          <p:nvPr/>
        </p:nvSpPr>
        <p:spPr>
          <a:xfrm>
            <a:off x="7328916" y="2361879"/>
            <a:ext cx="292608" cy="292608"/>
          </a:xfrm>
          <a:prstGeom prst="ellipse">
            <a:avLst/>
          </a:prstGeom>
          <a:solidFill>
            <a:srgbClr val="00BCF2"/>
          </a:solidFill>
          <a:ln w="38100">
            <a:solidFill>
              <a:srgbClr val="0B2545"/>
            </a:solidFill>
            <a:prstDash val="solid"/>
          </a:ln>
        </p:spPr>
        <p:txBody>
          <a:bodyPr/>
          <a:lstStyle/>
          <a:p>
            <a:endParaRPr lang="en-CA"/>
          </a:p>
        </p:txBody>
      </p:sp>
      <p:sp>
        <p:nvSpPr>
          <p:cNvPr id="16" name="Text 14"/>
          <p:cNvSpPr/>
          <p:nvPr/>
        </p:nvSpPr>
        <p:spPr>
          <a:xfrm>
            <a:off x="6217920" y="2782503"/>
            <a:ext cx="2514600" cy="320040"/>
          </a:xfrm>
          <a:prstGeom prst="rect">
            <a:avLst/>
          </a:prstGeom>
          <a:noFill/>
          <a:ln/>
        </p:spPr>
        <p:txBody>
          <a:bodyPr wrap="square" lIns="0" tIns="0" rIns="0" bIns="0" rtlCol="0" anchor="ctr"/>
          <a:lstStyle/>
          <a:p>
            <a:pPr marL="0" indent="0" algn="ctr">
              <a:buNone/>
            </a:pPr>
            <a:r>
              <a:rPr lang="en-US" sz="1600" b="1">
                <a:solidFill>
                  <a:srgbClr val="FFFFFF"/>
                </a:solidFill>
                <a:latin typeface="Segoe UI Semibold" pitchFamily="34" charset="0"/>
                <a:ea typeface="Segoe UI Semibold" pitchFamily="34" charset="-122"/>
                <a:cs typeface="Segoe UI Semibold" pitchFamily="34" charset="-120"/>
              </a:rPr>
              <a:t>Build</a:t>
            </a:r>
            <a:endParaRPr lang="en-US" sz="1600"/>
          </a:p>
        </p:txBody>
      </p:sp>
      <p:sp>
        <p:nvSpPr>
          <p:cNvPr id="17" name="Text 15"/>
          <p:cNvSpPr/>
          <p:nvPr/>
        </p:nvSpPr>
        <p:spPr>
          <a:xfrm>
            <a:off x="6217920" y="3129975"/>
            <a:ext cx="2514600" cy="274320"/>
          </a:xfrm>
          <a:prstGeom prst="rect">
            <a:avLst/>
          </a:prstGeom>
          <a:noFill/>
          <a:ln/>
        </p:spPr>
        <p:txBody>
          <a:bodyPr wrap="square" lIns="0" tIns="0" rIns="0" bIns="0" rtlCol="0" anchor="ctr"/>
          <a:lstStyle/>
          <a:p>
            <a:pPr marL="0" indent="0" algn="ctr">
              <a:buNone/>
            </a:pPr>
            <a:r>
              <a:rPr lang="en-US" sz="1200">
                <a:solidFill>
                  <a:srgbClr val="00BCF2"/>
                </a:solidFill>
                <a:latin typeface="Segoe UI" pitchFamily="34" charset="0"/>
                <a:ea typeface="Segoe UI" pitchFamily="34" charset="-122"/>
                <a:cs typeface="Segoe UI" pitchFamily="34" charset="-120"/>
              </a:rPr>
              <a:t>~2 weeks</a:t>
            </a:r>
            <a:endParaRPr lang="en-US" sz="1200"/>
          </a:p>
        </p:txBody>
      </p:sp>
      <p:sp>
        <p:nvSpPr>
          <p:cNvPr id="18" name="Text 16"/>
          <p:cNvSpPr/>
          <p:nvPr/>
        </p:nvSpPr>
        <p:spPr>
          <a:xfrm>
            <a:off x="6309360" y="3422583"/>
            <a:ext cx="2331720" cy="548640"/>
          </a:xfrm>
          <a:prstGeom prst="rect">
            <a:avLst/>
          </a:prstGeom>
          <a:noFill/>
          <a:ln/>
        </p:spPr>
        <p:txBody>
          <a:bodyPr wrap="square" lIns="0" tIns="0" rIns="0" bIns="0" rtlCol="0" anchor="t"/>
          <a:lstStyle/>
          <a:p>
            <a:pPr marL="0" indent="0" algn="ctr">
              <a:buNone/>
            </a:pPr>
            <a:r>
              <a:rPr lang="en-US" sz="1100">
                <a:solidFill>
                  <a:srgbClr val="50B0F0"/>
                </a:solidFill>
                <a:latin typeface="Segoe UI" pitchFamily="34" charset="0"/>
                <a:ea typeface="Segoe UI" pitchFamily="34" charset="-122"/>
                <a:cs typeface="Segoe UI" pitchFamily="34" charset="-120"/>
              </a:rPr>
              <a:t>Agentic workflows per subdivision</a:t>
            </a:r>
            <a:endParaRPr lang="en-US" sz="1100"/>
          </a:p>
        </p:txBody>
      </p:sp>
      <p:sp>
        <p:nvSpPr>
          <p:cNvPr id="19" name="Shape 17"/>
          <p:cNvSpPr/>
          <p:nvPr/>
        </p:nvSpPr>
        <p:spPr>
          <a:xfrm>
            <a:off x="10117836" y="2361879"/>
            <a:ext cx="292608" cy="292608"/>
          </a:xfrm>
          <a:prstGeom prst="ellipse">
            <a:avLst/>
          </a:prstGeom>
          <a:solidFill>
            <a:srgbClr val="00BCF2"/>
          </a:solidFill>
          <a:ln w="38100">
            <a:solidFill>
              <a:srgbClr val="0B2545"/>
            </a:solidFill>
            <a:prstDash val="solid"/>
          </a:ln>
        </p:spPr>
        <p:txBody>
          <a:bodyPr/>
          <a:lstStyle/>
          <a:p>
            <a:endParaRPr lang="en-CA"/>
          </a:p>
        </p:txBody>
      </p:sp>
      <p:sp>
        <p:nvSpPr>
          <p:cNvPr id="20" name="Text 18"/>
          <p:cNvSpPr/>
          <p:nvPr/>
        </p:nvSpPr>
        <p:spPr>
          <a:xfrm>
            <a:off x="9006840" y="2782503"/>
            <a:ext cx="2514600" cy="320040"/>
          </a:xfrm>
          <a:prstGeom prst="rect">
            <a:avLst/>
          </a:prstGeom>
          <a:noFill/>
          <a:ln/>
        </p:spPr>
        <p:txBody>
          <a:bodyPr wrap="square" lIns="0" tIns="0" rIns="0" bIns="0" rtlCol="0" anchor="ctr"/>
          <a:lstStyle/>
          <a:p>
            <a:pPr marL="0" indent="0" algn="ctr">
              <a:buNone/>
            </a:pPr>
            <a:r>
              <a:rPr lang="en-US" sz="1600" b="1">
                <a:solidFill>
                  <a:srgbClr val="FFFFFF"/>
                </a:solidFill>
                <a:latin typeface="Segoe UI Semibold" pitchFamily="34" charset="0"/>
                <a:ea typeface="Segoe UI Semibold" pitchFamily="34" charset="-122"/>
                <a:cs typeface="Segoe UI Semibold" pitchFamily="34" charset="-120"/>
              </a:rPr>
              <a:t>Readout</a:t>
            </a:r>
            <a:endParaRPr lang="en-US" sz="1600"/>
          </a:p>
        </p:txBody>
      </p:sp>
      <p:sp>
        <p:nvSpPr>
          <p:cNvPr id="21" name="Text 19"/>
          <p:cNvSpPr/>
          <p:nvPr/>
        </p:nvSpPr>
        <p:spPr>
          <a:xfrm>
            <a:off x="9006840" y="3129975"/>
            <a:ext cx="2514600" cy="274320"/>
          </a:xfrm>
          <a:prstGeom prst="rect">
            <a:avLst/>
          </a:prstGeom>
          <a:noFill/>
          <a:ln/>
        </p:spPr>
        <p:txBody>
          <a:bodyPr wrap="square" lIns="0" tIns="0" rIns="0" bIns="0" rtlCol="0" anchor="ctr"/>
          <a:lstStyle/>
          <a:p>
            <a:pPr marL="0" indent="0" algn="ctr">
              <a:buNone/>
            </a:pPr>
            <a:r>
              <a:rPr lang="en-US" sz="1200">
                <a:solidFill>
                  <a:srgbClr val="00BCF2"/>
                </a:solidFill>
                <a:latin typeface="Segoe UI" pitchFamily="34" charset="0"/>
                <a:ea typeface="Segoe UI" pitchFamily="34" charset="-122"/>
                <a:cs typeface="Segoe UI" pitchFamily="34" charset="-120"/>
              </a:rPr>
              <a:t>July 9</a:t>
            </a:r>
            <a:endParaRPr lang="en-US" sz="1200"/>
          </a:p>
        </p:txBody>
      </p:sp>
      <p:sp>
        <p:nvSpPr>
          <p:cNvPr id="22" name="Text 20"/>
          <p:cNvSpPr/>
          <p:nvPr/>
        </p:nvSpPr>
        <p:spPr>
          <a:xfrm>
            <a:off x="9098280" y="3422583"/>
            <a:ext cx="2331720" cy="548640"/>
          </a:xfrm>
          <a:prstGeom prst="rect">
            <a:avLst/>
          </a:prstGeom>
          <a:noFill/>
          <a:ln/>
        </p:spPr>
        <p:txBody>
          <a:bodyPr wrap="square" lIns="0" tIns="0" rIns="0" bIns="0" rtlCol="0" anchor="t"/>
          <a:lstStyle/>
          <a:p>
            <a:pPr marL="0" indent="0" algn="ctr">
              <a:buNone/>
            </a:pPr>
            <a:r>
              <a:rPr lang="en-US" sz="1100">
                <a:solidFill>
                  <a:srgbClr val="50B0F0"/>
                </a:solidFill>
                <a:latin typeface="Segoe UI" pitchFamily="34" charset="0"/>
                <a:ea typeface="Segoe UI" pitchFamily="34" charset="-122"/>
                <a:cs typeface="Segoe UI" pitchFamily="34" charset="-120"/>
              </a:rPr>
              <a:t>Demos &amp; best in subdivision</a:t>
            </a:r>
            <a:endParaRPr lang="en-US" sz="1100"/>
          </a:p>
        </p:txBody>
      </p:sp>
      <p:sp>
        <p:nvSpPr>
          <p:cNvPr id="23" name="Text 21"/>
          <p:cNvSpPr/>
          <p:nvPr/>
        </p:nvSpPr>
        <p:spPr>
          <a:xfrm>
            <a:off x="666816" y="3822567"/>
            <a:ext cx="11016649" cy="731520"/>
          </a:xfrm>
          <a:prstGeom prst="rect">
            <a:avLst/>
          </a:prstGeom>
          <a:noFill/>
          <a:ln/>
        </p:spPr>
        <p:txBody>
          <a:bodyPr wrap="square" lIns="0" tIns="0" rIns="0" bIns="0" rtlCol="0" anchor="t"/>
          <a:lstStyle/>
          <a:p>
            <a:r>
              <a:rPr lang="en-US" sz="1500" i="1">
                <a:solidFill>
                  <a:srgbClr val="FFFFFF"/>
                </a:solidFill>
                <a:latin typeface="Segoe UI"/>
                <a:cs typeface="Segoe UI"/>
              </a:rPr>
              <a:t>Break out into your groups to continue Discovery on your assigned Challenge. A few best practices:</a:t>
            </a:r>
            <a:br>
              <a:rPr lang="en-US" sz="1500" i="1">
                <a:latin typeface="Segoe UI"/>
                <a:cs typeface="Segoe UI"/>
              </a:rPr>
            </a:br>
            <a:endParaRPr lang="en-US" sz="1500" i="1">
              <a:latin typeface="Segoe UI"/>
              <a:cs typeface="Segoe UI"/>
            </a:endParaRPr>
          </a:p>
          <a:p>
            <a:pPr marL="342900" indent="-342900">
              <a:buAutoNum type="arabicPeriod"/>
            </a:pPr>
            <a:r>
              <a:rPr lang="en-US" sz="1500" b="1" i="1">
                <a:solidFill>
                  <a:srgbClr val="FFFFFF"/>
                </a:solidFill>
                <a:latin typeface="Segoe UI"/>
                <a:cs typeface="Segoe UI"/>
              </a:rPr>
              <a:t>Remain closely aligned with your Industry Advisor</a:t>
            </a:r>
            <a:r>
              <a:rPr lang="en-US" sz="1500" i="1">
                <a:solidFill>
                  <a:srgbClr val="FFFFFF"/>
                </a:solidFill>
                <a:latin typeface="Segoe UI"/>
                <a:cs typeface="Segoe UI"/>
              </a:rPr>
              <a:t>; at least two check-ins are recommended between June 25th and July 8th to ensure the solution being developed is aligned with the industry challenge</a:t>
            </a:r>
            <a:br>
              <a:rPr lang="en-US" sz="1500" i="1">
                <a:latin typeface="Segoe UI"/>
                <a:cs typeface="Segoe UI"/>
              </a:rPr>
            </a:br>
            <a:r>
              <a:rPr lang="en-US" sz="1500" i="1">
                <a:solidFill>
                  <a:srgbClr val="FFFFFF"/>
                </a:solidFill>
                <a:latin typeface="Segoe UI"/>
                <a:cs typeface="Segoe UI"/>
              </a:rPr>
              <a:t> ‌</a:t>
            </a:r>
            <a:endParaRPr lang="en-US">
              <a:solidFill>
                <a:srgbClr val="000000"/>
              </a:solidFill>
              <a:latin typeface="Calibri"/>
              <a:ea typeface="Calibri"/>
              <a:cs typeface="Calibri"/>
            </a:endParaRPr>
          </a:p>
          <a:p>
            <a:pPr marL="342900" indent="-342900">
              <a:buAutoNum type="arabicPeriod"/>
            </a:pPr>
            <a:r>
              <a:rPr lang="en-US" sz="1500" b="1" i="1">
                <a:solidFill>
                  <a:srgbClr val="FFFFFF"/>
                </a:solidFill>
                <a:latin typeface="Segoe UI"/>
                <a:cs typeface="Segoe UI"/>
              </a:rPr>
              <a:t>Consider existing accelerators</a:t>
            </a:r>
            <a:r>
              <a:rPr lang="en-US" sz="1500" i="1">
                <a:solidFill>
                  <a:srgbClr val="FFFFFF"/>
                </a:solidFill>
                <a:latin typeface="Segoe UI"/>
                <a:cs typeface="Segoe UI"/>
              </a:rPr>
              <a:t> to integrate into your solution, a partial list is provided in the next slide. </a:t>
            </a:r>
            <a:endParaRPr lang="en-US">
              <a:solidFill>
                <a:srgbClr val="000000"/>
              </a:solidFill>
              <a:latin typeface="Calibri" panose="020F0502020204030204"/>
              <a:ea typeface="Calibri" panose="020F0502020204030204"/>
              <a:cs typeface="Calibri" panose="020F0502020204030204"/>
            </a:endParaRPr>
          </a:p>
          <a:p>
            <a:pPr marL="800100" lvl="1" indent="-342900">
              <a:buFont typeface="Courier New"/>
              <a:buChar char="o"/>
            </a:pPr>
            <a:r>
              <a:rPr lang="en-US" sz="1500" b="1" i="1" u="sng">
                <a:solidFill>
                  <a:srgbClr val="FFFFFF"/>
                </a:solidFill>
                <a:latin typeface="Segoe UI"/>
                <a:cs typeface="Segoe UI"/>
              </a:rPr>
              <a:t>IMPORTANT</a:t>
            </a:r>
            <a:r>
              <a:rPr lang="en-US" sz="1500" i="1">
                <a:solidFill>
                  <a:srgbClr val="FFFFFF"/>
                </a:solidFill>
                <a:latin typeface="Segoe UI"/>
                <a:cs typeface="Segoe UI"/>
              </a:rPr>
              <a:t>: Your solution can build upon existing accelerators, but should be broader and specifically tailored to the industry challenge or address the same challenge with an alternative value proposition.</a:t>
            </a:r>
            <a:endParaRPr lang="en-US">
              <a:ea typeface="Calibri" panose="020F0502020204030204"/>
              <a:cs typeface="Calibri" panose="020F0502020204030204"/>
            </a:endParaRPr>
          </a:p>
          <a:p>
            <a:pPr marL="800100" lvl="1" indent="-342900">
              <a:buFont typeface="Courier New"/>
              <a:buChar char="o"/>
            </a:pPr>
            <a:endParaRPr lang="en-US" sz="1500" i="1">
              <a:solidFill>
                <a:srgbClr val="FFFFFF"/>
              </a:solidFill>
              <a:latin typeface="Segoe UI"/>
              <a:cs typeface="Segoe UI"/>
            </a:endParaRPr>
          </a:p>
          <a:p>
            <a:pPr marL="342900" indent="-342900">
              <a:buAutoNum type="arabicPeriod"/>
            </a:pPr>
            <a:r>
              <a:rPr lang="en-US" sz="1500" b="1" i="1">
                <a:solidFill>
                  <a:srgbClr val="FFFFFF"/>
                </a:solidFill>
                <a:latin typeface="Segoe UI"/>
                <a:cs typeface="Segoe UI"/>
              </a:rPr>
              <a:t>Consider leveraging akshata29/</a:t>
            </a:r>
            <a:r>
              <a:rPr lang="en-US" sz="1500" b="1" i="1" err="1">
                <a:solidFill>
                  <a:srgbClr val="FFFFFF"/>
                </a:solidFill>
                <a:latin typeface="Segoe UI"/>
                <a:cs typeface="Segoe UI"/>
              </a:rPr>
              <a:t>fincopilotkit</a:t>
            </a:r>
            <a:r>
              <a:rPr lang="en-US" sz="1500" i="1">
                <a:solidFill>
                  <a:srgbClr val="FFFFFF"/>
                </a:solidFill>
                <a:latin typeface="Segoe UI"/>
                <a:cs typeface="Segoe UI"/>
              </a:rPr>
              <a:t> repo for best practices and accelerators for building Financial Services focused demo, employing Research, Plan, Implement and HVE methodologies for a more robust solution.</a:t>
            </a:r>
            <a:endParaRPr lang="en-US">
              <a:ea typeface="Calibri" panose="020F0502020204030204"/>
              <a:cs typeface="Calibri" panose="020F0502020204030204"/>
            </a:endParaRPr>
          </a:p>
          <a:p>
            <a:endParaRPr lang="en-US" sz="1500" i="1">
              <a:solidFill>
                <a:srgbClr val="FFFFFF"/>
              </a:solidFill>
              <a:latin typeface="Segoe UI"/>
              <a:ea typeface="Calibri"/>
              <a:cs typeface="Segoe U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457200" y="365760"/>
            <a:ext cx="11247120" cy="274320"/>
          </a:xfrm>
          <a:prstGeom prst="rect">
            <a:avLst/>
          </a:prstGeom>
          <a:noFill/>
          <a:ln/>
        </p:spPr>
        <p:txBody>
          <a:bodyPr wrap="square" lIns="0" tIns="0" rIns="0" bIns="0" rtlCol="0" anchor="ctr"/>
          <a:lstStyle/>
          <a:p>
            <a:pPr marL="0" indent="0">
              <a:buNone/>
            </a:pPr>
            <a:r>
              <a:rPr lang="en-US" sz="1200" b="1" kern="0" spc="200">
                <a:solidFill>
                  <a:srgbClr val="0078D4"/>
                </a:solidFill>
                <a:latin typeface="Segoe UI Semibold" pitchFamily="34" charset="0"/>
                <a:ea typeface="Segoe UI Semibold" pitchFamily="34" charset="-122"/>
                <a:cs typeface="Segoe UI Semibold" pitchFamily="34" charset="-120"/>
              </a:rPr>
              <a:t>HACKATHON RESOURCES</a:t>
            </a:r>
            <a:endParaRPr lang="en-US" sz="1200"/>
          </a:p>
        </p:txBody>
      </p:sp>
      <p:sp>
        <p:nvSpPr>
          <p:cNvPr id="3" name="Title"/>
          <p:cNvSpPr/>
          <p:nvPr/>
        </p:nvSpPr>
        <p:spPr>
          <a:xfrm>
            <a:off x="457200" y="640080"/>
            <a:ext cx="11247120" cy="548640"/>
          </a:xfrm>
          <a:prstGeom prst="rect">
            <a:avLst/>
          </a:prstGeom>
          <a:noFill/>
          <a:ln/>
        </p:spPr>
        <p:txBody>
          <a:bodyPr wrap="square" lIns="0" tIns="0" rIns="0" bIns="0" rtlCol="0" anchor="ctr"/>
          <a:lstStyle/>
          <a:p>
            <a:pPr marL="0" indent="0">
              <a:buNone/>
            </a:pPr>
            <a:r>
              <a:rPr lang="en-US" sz="2800" b="1">
                <a:solidFill>
                  <a:srgbClr val="0B2545"/>
                </a:solidFill>
                <a:latin typeface="Segoe UI Semibold" pitchFamily="34" charset="0"/>
                <a:ea typeface="Segoe UI Semibold" pitchFamily="34" charset="-122"/>
                <a:cs typeface="Segoe UI Semibold" pitchFamily="34" charset="-120"/>
              </a:rPr>
              <a:t>References &amp; resources</a:t>
            </a:r>
            <a:endParaRPr lang="en-US" sz="2800"/>
          </a:p>
        </p:txBody>
      </p:sp>
      <p:sp>
        <p:nvSpPr>
          <p:cNvPr id="4" name="Subtitle"/>
          <p:cNvSpPr/>
          <p:nvPr/>
        </p:nvSpPr>
        <p:spPr>
          <a:xfrm>
            <a:off x="457200" y="1234440"/>
            <a:ext cx="11247120" cy="300000"/>
          </a:xfrm>
          <a:prstGeom prst="rect">
            <a:avLst/>
          </a:prstGeom>
          <a:noFill/>
          <a:ln/>
        </p:spPr>
        <p:txBody>
          <a:bodyPr wrap="square" lIns="0" tIns="0" rIns="0" bIns="0" rtlCol="0" anchor="ctr"/>
          <a:lstStyle/>
          <a:p>
            <a:pPr marL="0" indent="0">
              <a:buNone/>
            </a:pPr>
            <a:r>
              <a:rPr lang="en-US" sz="1200" i="1">
                <a:solidFill>
                  <a:srgbClr val="4B5563"/>
                </a:solidFill>
                <a:latin typeface="Segoe UI" pitchFamily="34" charset="0"/>
                <a:ea typeface="Segoe UI" pitchFamily="34" charset="-122"/>
                <a:cs typeface="Segoe UI" pitchFamily="34" charset="-120"/>
              </a:rPr>
              <a:t>Decks, trackers, and recordings to accelerate your pod's build — click any title to open.</a:t>
            </a:r>
            <a:endParaRPr lang="en-US" sz="1200"/>
          </a:p>
        </p:txBody>
      </p:sp>
      <p:sp>
        <p:nvSpPr>
          <p:cNvPr id="10" name="Card1"/>
          <p:cNvSpPr/>
          <p:nvPr/>
        </p:nvSpPr>
        <p:spPr>
          <a:xfrm>
            <a:off x="457200" y="17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11" name="Badge1"/>
          <p:cNvSpPr/>
          <p:nvPr/>
        </p:nvSpPr>
        <p:spPr>
          <a:xfrm>
            <a:off x="717200" y="19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1</a:t>
            </a:r>
            <a:endParaRPr lang="en-US" sz="1400"/>
          </a:p>
        </p:txBody>
      </p:sp>
      <p:sp>
        <p:nvSpPr>
          <p:cNvPr id="12" name="Title1"/>
          <p:cNvSpPr/>
          <p:nvPr/>
        </p:nvSpPr>
        <p:spPr>
          <a:xfrm>
            <a:off x="1237200" y="1950000"/>
            <a:ext cx="4450000" cy="380000"/>
          </a:xfrm>
          <a:prstGeom prst="rect">
            <a:avLst/>
          </a:prstGeom>
          <a:noFill/>
          <a:ln/>
        </p:spPr>
        <p:txBody>
          <a:bodyPr wrap="square" lIns="0" tIns="0" rIns="0" bIns="0" rtlCol="0" anchor="ctr"/>
          <a:lstStyle/>
          <a:p>
            <a:pPr marL="0" indent="0">
              <a:buNone/>
            </a:pPr>
            <a:r>
              <a:rPr lang="en-US" sz="1250" b="1">
                <a:solidFill>
                  <a:srgbClr val="0078D4"/>
                </a:solidFill>
                <a:latin typeface="Segoe UI Semibold" pitchFamily="34" charset="0"/>
                <a:cs typeface="Segoe UI Semibold" pitchFamily="34" charset="-120"/>
                <a:hlinkClick r:id="rId2"/>
              </a:rPr>
              <a:t>FSI Accelerators</a:t>
            </a:r>
            <a:endParaRPr lang="en-US" sz="1250"/>
          </a:p>
        </p:txBody>
      </p:sp>
      <p:sp>
        <p:nvSpPr>
          <p:cNvPr id="13" name="Desc1"/>
          <p:cNvSpPr/>
          <p:nvPr/>
        </p:nvSpPr>
        <p:spPr>
          <a:xfrm>
            <a:off x="1237200" y="2380000"/>
            <a:ext cx="4450000" cy="680000"/>
          </a:xfrm>
          <a:prstGeom prst="rect">
            <a:avLst/>
          </a:prstGeom>
          <a:noFill/>
          <a:ln/>
        </p:spPr>
        <p:txBody>
          <a:bodyPr wrap="square" lIns="0" tIns="0" rIns="0" bIns="0" rtlCol="0" anchor="t"/>
          <a:lstStyle/>
          <a:p>
            <a:pPr marL="0" indent="0">
              <a:lnSpc>
                <a:spcPct val="108000"/>
              </a:lnSpc>
              <a:buNone/>
            </a:pPr>
            <a:r>
              <a:rPr lang="en-US" sz="950">
                <a:solidFill>
                  <a:srgbClr val="4B5563"/>
                </a:solidFill>
                <a:latin typeface="Segoe UI" pitchFamily="34" charset="0"/>
                <a:cs typeface="Segoe UI" pitchFamily="34" charset="-120"/>
              </a:rPr>
              <a:t>Reference solutions across front, middle &amp; back office — Wealth Advisor, Market &amp; Deep Research, Fraud &amp; Data Agents — built on Azure AI Foundry.</a:t>
            </a:r>
            <a:endParaRPr lang="en-US" sz="950"/>
          </a:p>
        </p:txBody>
      </p:sp>
      <p:sp>
        <p:nvSpPr>
          <p:cNvPr id="20" name="Card2"/>
          <p:cNvSpPr/>
          <p:nvPr/>
        </p:nvSpPr>
        <p:spPr>
          <a:xfrm>
            <a:off x="6244800" y="17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21" name="Badge2"/>
          <p:cNvSpPr/>
          <p:nvPr/>
        </p:nvSpPr>
        <p:spPr>
          <a:xfrm>
            <a:off x="6504800" y="19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2</a:t>
            </a:r>
            <a:endParaRPr lang="en-US" sz="1400"/>
          </a:p>
        </p:txBody>
      </p:sp>
      <p:sp>
        <p:nvSpPr>
          <p:cNvPr id="22" name="Title2"/>
          <p:cNvSpPr/>
          <p:nvPr/>
        </p:nvSpPr>
        <p:spPr>
          <a:xfrm>
            <a:off x="7024800" y="1950000"/>
            <a:ext cx="4450000" cy="380000"/>
          </a:xfrm>
          <a:prstGeom prst="rect">
            <a:avLst/>
          </a:prstGeom>
          <a:noFill/>
          <a:ln/>
        </p:spPr>
        <p:txBody>
          <a:bodyPr wrap="square" lIns="0" tIns="0" rIns="0" bIns="0" rtlCol="0" anchor="ctr"/>
          <a:lstStyle/>
          <a:p>
            <a:pPr marL="0" indent="0">
              <a:buNone/>
            </a:pPr>
            <a:r>
              <a:rPr lang="en-US" sz="1250" b="1">
                <a:solidFill>
                  <a:srgbClr val="0078D4"/>
                </a:solidFill>
                <a:latin typeface="Segoe UI Semibold" pitchFamily="34" charset="0"/>
                <a:cs typeface="Segoe UI Semibold" pitchFamily="34" charset="-120"/>
                <a:hlinkClick r:id="rId3"/>
              </a:rPr>
              <a:t>FSI Integration Patterns</a:t>
            </a:r>
            <a:endParaRPr lang="en-US" sz="1250"/>
          </a:p>
        </p:txBody>
      </p:sp>
      <p:sp>
        <p:nvSpPr>
          <p:cNvPr id="23" name="Desc2"/>
          <p:cNvSpPr/>
          <p:nvPr/>
        </p:nvSpPr>
        <p:spPr>
          <a:xfrm>
            <a:off x="7024800" y="2380000"/>
            <a:ext cx="4450000" cy="680000"/>
          </a:xfrm>
          <a:prstGeom prst="rect">
            <a:avLst/>
          </a:prstGeom>
          <a:noFill/>
          <a:ln/>
        </p:spPr>
        <p:txBody>
          <a:bodyPr wrap="square" lIns="0" tIns="0" rIns="0" bIns="0" rtlCol="0" anchor="t"/>
          <a:lstStyle/>
          <a:p>
            <a:pPr marL="0" indent="0">
              <a:lnSpc>
                <a:spcPct val="108000"/>
              </a:lnSpc>
              <a:buNone/>
            </a:pPr>
            <a:r>
              <a:rPr lang="en-US" sz="950">
                <a:solidFill>
                  <a:srgbClr val="4B5563"/>
                </a:solidFill>
                <a:latin typeface="Segoe UI" pitchFamily="34" charset="0"/>
                <a:cs typeface="Segoe UI" pitchFamily="34" charset="-120"/>
              </a:rPr>
              <a:t>Shaun's catalog of agent integration patterns — Azure AI Foundry to Copilot Studio via A2A wrappers and M365 connectors for cross-platform orchestration.</a:t>
            </a:r>
            <a:endParaRPr lang="en-US" sz="950"/>
          </a:p>
        </p:txBody>
      </p:sp>
      <p:sp>
        <p:nvSpPr>
          <p:cNvPr id="30" name="Card3"/>
          <p:cNvSpPr/>
          <p:nvPr/>
        </p:nvSpPr>
        <p:spPr>
          <a:xfrm>
            <a:off x="457200" y="33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31" name="Badge3"/>
          <p:cNvSpPr/>
          <p:nvPr/>
        </p:nvSpPr>
        <p:spPr>
          <a:xfrm>
            <a:off x="717200" y="35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3</a:t>
            </a:r>
            <a:endParaRPr lang="en-US" sz="1400"/>
          </a:p>
        </p:txBody>
      </p:sp>
      <p:sp>
        <p:nvSpPr>
          <p:cNvPr id="32" name="Title3"/>
          <p:cNvSpPr/>
          <p:nvPr/>
        </p:nvSpPr>
        <p:spPr>
          <a:xfrm>
            <a:off x="1237200" y="3550000"/>
            <a:ext cx="4450000" cy="380000"/>
          </a:xfrm>
          <a:prstGeom prst="rect">
            <a:avLst/>
          </a:prstGeom>
          <a:noFill/>
          <a:ln/>
        </p:spPr>
        <p:txBody>
          <a:bodyPr wrap="square" lIns="0" tIns="0" rIns="0" bIns="0" rtlCol="0" anchor="ctr"/>
          <a:lstStyle/>
          <a:p>
            <a:pPr marL="0" indent="0">
              <a:buNone/>
            </a:pPr>
            <a:r>
              <a:rPr lang="en-US" sz="1250" b="1">
                <a:solidFill>
                  <a:srgbClr val="0078D4"/>
                </a:solidFill>
                <a:latin typeface="Segoe UI Semibold" pitchFamily="34" charset="0"/>
                <a:cs typeface="Segoe UI Semibold" pitchFamily="34" charset="-120"/>
                <a:hlinkClick r:id="rId4"/>
              </a:rPr>
              <a:t>CMK SE Helpful Resources</a:t>
            </a:r>
            <a:endParaRPr lang="en-US" sz="1250"/>
          </a:p>
        </p:txBody>
      </p:sp>
      <p:sp>
        <p:nvSpPr>
          <p:cNvPr id="33" name="Desc3"/>
          <p:cNvSpPr/>
          <p:nvPr/>
        </p:nvSpPr>
        <p:spPr>
          <a:xfrm>
            <a:off x="1237200" y="3980000"/>
            <a:ext cx="4450000" cy="680000"/>
          </a:xfrm>
          <a:prstGeom prst="rect">
            <a:avLst/>
          </a:prstGeom>
          <a:noFill/>
          <a:ln/>
        </p:spPr>
        <p:txBody>
          <a:bodyPr wrap="square" lIns="0" tIns="0" rIns="0" bIns="0" rtlCol="0" anchor="t"/>
          <a:lstStyle/>
          <a:p>
            <a:pPr marL="0" indent="0">
              <a:lnSpc>
                <a:spcPct val="108000"/>
              </a:lnSpc>
              <a:buNone/>
            </a:pPr>
            <a:r>
              <a:rPr lang="en-US" sz="950">
                <a:solidFill>
                  <a:srgbClr val="4B5563"/>
                </a:solidFill>
                <a:latin typeface="Segoe UI" pitchFamily="34" charset="0"/>
                <a:cs typeface="Segoe UI" pitchFamily="34" charset="-120"/>
              </a:rPr>
              <a:t>Curated Teams list of the team's go-to resources for Capital Markets Solution Engineers.</a:t>
            </a:r>
            <a:endParaRPr lang="en-US" sz="950"/>
          </a:p>
        </p:txBody>
      </p:sp>
      <p:sp>
        <p:nvSpPr>
          <p:cNvPr id="40" name="Card4"/>
          <p:cNvSpPr/>
          <p:nvPr/>
        </p:nvSpPr>
        <p:spPr>
          <a:xfrm>
            <a:off x="6244800" y="33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41" name="Badge4"/>
          <p:cNvSpPr/>
          <p:nvPr/>
        </p:nvSpPr>
        <p:spPr>
          <a:xfrm>
            <a:off x="6504800" y="35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4</a:t>
            </a:r>
            <a:endParaRPr lang="en-US" sz="1400"/>
          </a:p>
        </p:txBody>
      </p:sp>
      <p:sp>
        <p:nvSpPr>
          <p:cNvPr id="42" name="Title4"/>
          <p:cNvSpPr/>
          <p:nvPr/>
        </p:nvSpPr>
        <p:spPr>
          <a:xfrm>
            <a:off x="7024800" y="3550000"/>
            <a:ext cx="4450000" cy="380000"/>
          </a:xfrm>
          <a:prstGeom prst="rect">
            <a:avLst/>
          </a:prstGeom>
          <a:noFill/>
          <a:ln/>
        </p:spPr>
        <p:txBody>
          <a:bodyPr wrap="square" lIns="0" tIns="0" rIns="0" bIns="0" rtlCol="0" anchor="ctr"/>
          <a:lstStyle/>
          <a:p>
            <a:pPr marL="0" indent="0">
              <a:buNone/>
            </a:pPr>
            <a:r>
              <a:rPr lang="en-US" sz="1250" b="1">
                <a:solidFill>
                  <a:srgbClr val="0078D4"/>
                </a:solidFill>
                <a:latin typeface="Segoe UI Semibold" pitchFamily="34" charset="0"/>
                <a:cs typeface="Segoe UI Semibold" pitchFamily="34" charset="-120"/>
                <a:hlinkClick r:id="rId5"/>
              </a:rPr>
              <a:t>GBB AMER Repeatable IP Pipeline</a:t>
            </a:r>
            <a:endParaRPr lang="en-US" sz="1250"/>
          </a:p>
        </p:txBody>
      </p:sp>
      <p:sp>
        <p:nvSpPr>
          <p:cNvPr id="43" name="Desc4"/>
          <p:cNvSpPr/>
          <p:nvPr/>
        </p:nvSpPr>
        <p:spPr>
          <a:xfrm>
            <a:off x="7024800" y="3980000"/>
            <a:ext cx="4450000" cy="680000"/>
          </a:xfrm>
          <a:prstGeom prst="rect">
            <a:avLst/>
          </a:prstGeom>
          <a:noFill/>
          <a:ln/>
        </p:spPr>
        <p:txBody>
          <a:bodyPr wrap="square" lIns="0" tIns="0" rIns="0" bIns="0" rtlCol="0" anchor="t"/>
          <a:lstStyle/>
          <a:p>
            <a:pPr marL="0" indent="0">
              <a:lnSpc>
                <a:spcPct val="108000"/>
              </a:lnSpc>
              <a:buNone/>
            </a:pPr>
            <a:r>
              <a:rPr lang="en-US" sz="950">
                <a:solidFill>
                  <a:srgbClr val="4B5563"/>
                </a:solidFill>
                <a:latin typeface="Segoe UI" pitchFamily="34" charset="0"/>
                <a:cs typeface="Segoe UI" pitchFamily="34" charset="-120"/>
              </a:rPr>
              <a:t>Live tracker of reusable IP — 35 assets, 291 customers, with maturity stage and reuse counts.</a:t>
            </a:r>
            <a:endParaRPr lang="en-US" sz="950"/>
          </a:p>
        </p:txBody>
      </p:sp>
      <p:sp>
        <p:nvSpPr>
          <p:cNvPr id="50" name="Card5"/>
          <p:cNvSpPr/>
          <p:nvPr/>
        </p:nvSpPr>
        <p:spPr>
          <a:xfrm>
            <a:off x="457200" y="49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51" name="Badge5"/>
          <p:cNvSpPr/>
          <p:nvPr/>
        </p:nvSpPr>
        <p:spPr>
          <a:xfrm>
            <a:off x="717200" y="51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5</a:t>
            </a:r>
            <a:endParaRPr lang="en-US" sz="1400"/>
          </a:p>
        </p:txBody>
      </p:sp>
      <p:sp>
        <p:nvSpPr>
          <p:cNvPr id="52" name="Title5"/>
          <p:cNvSpPr/>
          <p:nvPr/>
        </p:nvSpPr>
        <p:spPr>
          <a:xfrm>
            <a:off x="1237200" y="5150000"/>
            <a:ext cx="4450000" cy="380000"/>
          </a:xfrm>
          <a:prstGeom prst="rect">
            <a:avLst/>
          </a:prstGeom>
          <a:noFill/>
          <a:ln/>
        </p:spPr>
        <p:txBody>
          <a:bodyPr wrap="square" lIns="0" tIns="0" rIns="0" bIns="0" rtlCol="0" anchor="ctr"/>
          <a:lstStyle/>
          <a:p>
            <a:r>
              <a:rPr lang="en-US" sz="1250" b="1">
                <a:solidFill>
                  <a:srgbClr val="0078D4"/>
                </a:solidFill>
                <a:latin typeface="Segoe UI Semibold"/>
                <a:cs typeface="Segoe UI Semibold"/>
                <a:hlinkClick r:id="rId6"/>
              </a:rPr>
              <a:t>CMK – SE Weekly Call (recording)</a:t>
            </a:r>
            <a:endParaRPr lang="en-US" sz="1250"/>
          </a:p>
        </p:txBody>
      </p:sp>
      <p:sp>
        <p:nvSpPr>
          <p:cNvPr id="53" name="Desc5"/>
          <p:cNvSpPr/>
          <p:nvPr/>
        </p:nvSpPr>
        <p:spPr>
          <a:xfrm>
            <a:off x="1237200" y="5580000"/>
            <a:ext cx="4450000" cy="680000"/>
          </a:xfrm>
          <a:prstGeom prst="rect">
            <a:avLst/>
          </a:prstGeom>
          <a:noFill/>
          <a:ln/>
        </p:spPr>
        <p:txBody>
          <a:bodyPr wrap="square" lIns="0" tIns="0" rIns="0" bIns="0" rtlCol="0" anchor="t"/>
          <a:lstStyle/>
          <a:p>
            <a:pPr>
              <a:lnSpc>
                <a:spcPct val="108000"/>
              </a:lnSpc>
            </a:pPr>
            <a:r>
              <a:rPr lang="en-US" sz="950">
                <a:solidFill>
                  <a:srgbClr val="4B5563"/>
                </a:solidFill>
                <a:latin typeface="Segoe UI"/>
                <a:cs typeface="Segoe UI"/>
              </a:rPr>
              <a:t>Join link and recording for the team's Monday SE weekly sync (June 22 series) for FSI demo best practices.</a:t>
            </a:r>
            <a:endParaRPr lang="en-US" sz="950"/>
          </a:p>
        </p:txBody>
      </p:sp>
      <p:sp>
        <p:nvSpPr>
          <p:cNvPr id="60" name="Card6"/>
          <p:cNvSpPr/>
          <p:nvPr/>
        </p:nvSpPr>
        <p:spPr>
          <a:xfrm>
            <a:off x="6244800" y="4900000"/>
            <a:ext cx="5490000" cy="1400000"/>
          </a:xfrm>
          <a:prstGeom prst="rect">
            <a:avLst/>
          </a:prstGeom>
          <a:solidFill>
            <a:srgbClr val="FFFFFF"/>
          </a:solidFill>
          <a:ln w="9525">
            <a:solidFill>
              <a:srgbClr val="D1D5DB"/>
            </a:solidFill>
            <a:prstDash val="solid"/>
          </a:ln>
        </p:spPr>
        <p:txBody>
          <a:bodyPr/>
          <a:lstStyle/>
          <a:p>
            <a:endParaRPr lang="en-US"/>
          </a:p>
        </p:txBody>
      </p:sp>
      <p:sp>
        <p:nvSpPr>
          <p:cNvPr id="61" name="Badge6"/>
          <p:cNvSpPr/>
          <p:nvPr/>
        </p:nvSpPr>
        <p:spPr>
          <a:xfrm>
            <a:off x="6504800" y="5150000"/>
            <a:ext cx="380000" cy="380000"/>
          </a:xfrm>
          <a:prstGeom prst="rect">
            <a:avLst/>
          </a:prstGeom>
          <a:solidFill>
            <a:srgbClr val="0078D4"/>
          </a:solidFill>
          <a:ln/>
        </p:spPr>
        <p:txBody>
          <a:bodyPr wrap="square" lIns="0" tIns="0" rIns="0" bIns="0" rtlCol="0" anchor="ctr"/>
          <a:lstStyle/>
          <a:p>
            <a:pPr marL="0" indent="0" algn="ctr">
              <a:buNone/>
            </a:pPr>
            <a:r>
              <a:rPr lang="en-US" sz="1400" b="1">
                <a:solidFill>
                  <a:srgbClr val="FFFFFF"/>
                </a:solidFill>
                <a:latin typeface="Segoe UI Semibold" pitchFamily="34" charset="0"/>
                <a:cs typeface="Segoe UI Semibold" pitchFamily="34" charset="-120"/>
              </a:rPr>
              <a:t>6</a:t>
            </a:r>
            <a:endParaRPr lang="en-US" sz="1400"/>
          </a:p>
        </p:txBody>
      </p:sp>
      <p:sp>
        <p:nvSpPr>
          <p:cNvPr id="62" name="Title6"/>
          <p:cNvSpPr/>
          <p:nvPr/>
        </p:nvSpPr>
        <p:spPr>
          <a:xfrm>
            <a:off x="7024800" y="5150000"/>
            <a:ext cx="4450000" cy="380000"/>
          </a:xfrm>
          <a:prstGeom prst="rect">
            <a:avLst/>
          </a:prstGeom>
          <a:noFill/>
          <a:ln/>
        </p:spPr>
        <p:txBody>
          <a:bodyPr wrap="square" lIns="0" tIns="0" rIns="0" bIns="0" rtlCol="0" anchor="ctr"/>
          <a:lstStyle/>
          <a:p>
            <a:pPr marL="0" indent="0">
              <a:buNone/>
            </a:pPr>
            <a:r>
              <a:rPr lang="en-US" sz="1250" b="1">
                <a:solidFill>
                  <a:srgbClr val="0078D4"/>
                </a:solidFill>
                <a:latin typeface="Segoe UI Semibold" pitchFamily="34" charset="0"/>
                <a:cs typeface="Segoe UI Semibold" pitchFamily="34" charset="-120"/>
                <a:hlinkClick r:id="rId7"/>
              </a:rPr>
              <a:t>FinCopilotKit (GitHub)</a:t>
            </a:r>
            <a:endParaRPr lang="en-US" sz="1250"/>
          </a:p>
        </p:txBody>
      </p:sp>
      <p:sp>
        <p:nvSpPr>
          <p:cNvPr id="63" name="Desc6"/>
          <p:cNvSpPr/>
          <p:nvPr/>
        </p:nvSpPr>
        <p:spPr>
          <a:xfrm>
            <a:off x="7024800" y="5580000"/>
            <a:ext cx="4450000" cy="680000"/>
          </a:xfrm>
          <a:prstGeom prst="rect">
            <a:avLst/>
          </a:prstGeom>
          <a:noFill/>
          <a:ln/>
        </p:spPr>
        <p:txBody>
          <a:bodyPr wrap="square" lIns="0" tIns="0" rIns="0" bIns="0" rtlCol="0" anchor="t"/>
          <a:lstStyle/>
          <a:p>
            <a:pPr marL="0" indent="0">
              <a:lnSpc>
                <a:spcPct val="108000"/>
              </a:lnSpc>
              <a:buNone/>
            </a:pPr>
            <a:r>
              <a:rPr lang="en-US" sz="950">
                <a:solidFill>
                  <a:srgbClr val="4B5563"/>
                </a:solidFill>
                <a:latin typeface="Segoe UI" pitchFamily="34" charset="0"/>
                <a:cs typeface="Segoe UI" pitchFamily="34" charset="-120"/>
              </a:rPr>
              <a:t>akshata29/fincopilotkit — best practices and accelerators for building FSI demos (Research, Plan, Implement, HVE).</a:t>
            </a:r>
            <a:endParaRPr lang="en-US" sz="950"/>
          </a:p>
        </p:txBody>
      </p:sp>
      <p:sp>
        <p:nvSpPr>
          <p:cNvPr id="70" name="FooterLeft"/>
          <p:cNvSpPr/>
          <p:nvPr/>
        </p:nvSpPr>
        <p:spPr>
          <a:xfrm>
            <a:off x="457200" y="6473952"/>
            <a:ext cx="8229600" cy="274320"/>
          </a:xfrm>
          <a:prstGeom prst="rect">
            <a:avLst/>
          </a:prstGeom>
          <a:noFill/>
          <a:ln/>
        </p:spPr>
        <p:txBody>
          <a:bodyPr wrap="square" lIns="0" tIns="0" rIns="0" bIns="0" rtlCol="0" anchor="ctr"/>
          <a:lstStyle/>
          <a:p>
            <a:pPr marL="0" indent="0">
              <a:buNone/>
            </a:pPr>
            <a:r>
              <a:rPr lang="en-US" sz="900">
                <a:solidFill>
                  <a:srgbClr val="6B7280"/>
                </a:solidFill>
                <a:latin typeface="Segoe UI" pitchFamily="34" charset="0"/>
                <a:ea typeface="Segoe UI" pitchFamily="34" charset="-122"/>
                <a:cs typeface="Segoe UI" pitchFamily="34" charset="-120"/>
              </a:rPr>
              <a:t>Capital Markets Hackathon  |  Kickoff  ·  June 25</a:t>
            </a:r>
            <a:endParaRPr lang="en-US" sz="900"/>
          </a:p>
        </p:txBody>
      </p:sp>
    </p:spTree>
    <p:extLst>
      <p:ext uri="{BB962C8B-B14F-4D97-AF65-F5344CB8AC3E}">
        <p14:creationId xmlns:p14="http://schemas.microsoft.com/office/powerpoint/2010/main" val="787037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4446</Words>
  <Application>Microsoft Office PowerPoint</Application>
  <PresentationFormat>Widescreen</PresentationFormat>
  <Paragraphs>455</Paragraphs>
  <Slides>19</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Courier New</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Markets Hackathon — Kickoff</dc:title>
  <dc:subject>PptxGenJS Presentation</dc:subject>
  <dc:creator>Gabe Rossi</dc:creator>
  <cp:lastModifiedBy>Naveen Ragavanpillai</cp:lastModifiedBy>
  <cp:revision>1</cp:revision>
  <dcterms:created xsi:type="dcterms:W3CDTF">2026-06-16T18:08:37Z</dcterms:created>
  <dcterms:modified xsi:type="dcterms:W3CDTF">2026-07-06T17:26:12Z</dcterms:modified>
</cp:coreProperties>
</file>